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handoutMasterIdLst>
    <p:handoutMasterId r:id="rId19"/>
  </p:handoutMasterIdLst>
  <p:sldIdLst>
    <p:sldId id="266" r:id="rId2"/>
    <p:sldId id="267" r:id="rId3"/>
    <p:sldId id="273" r:id="rId4"/>
    <p:sldId id="277" r:id="rId5"/>
    <p:sldId id="279" r:id="rId6"/>
    <p:sldId id="280" r:id="rId7"/>
    <p:sldId id="278" r:id="rId8"/>
    <p:sldId id="274" r:id="rId9"/>
    <p:sldId id="263" r:id="rId10"/>
    <p:sldId id="268" r:id="rId11"/>
    <p:sldId id="269" r:id="rId12"/>
    <p:sldId id="270" r:id="rId13"/>
    <p:sldId id="271" r:id="rId14"/>
    <p:sldId id="272" r:id="rId15"/>
    <p:sldId id="275" r:id="rId16"/>
    <p:sldId id="276" r:id="rId17"/>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F32047E5-66FF-4ED5-B921-DC1BEB7A9EB5}">
          <p14:sldIdLst>
            <p14:sldId id="266"/>
            <p14:sldId id="267"/>
            <p14:sldId id="273"/>
            <p14:sldId id="277"/>
            <p14:sldId id="279"/>
            <p14:sldId id="280"/>
            <p14:sldId id="278"/>
            <p14:sldId id="274"/>
            <p14:sldId id="263"/>
            <p14:sldId id="268"/>
            <p14:sldId id="269"/>
            <p14:sldId id="270"/>
            <p14:sldId id="271"/>
            <p14:sldId id="272"/>
            <p14:sldId id="275"/>
            <p14:sldId id="27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13" autoAdjust="0"/>
    <p:restoredTop sz="94660" autoAdjust="0"/>
  </p:normalViewPr>
  <p:slideViewPr>
    <p:cSldViewPr snapToGrid="0">
      <p:cViewPr varScale="1">
        <p:scale>
          <a:sx n="120" d="100"/>
          <a:sy n="120" d="100"/>
        </p:scale>
        <p:origin x="538" y="8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1" d="100"/>
          <a:sy n="91" d="100"/>
        </p:scale>
        <p:origin x="4056"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BC7C8E-6930-4EC6-0349-F4E1AD7318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MSc Artificial Intelligence &amp; Deep Learning</a:t>
            </a:r>
            <a:endParaRPr lang="el-GR"/>
          </a:p>
        </p:txBody>
      </p:sp>
      <p:sp>
        <p:nvSpPr>
          <p:cNvPr id="3" name="Date Placeholder 2">
            <a:extLst>
              <a:ext uri="{FF2B5EF4-FFF2-40B4-BE49-F238E27FC236}">
                <a16:creationId xmlns:a16="http://schemas.microsoft.com/office/drawing/2014/main" id="{3594F36B-F8D4-20C2-0AA4-0A980DEEAE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AF42606-CFC7-4350-BF7D-F79705CBB3DF}" type="datetimeFigureOut">
              <a:rPr lang="el-GR" smtClean="0"/>
              <a:t>15/9/2025</a:t>
            </a:fld>
            <a:endParaRPr lang="el-GR"/>
          </a:p>
        </p:txBody>
      </p:sp>
      <p:sp>
        <p:nvSpPr>
          <p:cNvPr id="4" name="Footer Placeholder 3">
            <a:extLst>
              <a:ext uri="{FF2B5EF4-FFF2-40B4-BE49-F238E27FC236}">
                <a16:creationId xmlns:a16="http://schemas.microsoft.com/office/drawing/2014/main" id="{76D241F7-77E7-FBF1-D3F6-31151152B8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MSc Artificial Intelligence &amp; Deep Learning</a:t>
            </a:r>
            <a:endParaRPr lang="el-GR"/>
          </a:p>
        </p:txBody>
      </p:sp>
      <p:sp>
        <p:nvSpPr>
          <p:cNvPr id="5" name="Slide Number Placeholder 4">
            <a:extLst>
              <a:ext uri="{FF2B5EF4-FFF2-40B4-BE49-F238E27FC236}">
                <a16:creationId xmlns:a16="http://schemas.microsoft.com/office/drawing/2014/main" id="{18E5B911-6782-34D2-79C2-1971B69248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C228F3-D31F-40E4-8BF6-6669F66BD45C}" type="slidenum">
              <a:rPr lang="el-GR" smtClean="0"/>
              <a:t>‹#›</a:t>
            </a:fld>
            <a:endParaRPr lang="el-GR"/>
          </a:p>
        </p:txBody>
      </p:sp>
    </p:spTree>
    <p:extLst>
      <p:ext uri="{BB962C8B-B14F-4D97-AF65-F5344CB8AC3E}">
        <p14:creationId xmlns:p14="http://schemas.microsoft.com/office/powerpoint/2010/main" val="320688140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MSc Artificial Intelligence &amp; Deep Learning</a:t>
            </a:r>
            <a:endParaRPr lang="el-G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7D7115-7C26-4374-AB2C-A3EA9DC26E87}" type="datetimeFigureOut">
              <a:rPr lang="el-GR" smtClean="0"/>
              <a:t>15/9/2025</a:t>
            </a:fld>
            <a:endParaRPr lang="el-G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MSc Artificial Intelligence &amp; Deep Learning</a:t>
            </a:r>
            <a:endParaRPr lang="el-G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BA513B-9453-4206-8508-2E27295AE2EE}" type="slidenum">
              <a:rPr lang="el-GR" smtClean="0"/>
              <a:t>‹#›</a:t>
            </a:fld>
            <a:endParaRPr lang="el-GR"/>
          </a:p>
        </p:txBody>
      </p:sp>
    </p:spTree>
    <p:extLst>
      <p:ext uri="{BB962C8B-B14F-4D97-AF65-F5344CB8AC3E}">
        <p14:creationId xmlns:p14="http://schemas.microsoft.com/office/powerpoint/2010/main" val="213119426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l-GR"/>
          </a:p>
        </p:txBody>
      </p:sp>
    </p:spTree>
    <p:extLst>
      <p:ext uri="{BB962C8B-B14F-4D97-AF65-F5344CB8AC3E}">
        <p14:creationId xmlns:p14="http://schemas.microsoft.com/office/powerpoint/2010/main" val="1065021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r>
              <a:rPr lang="el-GR"/>
              <a:t>September 2025</a:t>
            </a:r>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r>
              <a:rPr lang="en-US"/>
              <a:t>MSc Artificial Intelligence &amp; Deep Learning</a:t>
            </a:r>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7539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r>
              <a:rPr lang="el-GR"/>
              <a:t>September 2025</a:t>
            </a:r>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r>
              <a:rPr lang="en-US"/>
              <a:t>MSc Artificial Intelligence &amp; Deep Learning</a:t>
            </a:r>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609304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r>
              <a:rPr lang="el-GR"/>
              <a:t>September 2025</a:t>
            </a:r>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r>
              <a:rPr lang="en-US"/>
              <a:t>MSc Artificial Intelligence &amp; Deep Learning</a:t>
            </a:r>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9306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r>
              <a:rPr lang="el-GR"/>
              <a:t>September 2025</a:t>
            </a:r>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r>
              <a:rPr lang="en-US"/>
              <a:t>MSc Artificial Intelligence &amp; Deep Learning</a:t>
            </a:r>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147159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r>
              <a:rPr lang="el-GR"/>
              <a:t>September 2025</a:t>
            </a:r>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r>
              <a:rPr lang="en-US"/>
              <a:t>MSc Artificial Intelligence &amp; Deep Learning</a:t>
            </a:r>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03524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r>
              <a:rPr lang="el-GR"/>
              <a:t>September 2025</a:t>
            </a:r>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r>
              <a:rPr lang="en-US"/>
              <a:t>MSc Artificial Intelligence &amp; Deep Learning</a:t>
            </a:r>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32487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r>
              <a:rPr lang="el-GR"/>
              <a:t>September 2025</a:t>
            </a:r>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r>
              <a:rPr lang="en-US"/>
              <a:t>MSc Artificial Intelligence &amp; Deep Learning</a:t>
            </a:r>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0854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r>
              <a:rPr lang="el-GR"/>
              <a:t>September 2025</a:t>
            </a:r>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r>
              <a:rPr lang="en-US"/>
              <a:t>MSc Artificial Intelligence &amp; Deep Learning</a:t>
            </a:r>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130566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r>
              <a:rPr lang="el-GR"/>
              <a:t>September 2025</a:t>
            </a:r>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r>
              <a:rPr lang="en-US"/>
              <a:t>MSc Artificial Intelligence &amp; Deep Learning</a:t>
            </a:r>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0554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r>
              <a:rPr lang="el-GR"/>
              <a:t>September 2025</a:t>
            </a:r>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r>
              <a:rPr lang="en-US"/>
              <a:t>MSc Artificial Intelligence &amp; Deep Learning</a:t>
            </a:r>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0877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r>
              <a:rPr lang="el-GR"/>
              <a:t>September 2025</a:t>
            </a:r>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r>
              <a:rPr lang="en-US"/>
              <a:t>MSc Artificial Intelligence &amp; Deep Learning</a:t>
            </a:r>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62275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r>
              <a:rPr lang="el-GR"/>
              <a:t>September 2025</a:t>
            </a:r>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r>
              <a:rPr lang="en-US"/>
              <a:t>MSc Artificial Intelligence &amp; Deep Learning</a:t>
            </a:r>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316316476"/>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hdr="0" dt="0"/>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C46CC-3AA4-EEFD-DB8B-FE08BAA09AFD}"/>
              </a:ext>
            </a:extLst>
          </p:cNvPr>
          <p:cNvSpPr>
            <a:spLocks noGrp="1"/>
          </p:cNvSpPr>
          <p:nvPr>
            <p:ph type="title"/>
          </p:nvPr>
        </p:nvSpPr>
        <p:spPr>
          <a:xfrm>
            <a:off x="521208" y="978408"/>
            <a:ext cx="11155680" cy="5440680"/>
          </a:xfrm>
        </p:spPr>
        <p:txBody>
          <a:bodyPr>
            <a:normAutofit/>
          </a:bodyPr>
          <a:lstStyle/>
          <a:p>
            <a:pPr algn="ctr"/>
            <a:br>
              <a:rPr lang="en-US" sz="2800" dirty="0">
                <a:latin typeface="Calibri" panose="020F0502020204030204" pitchFamily="34" charset="0"/>
                <a:ea typeface="Calibri" panose="020F0502020204030204" pitchFamily="34" charset="0"/>
                <a:cs typeface="Calibri" panose="020F0502020204030204" pitchFamily="34" charset="0"/>
              </a:rPr>
            </a:br>
            <a:r>
              <a:rPr lang="en-US" sz="3600" b="0" i="0" u="none" strike="noStrike" dirty="0">
                <a:solidFill>
                  <a:srgbClr val="0E2238"/>
                </a:solidFill>
                <a:effectLst/>
                <a:latin typeface="Calibri" panose="020F0502020204030204" pitchFamily="34" charset="0"/>
                <a:ea typeface="Calibri" panose="020F0502020204030204" pitchFamily="34" charset="0"/>
                <a:cs typeface="Calibri" panose="020F0502020204030204" pitchFamily="34" charset="0"/>
              </a:rPr>
              <a:t>Brain Cancer MRI classification</a:t>
            </a:r>
            <a:br>
              <a:rPr lang="en-US" sz="3600" b="0" i="0" u="none" strike="noStrike" dirty="0">
                <a:solidFill>
                  <a:srgbClr val="0E2238"/>
                </a:solidFill>
                <a:effectLst/>
                <a:latin typeface="Calibri" panose="020F0502020204030204" pitchFamily="34" charset="0"/>
                <a:ea typeface="Calibri" panose="020F0502020204030204" pitchFamily="34" charset="0"/>
                <a:cs typeface="Calibri" panose="020F0502020204030204" pitchFamily="34" charset="0"/>
              </a:rPr>
            </a:br>
            <a:br>
              <a:rPr lang="en-US" sz="3600" b="0" i="0" u="none" strike="noStrike" dirty="0">
                <a:solidFill>
                  <a:srgbClr val="0E2238"/>
                </a:solidFill>
                <a:effectLst/>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Thodoris Charos mscaidl-0077</a:t>
            </a:r>
            <a:br>
              <a:rPr lang="en-US" sz="1800" b="0" dirty="0">
                <a:latin typeface="Calibri" panose="020F0502020204030204" pitchFamily="34" charset="0"/>
                <a:ea typeface="Calibri" panose="020F0502020204030204" pitchFamily="34" charset="0"/>
                <a:cs typeface="Calibri" panose="020F0502020204030204" pitchFamily="34" charset="0"/>
              </a:rPr>
            </a:br>
            <a:br>
              <a:rPr lang="en-US" sz="1800" b="0" dirty="0">
                <a:latin typeface="Calibri" panose="020F0502020204030204" pitchFamily="34" charset="0"/>
                <a:ea typeface="Calibri" panose="020F0502020204030204" pitchFamily="34" charset="0"/>
                <a:cs typeface="Calibri" panose="020F0502020204030204" pitchFamily="34" charset="0"/>
              </a:rPr>
            </a:br>
            <a:br>
              <a:rPr lang="en-US" sz="1800" b="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r>
              <a:rPr lang="en-US" sz="2400" b="0" dirty="0">
                <a:latin typeface="Calibri" panose="020F0502020204030204" pitchFamily="34" charset="0"/>
                <a:ea typeface="Calibri" panose="020F0502020204030204" pitchFamily="34" charset="0"/>
                <a:cs typeface="Calibri" panose="020F0502020204030204" pitchFamily="34" charset="0"/>
              </a:rPr>
              <a:t>AIDL_A_02 - </a:t>
            </a:r>
            <a:r>
              <a:rPr lang="en-US" sz="2400" b="0" i="0" u="none" strike="noStrike" dirty="0">
                <a:solidFill>
                  <a:srgbClr val="0E2238"/>
                </a:solidFill>
                <a:effectLst/>
                <a:latin typeface="Calibri" panose="020F0502020204030204" pitchFamily="34" charset="0"/>
                <a:ea typeface="Calibri" panose="020F0502020204030204" pitchFamily="34" charset="0"/>
                <a:cs typeface="Calibri" panose="020F0502020204030204" pitchFamily="34" charset="0"/>
              </a:rPr>
              <a:t>Neural Networks and Deep Learning</a:t>
            </a:r>
            <a:br>
              <a:rPr lang="en-US" b="1" i="0" u="none" strike="noStrike" dirty="0">
                <a:solidFill>
                  <a:srgbClr val="0E2238"/>
                </a:solidFill>
                <a:effectLst/>
                <a:latin typeface="Calibri" panose="020F0502020204030204" pitchFamily="34" charset="0"/>
                <a:ea typeface="Calibri" panose="020F0502020204030204" pitchFamily="34" charset="0"/>
                <a:cs typeface="Calibri" panose="020F0502020204030204" pitchFamily="34" charset="0"/>
              </a:rPr>
            </a:br>
            <a:br>
              <a:rPr lang="en-US" b="1" i="0" u="none" strike="noStrike" dirty="0">
                <a:solidFill>
                  <a:srgbClr val="0E2238"/>
                </a:solidFill>
                <a:effectLst/>
                <a:latin typeface="Calibri" panose="020F0502020204030204" pitchFamily="34" charset="0"/>
                <a:ea typeface="Calibri" panose="020F0502020204030204" pitchFamily="34" charset="0"/>
                <a:cs typeface="Calibri" panose="020F0502020204030204" pitchFamily="34" charset="0"/>
              </a:rPr>
            </a:br>
            <a:br>
              <a:rPr lang="el-GR" dirty="0">
                <a:latin typeface="Calibri" panose="020F0502020204030204" pitchFamily="34" charset="0"/>
                <a:ea typeface="Calibri" panose="020F0502020204030204" pitchFamily="34" charset="0"/>
                <a:cs typeface="Calibri" panose="020F0502020204030204" pitchFamily="34" charset="0"/>
              </a:rPr>
            </a:br>
            <a:endParaRPr lang="el-GR" b="0" dirty="0">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9E1450AE-0E04-6DA8-5227-9D12689CDDBD}"/>
              </a:ext>
            </a:extLst>
          </p:cNvPr>
          <p:cNvSpPr>
            <a:spLocks noGrp="1"/>
          </p:cNvSpPr>
          <p:nvPr>
            <p:ph type="ftr" sz="quarter" idx="11"/>
          </p:nvPr>
        </p:nvSpPr>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MSc Artificial Intelligence &amp; Deep Learning</a:t>
            </a:r>
          </a:p>
        </p:txBody>
      </p:sp>
      <p:sp>
        <p:nvSpPr>
          <p:cNvPr id="5" name="Slide Number Placeholder 4">
            <a:extLst>
              <a:ext uri="{FF2B5EF4-FFF2-40B4-BE49-F238E27FC236}">
                <a16:creationId xmlns:a16="http://schemas.microsoft.com/office/drawing/2014/main" id="{E1CE9477-A47C-DB30-9ECE-BA44807821C1}"/>
              </a:ext>
            </a:extLst>
          </p:cNvPr>
          <p:cNvSpPr>
            <a:spLocks noGrp="1"/>
          </p:cNvSpPr>
          <p:nvPr>
            <p:ph type="sldNum" sz="quarter" idx="12"/>
          </p:nvPr>
        </p:nvSpPr>
        <p:spPr/>
        <p:txBody>
          <a:bodyPr/>
          <a:lstStyle/>
          <a:p>
            <a:fld id="{148CC95F-0247-41B6-91CF-DC97C76A7088}" type="slidenum">
              <a:rPr lang="en-US" smtClean="0"/>
              <a:t>1</a:t>
            </a:fld>
            <a:endParaRPr lang="en-US"/>
          </a:p>
        </p:txBody>
      </p:sp>
    </p:spTree>
    <p:extLst>
      <p:ext uri="{BB962C8B-B14F-4D97-AF65-F5344CB8AC3E}">
        <p14:creationId xmlns:p14="http://schemas.microsoft.com/office/powerpoint/2010/main" val="1967109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D88B0-AD60-B9BC-3BF3-E78D9083BC9E}"/>
              </a:ext>
            </a:extLst>
          </p:cNvPr>
          <p:cNvSpPr>
            <a:spLocks noGrp="1"/>
          </p:cNvSpPr>
          <p:nvPr>
            <p:ph type="ctrTitle"/>
          </p:nvPr>
        </p:nvSpPr>
        <p:spPr>
          <a:xfrm>
            <a:off x="517871" y="978407"/>
            <a:ext cx="4825654" cy="5698617"/>
          </a:xfrm>
        </p:spPr>
        <p:txBody>
          <a:bodyPr anchor="t">
            <a:normAutofit fontScale="90000"/>
          </a:bodyPr>
          <a:lstStyle/>
          <a:p>
            <a:pPr>
              <a:lnSpc>
                <a:spcPct val="90000"/>
              </a:lnSpc>
            </a:pPr>
            <a:r>
              <a:rPr lang="en-US" sz="1800" u="sng" dirty="0">
                <a:latin typeface="Calibri" panose="020F0502020204030204" pitchFamily="34" charset="0"/>
                <a:ea typeface="Calibri" panose="020F0502020204030204" pitchFamily="34" charset="0"/>
                <a:cs typeface="Calibri" panose="020F0502020204030204" pitchFamily="34" charset="0"/>
              </a:rPr>
              <a:t>Dataset details </a:t>
            </a:r>
            <a:br>
              <a:rPr lang="en-US" sz="1800" u="sng" dirty="0">
                <a:latin typeface="Calibri" panose="020F0502020204030204" pitchFamily="34" charset="0"/>
                <a:ea typeface="Calibri" panose="020F0502020204030204" pitchFamily="34" charset="0"/>
                <a:cs typeface="Calibri" panose="020F0502020204030204" pitchFamily="34" charset="0"/>
              </a:rPr>
            </a:br>
            <a:br>
              <a:rPr lang="en-US" sz="1800" b="0" dirty="0">
                <a:latin typeface="Calibri" panose="020F0502020204030204" pitchFamily="34" charset="0"/>
                <a:ea typeface="Calibri" panose="020F0502020204030204" pitchFamily="34" charset="0"/>
                <a:cs typeface="Calibri" panose="020F0502020204030204" pitchFamily="34" charset="0"/>
              </a:rPr>
            </a:br>
            <a:r>
              <a:rPr lang="en-US" sz="1800" b="0" dirty="0">
                <a:latin typeface="Calibri" panose="020F0502020204030204" pitchFamily="34" charset="0"/>
                <a:ea typeface="Calibri" panose="020F0502020204030204" pitchFamily="34" charset="0"/>
                <a:cs typeface="Calibri" panose="020F0502020204030204" pitchFamily="34" charset="0"/>
              </a:rPr>
              <a:t>Dataset comes from Kaggle and is free to use</a:t>
            </a:r>
            <a:br>
              <a:rPr lang="en-US" sz="1800" b="0" dirty="0">
                <a:latin typeface="Calibri" panose="020F0502020204030204" pitchFamily="34" charset="0"/>
                <a:ea typeface="Calibri" panose="020F0502020204030204" pitchFamily="34" charset="0"/>
                <a:cs typeface="Calibri" panose="020F0502020204030204" pitchFamily="34" charset="0"/>
              </a:rPr>
            </a:br>
            <a:r>
              <a:rPr lang="en-US" sz="1800" b="0" dirty="0">
                <a:latin typeface="Calibri" panose="020F0502020204030204" pitchFamily="34" charset="0"/>
                <a:ea typeface="Calibri" panose="020F0502020204030204" pitchFamily="34" charset="0"/>
                <a:cs typeface="Calibri" panose="020F0502020204030204" pitchFamily="34" charset="0"/>
              </a:rPr>
              <a:t>https://www.kaggle.com/datasets/orvile/brain-cancer-mri-dataset</a:t>
            </a:r>
            <a:br>
              <a:rPr lang="en-US" sz="1800" b="0" dirty="0">
                <a:latin typeface="Calibri" panose="020F0502020204030204" pitchFamily="34" charset="0"/>
                <a:ea typeface="Calibri" panose="020F0502020204030204" pitchFamily="34" charset="0"/>
                <a:cs typeface="Calibri" panose="020F0502020204030204" pitchFamily="34" charset="0"/>
              </a:rPr>
            </a:br>
            <a:br>
              <a:rPr lang="en-US" sz="1800" b="0" dirty="0">
                <a:latin typeface="Calibri" panose="020F0502020204030204" pitchFamily="34" charset="0"/>
                <a:ea typeface="Calibri" panose="020F0502020204030204" pitchFamily="34" charset="0"/>
                <a:cs typeface="Calibri" panose="020F0502020204030204" pitchFamily="34" charset="0"/>
              </a:rPr>
            </a:br>
            <a:r>
              <a:rPr lang="en-US" sz="1800" b="0" dirty="0">
                <a:latin typeface="Calibri" panose="020F0502020204030204" pitchFamily="34" charset="0"/>
                <a:ea typeface="Calibri" panose="020F0502020204030204" pitchFamily="34" charset="0"/>
                <a:cs typeface="Calibri" panose="020F0502020204030204" pitchFamily="34" charset="0"/>
              </a:rPr>
              <a:t>It includes 6056 images, with size 512*512 pixels and it consists of 3 classes distributed as shown below:</a:t>
            </a:r>
            <a:br>
              <a:rPr lang="en-US" sz="1800" b="0" dirty="0">
                <a:latin typeface="Calibri" panose="020F0502020204030204" pitchFamily="34" charset="0"/>
                <a:ea typeface="Calibri" panose="020F0502020204030204" pitchFamily="34" charset="0"/>
                <a:cs typeface="Calibri" panose="020F0502020204030204" pitchFamily="34" charset="0"/>
              </a:rPr>
            </a:br>
            <a:br>
              <a:rPr lang="en-US" sz="1800" b="0" dirty="0">
                <a:latin typeface="Calibri" panose="020F0502020204030204" pitchFamily="34" charset="0"/>
                <a:ea typeface="Calibri" panose="020F0502020204030204" pitchFamily="34" charset="0"/>
                <a:cs typeface="Calibri" panose="020F0502020204030204" pitchFamily="34" charset="0"/>
              </a:rPr>
            </a:br>
            <a:r>
              <a:rPr lang="it-IT" sz="1800" b="0" dirty="0">
                <a:latin typeface="Calibri" panose="020F0502020204030204" pitchFamily="34" charset="0"/>
                <a:ea typeface="Calibri" panose="020F0502020204030204" pitchFamily="34" charset="0"/>
                <a:cs typeface="Calibri" panose="020F0502020204030204" pitchFamily="34" charset="0"/>
              </a:rPr>
              <a:t>brain_glioma 2004 (33,1%)</a:t>
            </a:r>
            <a:br>
              <a:rPr lang="it-IT" sz="1800" b="0" dirty="0">
                <a:latin typeface="Calibri" panose="020F0502020204030204" pitchFamily="34" charset="0"/>
                <a:ea typeface="Calibri" panose="020F0502020204030204" pitchFamily="34" charset="0"/>
                <a:cs typeface="Calibri" panose="020F0502020204030204" pitchFamily="34" charset="0"/>
              </a:rPr>
            </a:br>
            <a:r>
              <a:rPr lang="it-IT" sz="1800" b="0" dirty="0">
                <a:latin typeface="Calibri" panose="020F0502020204030204" pitchFamily="34" charset="0"/>
                <a:ea typeface="Calibri" panose="020F0502020204030204" pitchFamily="34" charset="0"/>
                <a:cs typeface="Calibri" panose="020F0502020204030204" pitchFamily="34" charset="0"/>
              </a:rPr>
              <a:t>brain_menin 2004 (33,1%)</a:t>
            </a:r>
            <a:br>
              <a:rPr lang="it-IT" sz="1800" b="0" dirty="0">
                <a:latin typeface="Calibri" panose="020F0502020204030204" pitchFamily="34" charset="0"/>
                <a:ea typeface="Calibri" panose="020F0502020204030204" pitchFamily="34" charset="0"/>
                <a:cs typeface="Calibri" panose="020F0502020204030204" pitchFamily="34" charset="0"/>
              </a:rPr>
            </a:br>
            <a:r>
              <a:rPr lang="it-IT" sz="1800" b="0" dirty="0">
                <a:latin typeface="Calibri" panose="020F0502020204030204" pitchFamily="34" charset="0"/>
                <a:ea typeface="Calibri" panose="020F0502020204030204" pitchFamily="34" charset="0"/>
                <a:cs typeface="Calibri" panose="020F0502020204030204" pitchFamily="34" charset="0"/>
              </a:rPr>
              <a:t>brain_tumor 2048 (33,8%)</a:t>
            </a:r>
            <a:br>
              <a:rPr lang="it-IT" sz="1800" b="0" dirty="0">
                <a:latin typeface="Calibri" panose="020F0502020204030204" pitchFamily="34" charset="0"/>
                <a:ea typeface="Calibri" panose="020F0502020204030204" pitchFamily="34" charset="0"/>
                <a:cs typeface="Calibri" panose="020F0502020204030204" pitchFamily="34" charset="0"/>
              </a:rPr>
            </a:br>
            <a:br>
              <a:rPr lang="it-IT" sz="1800" b="0" dirty="0">
                <a:latin typeface="Calibri" panose="020F0502020204030204" pitchFamily="34" charset="0"/>
                <a:ea typeface="Calibri" panose="020F0502020204030204" pitchFamily="34" charset="0"/>
                <a:cs typeface="Calibri" panose="020F0502020204030204" pitchFamily="34" charset="0"/>
              </a:rPr>
            </a:br>
            <a:br>
              <a:rPr lang="it-IT" sz="1800" b="0" dirty="0">
                <a:latin typeface="Calibri" panose="020F0502020204030204" pitchFamily="34" charset="0"/>
                <a:ea typeface="Calibri" panose="020F0502020204030204" pitchFamily="34" charset="0"/>
                <a:cs typeface="Calibri" panose="020F0502020204030204" pitchFamily="34" charset="0"/>
              </a:rPr>
            </a:br>
            <a:br>
              <a:rPr lang="it-IT" sz="1800" b="0" dirty="0">
                <a:latin typeface="Calibri" panose="020F0502020204030204" pitchFamily="34" charset="0"/>
                <a:ea typeface="Calibri" panose="020F0502020204030204" pitchFamily="34" charset="0"/>
                <a:cs typeface="Calibri" panose="020F0502020204030204" pitchFamily="34" charset="0"/>
              </a:rPr>
            </a:br>
            <a:br>
              <a:rPr lang="it-IT" sz="1800" b="0" dirty="0">
                <a:latin typeface="Calibri" panose="020F0502020204030204" pitchFamily="34" charset="0"/>
                <a:ea typeface="Calibri" panose="020F0502020204030204" pitchFamily="34" charset="0"/>
                <a:cs typeface="Calibri" panose="020F0502020204030204" pitchFamily="34" charset="0"/>
              </a:rPr>
            </a:br>
            <a:br>
              <a:rPr lang="it-IT" sz="1800" b="0" dirty="0">
                <a:latin typeface="Calibri" panose="020F0502020204030204" pitchFamily="34" charset="0"/>
                <a:ea typeface="Calibri" panose="020F0502020204030204" pitchFamily="34" charset="0"/>
                <a:cs typeface="Calibri" panose="020F0502020204030204" pitchFamily="34" charset="0"/>
              </a:rPr>
            </a:br>
            <a:br>
              <a:rPr lang="it-IT" sz="1800" b="0" dirty="0">
                <a:latin typeface="Calibri" panose="020F0502020204030204" pitchFamily="34" charset="0"/>
                <a:ea typeface="Calibri" panose="020F0502020204030204" pitchFamily="34" charset="0"/>
                <a:cs typeface="Calibri" panose="020F0502020204030204" pitchFamily="34" charset="0"/>
              </a:rPr>
            </a:br>
            <a:br>
              <a:rPr lang="it-IT" sz="1800" b="0" dirty="0">
                <a:latin typeface="Calibri" panose="020F0502020204030204" pitchFamily="34" charset="0"/>
                <a:ea typeface="Calibri" panose="020F0502020204030204" pitchFamily="34" charset="0"/>
                <a:cs typeface="Calibri" panose="020F0502020204030204" pitchFamily="34" charset="0"/>
              </a:rPr>
            </a:br>
            <a:r>
              <a:rPr lang="it-IT" sz="1800" b="0" i="1" dirty="0">
                <a:latin typeface="Calibri" panose="020F0502020204030204" pitchFamily="34" charset="0"/>
                <a:ea typeface="Calibri" panose="020F0502020204030204" pitchFamily="34" charset="0"/>
                <a:cs typeface="Calibri" panose="020F0502020204030204" pitchFamily="34" charset="0"/>
              </a:rPr>
              <a:t>Dataset owner</a:t>
            </a:r>
            <a:br>
              <a:rPr lang="it-IT" sz="1800" b="0" i="1" dirty="0">
                <a:latin typeface="Calibri" panose="020F0502020204030204" pitchFamily="34" charset="0"/>
                <a:ea typeface="Calibri" panose="020F0502020204030204" pitchFamily="34" charset="0"/>
                <a:cs typeface="Calibri" panose="020F0502020204030204" pitchFamily="34" charset="0"/>
              </a:rPr>
            </a:br>
            <a:r>
              <a:rPr lang="it-IT" sz="1800" b="0" i="1" dirty="0">
                <a:latin typeface="Calibri" panose="020F0502020204030204" pitchFamily="34" charset="0"/>
                <a:ea typeface="Calibri" panose="020F0502020204030204" pitchFamily="34" charset="0"/>
                <a:cs typeface="Calibri" panose="020F0502020204030204" pitchFamily="34" charset="0"/>
              </a:rPr>
              <a:t>Rahman, Md Mizanur (2024), “Brain Cancer - MRI dataset”, Mendeley Data, V1, doi: 10.17632/mk56jw9rns.1</a:t>
            </a:r>
            <a:endParaRPr lang="el-GR" sz="1800" b="0" i="1" dirty="0">
              <a:latin typeface="Calibri" panose="020F0502020204030204" pitchFamily="34" charset="0"/>
              <a:ea typeface="Calibri" panose="020F0502020204030204" pitchFamily="34" charset="0"/>
              <a:cs typeface="Calibri" panose="020F0502020204030204" pitchFamily="34" charset="0"/>
            </a:endParaRPr>
          </a:p>
        </p:txBody>
      </p:sp>
      <p:pic>
        <p:nvPicPr>
          <p:cNvPr id="7186" name="Picture 18">
            <a:extLst>
              <a:ext uri="{FF2B5EF4-FFF2-40B4-BE49-F238E27FC236}">
                <a16:creationId xmlns:a16="http://schemas.microsoft.com/office/drawing/2014/main" id="{21B0197E-23A6-9433-1A26-0DF234E31D4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62043" y="978407"/>
            <a:ext cx="5810329" cy="3471671"/>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8A260236-8C60-545F-DD8F-8399F06E1366}"/>
              </a:ext>
            </a:extLst>
          </p:cNvPr>
          <p:cNvSpPr>
            <a:spLocks noGrp="1"/>
          </p:cNvSpPr>
          <p:nvPr>
            <p:ph type="ftr" sz="quarter" idx="11"/>
          </p:nvPr>
        </p:nvSpPr>
        <p:spPr/>
        <p:txBody>
          <a:bodyPr/>
          <a:lstStyle/>
          <a:p>
            <a:r>
              <a:rPr lang="en-US"/>
              <a:t>MSc Artificial Intelligence &amp; Deep Learning</a:t>
            </a:r>
          </a:p>
        </p:txBody>
      </p:sp>
      <p:sp>
        <p:nvSpPr>
          <p:cNvPr id="4" name="Slide Number Placeholder 3">
            <a:extLst>
              <a:ext uri="{FF2B5EF4-FFF2-40B4-BE49-F238E27FC236}">
                <a16:creationId xmlns:a16="http://schemas.microsoft.com/office/drawing/2014/main" id="{7B8C5727-8184-BAD8-0C16-4E7213239DDD}"/>
              </a:ext>
            </a:extLst>
          </p:cNvPr>
          <p:cNvSpPr>
            <a:spLocks noGrp="1"/>
          </p:cNvSpPr>
          <p:nvPr>
            <p:ph type="sldNum" sz="quarter" idx="12"/>
          </p:nvPr>
        </p:nvSpPr>
        <p:spPr/>
        <p:txBody>
          <a:bodyPr/>
          <a:lstStyle/>
          <a:p>
            <a:fld id="{148CC95F-0247-41B6-91CF-DC97C76A7088}" type="slidenum">
              <a:rPr lang="en-US" smtClean="0"/>
              <a:t>2</a:t>
            </a:fld>
            <a:endParaRPr lang="en-US"/>
          </a:p>
        </p:txBody>
      </p:sp>
    </p:spTree>
    <p:extLst>
      <p:ext uri="{BB962C8B-B14F-4D97-AF65-F5344CB8AC3E}">
        <p14:creationId xmlns:p14="http://schemas.microsoft.com/office/powerpoint/2010/main" val="3088184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A8313-5575-3583-E169-552D5A4851AD}"/>
              </a:ext>
            </a:extLst>
          </p:cNvPr>
          <p:cNvSpPr>
            <a:spLocks noGrp="1"/>
          </p:cNvSpPr>
          <p:nvPr>
            <p:ph type="title"/>
          </p:nvPr>
        </p:nvSpPr>
        <p:spPr>
          <a:xfrm>
            <a:off x="517869" y="978408"/>
            <a:ext cx="11174359" cy="3143790"/>
          </a:xfrm>
        </p:spPr>
        <p:txBody>
          <a:bodyPr vert="horz" lIns="91440" tIns="45720" rIns="91440" bIns="45720" rtlCol="0" anchor="t">
            <a:normAutofit/>
          </a:bodyPr>
          <a:lstStyle/>
          <a:p>
            <a:pPr>
              <a:lnSpc>
                <a:spcPct val="90000"/>
              </a:lnSpc>
            </a:pPr>
            <a:r>
              <a:rPr lang="en-US" sz="1600" dirty="0">
                <a:latin typeface="Calibri" panose="020F0502020204030204" pitchFamily="34" charset="0"/>
                <a:ea typeface="Calibri" panose="020F0502020204030204" pitchFamily="34" charset="0"/>
                <a:cs typeface="Calibri" panose="020F0502020204030204" pitchFamily="34" charset="0"/>
              </a:rPr>
              <a:t>Data pre-processing</a:t>
            </a:r>
            <a:br>
              <a:rPr lang="en-US" sz="1600" dirty="0">
                <a:latin typeface="Calibri" panose="020F0502020204030204" pitchFamily="34" charset="0"/>
                <a:ea typeface="Calibri" panose="020F0502020204030204" pitchFamily="34" charset="0"/>
                <a:cs typeface="Calibri" panose="020F0502020204030204" pitchFamily="34" charset="0"/>
              </a:rPr>
            </a:b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The dataset is split to Training (0.7)/Validation (0.15)/Testing (0.15) datasets respecting the initial class  distribution</a:t>
            </a:r>
            <a:br>
              <a:rPr lang="en-US" sz="1600" b="0" dirty="0">
                <a:latin typeface="Calibri" panose="020F0502020204030204" pitchFamily="34" charset="0"/>
                <a:ea typeface="Calibri" panose="020F0502020204030204" pitchFamily="34" charset="0"/>
                <a:cs typeface="Calibri" panose="020F0502020204030204" pitchFamily="34" charset="0"/>
              </a:rPr>
            </a:b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Images are resized to 224*224 for faster training and less resource consumption</a:t>
            </a:r>
            <a:br>
              <a:rPr lang="en-US" sz="1600" b="0" dirty="0">
                <a:latin typeface="Calibri" panose="020F0502020204030204" pitchFamily="34" charset="0"/>
                <a:ea typeface="Calibri" panose="020F0502020204030204" pitchFamily="34" charset="0"/>
                <a:cs typeface="Calibri" panose="020F0502020204030204" pitchFamily="34" charset="0"/>
              </a:rPr>
            </a:b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Pixel normalization is performed (from [0,255] to [0,1] </a:t>
            </a:r>
            <a:r>
              <a:rPr lang="en-US" sz="1600" b="0" dirty="0">
                <a:latin typeface="Calibri" panose="020F0502020204030204" pitchFamily="34" charset="0"/>
                <a:ea typeface="Calibri" panose="020F0502020204030204" pitchFamily="34" charset="0"/>
                <a:cs typeface="Calibri" panose="020F0502020204030204" pitchFamily="34" charset="0"/>
                <a:sym typeface="Wingdings" panose="05000000000000000000" pitchFamily="2" charset="2"/>
              </a:rPr>
              <a:t> </a:t>
            </a:r>
            <a:r>
              <a:rPr lang="en-US" sz="1600" b="0" dirty="0">
                <a:latin typeface="Calibri" panose="020F0502020204030204" pitchFamily="34" charset="0"/>
                <a:ea typeface="Calibri" panose="020F0502020204030204" pitchFamily="34" charset="0"/>
                <a:cs typeface="Calibri" panose="020F0502020204030204" pitchFamily="34" charset="0"/>
              </a:rPr>
              <a:t>stable training, faster convergence), expect for transfer learning models that require [0,255] and </a:t>
            </a:r>
            <a:r>
              <a:rPr lang="en-US" sz="1600" b="0">
                <a:latin typeface="Calibri" panose="020F0502020204030204" pitchFamily="34" charset="0"/>
                <a:ea typeface="Calibri" panose="020F0502020204030204" pitchFamily="34" charset="0"/>
                <a:cs typeface="Calibri" panose="020F0502020204030204" pitchFamily="34" charset="0"/>
              </a:rPr>
              <a:t>I applied </a:t>
            </a:r>
            <a:r>
              <a:rPr lang="en-US" sz="1600" b="0" dirty="0">
                <a:latin typeface="Calibri" panose="020F0502020204030204" pitchFamily="34" charset="0"/>
                <a:ea typeface="Calibri" panose="020F0502020204030204" pitchFamily="34" charset="0"/>
                <a:cs typeface="Calibri" panose="020F0502020204030204" pitchFamily="34" charset="0"/>
              </a:rPr>
              <a:t>keras.applications.inception_v3.preprocess_input</a:t>
            </a:r>
            <a:r>
              <a:rPr lang="el-GR" sz="1600" b="0" dirty="0">
                <a:latin typeface="Calibri" panose="020F0502020204030204" pitchFamily="34" charset="0"/>
                <a:ea typeface="Calibri" panose="020F0502020204030204" pitchFamily="34" charset="0"/>
                <a:cs typeface="Calibri" panose="020F0502020204030204" pitchFamily="34" charset="0"/>
              </a:rPr>
              <a:t>, </a:t>
            </a:r>
            <a:r>
              <a:rPr lang="en-US" sz="1600" b="0" dirty="0">
                <a:latin typeface="Calibri" panose="020F0502020204030204" pitchFamily="34" charset="0"/>
                <a:ea typeface="Calibri" panose="020F0502020204030204" pitchFamily="34" charset="0"/>
                <a:cs typeface="Calibri" panose="020F0502020204030204" pitchFamily="34" charset="0"/>
              </a:rPr>
              <a:t>keras.applications.vgg16.preprocess_input</a:t>
            </a:r>
            <a:r>
              <a:rPr lang="el-GR" sz="1600" b="0" dirty="0">
                <a:latin typeface="Calibri" panose="020F0502020204030204" pitchFamily="34" charset="0"/>
                <a:ea typeface="Calibri" panose="020F0502020204030204" pitchFamily="34" charset="0"/>
                <a:cs typeface="Calibri" panose="020F0502020204030204" pitchFamily="34" charset="0"/>
              </a:rPr>
              <a:t>, </a:t>
            </a:r>
            <a:r>
              <a:rPr lang="en-US" sz="1600" b="0" dirty="0">
                <a:latin typeface="Calibri" panose="020F0502020204030204" pitchFamily="34" charset="0"/>
                <a:ea typeface="Calibri" panose="020F0502020204030204" pitchFamily="34" charset="0"/>
                <a:cs typeface="Calibri" panose="020F0502020204030204" pitchFamily="34" charset="0"/>
              </a:rPr>
              <a:t> which scales to the expected input</a:t>
            </a:r>
            <a:br>
              <a:rPr lang="en-US" sz="1600" b="0" dirty="0">
                <a:latin typeface="Calibri" panose="020F0502020204030204" pitchFamily="34" charset="0"/>
                <a:ea typeface="Calibri" panose="020F0502020204030204" pitchFamily="34" charset="0"/>
                <a:cs typeface="Calibri" panose="020F0502020204030204" pitchFamily="34" charset="0"/>
              </a:rPr>
            </a:b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Shuffle train/</a:t>
            </a:r>
            <a:r>
              <a:rPr lang="en-US" sz="1600" b="0" dirty="0" err="1">
                <a:latin typeface="Calibri" panose="020F0502020204030204" pitchFamily="34" charset="0"/>
                <a:ea typeface="Calibri" panose="020F0502020204030204" pitchFamily="34" charset="0"/>
                <a:cs typeface="Calibri" panose="020F0502020204030204" pitchFamily="34" charset="0"/>
              </a:rPr>
              <a:t>val</a:t>
            </a:r>
            <a:r>
              <a:rPr lang="en-US" sz="1600" b="0" dirty="0">
                <a:latin typeface="Calibri" panose="020F0502020204030204" pitchFamily="34" charset="0"/>
                <a:ea typeface="Calibri" panose="020F0502020204030204" pitchFamily="34" charset="0"/>
                <a:cs typeface="Calibri" panose="020F0502020204030204" pitchFamily="34" charset="0"/>
              </a:rPr>
              <a:t> datasets on loading for better training</a:t>
            </a:r>
          </a:p>
        </p:txBody>
      </p:sp>
      <p:pic>
        <p:nvPicPr>
          <p:cNvPr id="5" name="Picture 12">
            <a:extLst>
              <a:ext uri="{FF2B5EF4-FFF2-40B4-BE49-F238E27FC236}">
                <a16:creationId xmlns:a16="http://schemas.microsoft.com/office/drawing/2014/main" id="{8AF57CB3-EC65-088A-4D01-DB0683A9800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7870" y="4195282"/>
            <a:ext cx="3599534" cy="215072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a:extLst>
              <a:ext uri="{FF2B5EF4-FFF2-40B4-BE49-F238E27FC236}">
                <a16:creationId xmlns:a16="http://schemas.microsoft.com/office/drawing/2014/main" id="{6993C88F-23B4-44DC-71CA-E79606622BB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398571" y="4195282"/>
            <a:ext cx="3599534" cy="215072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a:extLst>
              <a:ext uri="{FF2B5EF4-FFF2-40B4-BE49-F238E27FC236}">
                <a16:creationId xmlns:a16="http://schemas.microsoft.com/office/drawing/2014/main" id="{B74A84C8-229C-0CCF-1399-42A12126075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279273" y="4195282"/>
            <a:ext cx="3412955" cy="2150722"/>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29A2035C-9610-8B46-BB20-FCC894089F54}"/>
              </a:ext>
            </a:extLst>
          </p:cNvPr>
          <p:cNvSpPr>
            <a:spLocks noGrp="1"/>
          </p:cNvSpPr>
          <p:nvPr>
            <p:ph type="ftr" sz="quarter" idx="11"/>
          </p:nvPr>
        </p:nvSpPr>
        <p:spPr/>
        <p:txBody>
          <a:bodyPr/>
          <a:lstStyle/>
          <a:p>
            <a:r>
              <a:rPr lang="en-US"/>
              <a:t>MSc Artificial Intelligence &amp; Deep Learning</a:t>
            </a:r>
          </a:p>
        </p:txBody>
      </p:sp>
      <p:sp>
        <p:nvSpPr>
          <p:cNvPr id="7" name="Slide Number Placeholder 6">
            <a:extLst>
              <a:ext uri="{FF2B5EF4-FFF2-40B4-BE49-F238E27FC236}">
                <a16:creationId xmlns:a16="http://schemas.microsoft.com/office/drawing/2014/main" id="{B0736AA8-A568-02CA-106C-1A3532D64C97}"/>
              </a:ext>
            </a:extLst>
          </p:cNvPr>
          <p:cNvSpPr>
            <a:spLocks noGrp="1"/>
          </p:cNvSpPr>
          <p:nvPr>
            <p:ph type="sldNum" sz="quarter" idx="12"/>
          </p:nvPr>
        </p:nvSpPr>
        <p:spPr/>
        <p:txBody>
          <a:bodyPr/>
          <a:lstStyle/>
          <a:p>
            <a:fld id="{148CC95F-0247-41B6-91CF-DC97C76A7088}" type="slidenum">
              <a:rPr lang="en-US" smtClean="0"/>
              <a:t>3</a:t>
            </a:fld>
            <a:endParaRPr lang="en-US"/>
          </a:p>
        </p:txBody>
      </p:sp>
    </p:spTree>
    <p:extLst>
      <p:ext uri="{BB962C8B-B14F-4D97-AF65-F5344CB8AC3E}">
        <p14:creationId xmlns:p14="http://schemas.microsoft.com/office/powerpoint/2010/main" val="3645605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521208" y="616457"/>
            <a:ext cx="4393692" cy="2202943"/>
          </a:xfrm>
        </p:spPr>
        <p:txBody>
          <a:bodyPr vert="horz" lIns="91440" tIns="45720" rIns="91440" bIns="45720" rtlCol="0" anchor="t">
            <a:normAutofit fontScale="90000"/>
          </a:bodyPr>
          <a:lstStyle/>
          <a:p>
            <a:pPr>
              <a:lnSpc>
                <a:spcPct val="90000"/>
              </a:lnSpc>
            </a:pPr>
            <a:r>
              <a:rPr lang="en-US"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CNN1</a:t>
            </a:r>
            <a:br>
              <a:rPr lang="en-US"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l-GR"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(294</a:t>
            </a:r>
            <a:r>
              <a:rPr lang="en-US"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 MB</a:t>
            </a:r>
            <a:r>
              <a:rPr lang="el-GR"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a:t>
            </a:r>
            <a:br>
              <a:rPr lang="en-US"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Accuracy : 0.895</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F1 Score : 0.896</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Precision: 0.896</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Recall   : 0.895</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900" b="0" kern="1200" dirty="0">
                <a:solidFill>
                  <a:schemeClr val="tx1"/>
                </a:solidFill>
                <a:latin typeface="Consolas" panose="020B0609020204030204" pitchFamily="49" charset="0"/>
              </a:rPr>
              <a:t>epochs = 30</a:t>
            </a:r>
            <a:br>
              <a:rPr lang="en-US" sz="900" b="0" kern="1200" dirty="0">
                <a:solidFill>
                  <a:schemeClr val="tx1"/>
                </a:solidFill>
                <a:latin typeface="Consolas" panose="020B0609020204030204" pitchFamily="49" charset="0"/>
              </a:rPr>
            </a:br>
            <a:r>
              <a:rPr lang="en-US" sz="900" b="0" kern="1200" dirty="0" err="1">
                <a:solidFill>
                  <a:schemeClr val="tx1"/>
                </a:solidFill>
                <a:latin typeface="Consolas" panose="020B0609020204030204" pitchFamily="49" charset="0"/>
              </a:rPr>
              <a:t>lr</a:t>
            </a:r>
            <a:r>
              <a:rPr lang="en-US" sz="900" b="0" kern="1200" dirty="0">
                <a:solidFill>
                  <a:schemeClr val="tx1"/>
                </a:solidFill>
                <a:latin typeface="Consolas" panose="020B0609020204030204" pitchFamily="49" charset="0"/>
              </a:rPr>
              <a:t> = 1e-4</a:t>
            </a:r>
            <a:br>
              <a:rPr lang="en-US" sz="900" b="0" kern="1200" dirty="0">
                <a:solidFill>
                  <a:schemeClr val="tx1"/>
                </a:solidFill>
                <a:latin typeface="Consolas" panose="020B0609020204030204" pitchFamily="49" charset="0"/>
              </a:rPr>
            </a:br>
            <a:br>
              <a:rPr lang="en-US" sz="900" b="0" kern="1200" dirty="0">
                <a:solidFill>
                  <a:schemeClr val="tx1"/>
                </a:solidFill>
                <a:latin typeface="Consolas" panose="020B0609020204030204" pitchFamily="49" charset="0"/>
              </a:rPr>
            </a:br>
            <a:r>
              <a:rPr lang="en-US" sz="900" b="0" dirty="0" err="1">
                <a:effectLst/>
                <a:latin typeface="Consolas" panose="020B0609020204030204" pitchFamily="49" charset="0"/>
              </a:rPr>
              <a:t>early_stop_cb</a:t>
            </a:r>
            <a:r>
              <a:rPr lang="en-US" sz="900" b="0" dirty="0">
                <a:effectLst/>
                <a:latin typeface="Consolas" panose="020B0609020204030204" pitchFamily="49" charset="0"/>
              </a:rPr>
              <a:t> = </a:t>
            </a:r>
            <a:r>
              <a:rPr lang="en-US" sz="900" b="0" dirty="0" err="1">
                <a:effectLst/>
                <a:latin typeface="Consolas" panose="020B0609020204030204" pitchFamily="49" charset="0"/>
              </a:rPr>
              <a:t>callbacks.EarlyStopping</a:t>
            </a:r>
            <a:r>
              <a:rPr lang="en-US" sz="900" b="0" dirty="0">
                <a:effectLst/>
                <a:latin typeface="Consolas" panose="020B0609020204030204" pitchFamily="49" charset="0"/>
              </a:rPr>
              <a:t>(monitor="</a:t>
            </a:r>
            <a:r>
              <a:rPr lang="en-US" sz="900" b="0" dirty="0" err="1">
                <a:effectLst/>
                <a:latin typeface="Consolas" panose="020B0609020204030204" pitchFamily="49" charset="0"/>
              </a:rPr>
              <a:t>val_accuracy</a:t>
            </a:r>
            <a:r>
              <a:rPr lang="en-US" sz="900" b="0" dirty="0">
                <a:effectLst/>
                <a:latin typeface="Consolas" panose="020B0609020204030204" pitchFamily="49" charset="0"/>
              </a:rPr>
              <a:t>", patience=5,</a:t>
            </a:r>
            <a:br>
              <a:rPr lang="en-US" sz="900" b="0" dirty="0">
                <a:effectLst/>
                <a:latin typeface="Consolas" panose="020B0609020204030204" pitchFamily="49" charset="0"/>
              </a:rPr>
            </a:br>
            <a:r>
              <a:rPr lang="en-US" sz="900" b="0" dirty="0">
                <a:effectLst/>
                <a:latin typeface="Consolas" panose="020B0609020204030204" pitchFamily="49" charset="0"/>
              </a:rPr>
              <a:t>        mode="max",</a:t>
            </a:r>
            <a:br>
              <a:rPr lang="en-US" sz="900" b="0" dirty="0">
                <a:effectLst/>
                <a:latin typeface="Consolas" panose="020B0609020204030204" pitchFamily="49" charset="0"/>
              </a:rPr>
            </a:br>
            <a:r>
              <a:rPr lang="en-US" sz="900" b="0" dirty="0">
                <a:effectLst/>
                <a:latin typeface="Consolas" panose="020B0609020204030204" pitchFamily="49" charset="0"/>
              </a:rPr>
              <a:t>        </a:t>
            </a:r>
            <a:r>
              <a:rPr lang="en-US" sz="900" b="0" dirty="0" err="1">
                <a:effectLst/>
                <a:latin typeface="Consolas" panose="020B0609020204030204" pitchFamily="49" charset="0"/>
              </a:rPr>
              <a:t>restore_best_weights</a:t>
            </a:r>
            <a:r>
              <a:rPr lang="en-US" sz="900" b="0" dirty="0">
                <a:effectLst/>
                <a:latin typeface="Consolas" panose="020B0609020204030204" pitchFamily="49" charset="0"/>
              </a:rPr>
              <a:t>=True)</a:t>
            </a:r>
            <a:br>
              <a:rPr lang="en-US" sz="900" b="0" dirty="0">
                <a:effectLst/>
                <a:latin typeface="Consolas" panose="020B0609020204030204" pitchFamily="49" charset="0"/>
              </a:rPr>
            </a:br>
            <a:br>
              <a:rPr lang="en-US" sz="900" b="0" dirty="0">
                <a:effectLst/>
                <a:latin typeface="Consolas" panose="020B0609020204030204" pitchFamily="49" charset="0"/>
              </a:rPr>
            </a:br>
            <a:r>
              <a:rPr lang="en-US" sz="900" b="0" dirty="0" err="1">
                <a:effectLst/>
                <a:latin typeface="Consolas" panose="020B0609020204030204" pitchFamily="49" charset="0"/>
              </a:rPr>
              <a:t>reduce_lr_cb</a:t>
            </a:r>
            <a:r>
              <a:rPr lang="en-US" sz="900" b="0" dirty="0">
                <a:effectLst/>
                <a:latin typeface="Consolas" panose="020B0609020204030204" pitchFamily="49" charset="0"/>
              </a:rPr>
              <a:t> = </a:t>
            </a:r>
            <a:r>
              <a:rPr lang="en-US" sz="900" b="0" dirty="0" err="1">
                <a:effectLst/>
                <a:latin typeface="Consolas" panose="020B0609020204030204" pitchFamily="49" charset="0"/>
              </a:rPr>
              <a:t>callbacks.ReduceLROnPlateau</a:t>
            </a:r>
            <a:r>
              <a:rPr lang="en-US" sz="900" b="0" dirty="0">
                <a:effectLst/>
                <a:latin typeface="Consolas" panose="020B0609020204030204" pitchFamily="49" charset="0"/>
              </a:rPr>
              <a:t>(monitor='</a:t>
            </a:r>
            <a:r>
              <a:rPr lang="en-US" sz="900" b="0" dirty="0" err="1">
                <a:effectLst/>
                <a:latin typeface="Consolas" panose="020B0609020204030204" pitchFamily="49" charset="0"/>
              </a:rPr>
              <a:t>val_loss',factor</a:t>
            </a:r>
            <a:r>
              <a:rPr lang="en-US" sz="900" b="0" dirty="0">
                <a:effectLst/>
                <a:latin typeface="Consolas" panose="020B0609020204030204" pitchFamily="49" charset="0"/>
              </a:rPr>
              <a:t>=0.5,</a:t>
            </a:r>
            <a:br>
              <a:rPr lang="en-US" sz="900" b="0" dirty="0">
                <a:effectLst/>
                <a:latin typeface="Consolas" panose="020B0609020204030204" pitchFamily="49" charset="0"/>
              </a:rPr>
            </a:br>
            <a:r>
              <a:rPr lang="en-US" sz="900" b="0" dirty="0">
                <a:effectLst/>
                <a:latin typeface="Consolas" panose="020B0609020204030204" pitchFamily="49" charset="0"/>
              </a:rPr>
              <a:t>        patience=3,</a:t>
            </a:r>
            <a:br>
              <a:rPr lang="en-US" sz="900" b="0" dirty="0">
                <a:effectLst/>
                <a:latin typeface="Consolas" panose="020B0609020204030204" pitchFamily="49" charset="0"/>
              </a:rPr>
            </a:br>
            <a:r>
              <a:rPr lang="en-US" sz="900" b="0" dirty="0">
                <a:effectLst/>
                <a:latin typeface="Consolas" panose="020B0609020204030204" pitchFamily="49" charset="0"/>
              </a:rPr>
              <a:t>        </a:t>
            </a:r>
            <a:r>
              <a:rPr lang="en-US" sz="900" b="0" dirty="0" err="1">
                <a:effectLst/>
                <a:latin typeface="Consolas" panose="020B0609020204030204" pitchFamily="49" charset="0"/>
              </a:rPr>
              <a:t>min_lr</a:t>
            </a:r>
            <a:r>
              <a:rPr lang="en-US" sz="900" b="0" dirty="0">
                <a:effectLst/>
                <a:latin typeface="Consolas" panose="020B0609020204030204" pitchFamily="49" charset="0"/>
              </a:rPr>
              <a:t>=1e-6,</a:t>
            </a:r>
            <a:br>
              <a:rPr lang="en-US" sz="900" b="0" dirty="0">
                <a:effectLst/>
                <a:latin typeface="Consolas" panose="020B0609020204030204" pitchFamily="49" charset="0"/>
              </a:rPr>
            </a:br>
            <a:r>
              <a:rPr lang="en-US" sz="900" b="0" dirty="0">
                <a:effectLst/>
                <a:latin typeface="Consolas" panose="020B0609020204030204" pitchFamily="49" charset="0"/>
              </a:rPr>
              <a:t>        verbose=1)</a:t>
            </a:r>
            <a:br>
              <a:rPr lang="en-US" sz="1100" b="1" kern="1200" dirty="0">
                <a:solidFill>
                  <a:schemeClr val="tx1"/>
                </a:solidFill>
                <a:latin typeface="+mj-lt"/>
                <a:ea typeface="+mj-ea"/>
                <a:cs typeface="+mj-cs"/>
              </a:rPr>
            </a:br>
            <a:endParaRPr lang="en-US" sz="1100" b="1" kern="1200" dirty="0">
              <a:solidFill>
                <a:schemeClr val="tx1"/>
              </a:solidFill>
              <a:latin typeface="+mj-lt"/>
              <a:ea typeface="+mj-ea"/>
              <a:cs typeface="+mj-cs"/>
            </a:endParaRPr>
          </a:p>
        </p:txBody>
      </p:sp>
      <p:sp>
        <p:nvSpPr>
          <p:cNvPr id="6" name="Title 1">
            <a:extLst>
              <a:ext uri="{FF2B5EF4-FFF2-40B4-BE49-F238E27FC236}">
                <a16:creationId xmlns:a16="http://schemas.microsoft.com/office/drawing/2014/main" id="{7EC1F43E-DB13-7853-1F43-2EB85C24A6B5}"/>
              </a:ext>
            </a:extLst>
          </p:cNvPr>
          <p:cNvSpPr txBox="1">
            <a:spLocks/>
          </p:cNvSpPr>
          <p:nvPr/>
        </p:nvSpPr>
        <p:spPr>
          <a:xfrm>
            <a:off x="8719579" y="657369"/>
            <a:ext cx="2624328" cy="2409681"/>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600" b="1" dirty="0">
                <a:latin typeface="Calibri" panose="020F0502020204030204" pitchFamily="34" charset="0"/>
                <a:ea typeface="Calibri" panose="020F0502020204030204" pitchFamily="34" charset="0"/>
                <a:cs typeface="Calibri" panose="020F0502020204030204" pitchFamily="34" charset="0"/>
              </a:rPr>
              <a:t>CNN5 (same architecture with CNN1)</a:t>
            </a:r>
            <a:br>
              <a:rPr lang="en-US" sz="1600" b="1" dirty="0">
                <a:latin typeface="Calibri" panose="020F0502020204030204" pitchFamily="34" charset="0"/>
                <a:ea typeface="Calibri" panose="020F0502020204030204" pitchFamily="34" charset="0"/>
                <a:cs typeface="Calibri" panose="020F0502020204030204" pitchFamily="34" charset="0"/>
              </a:rPr>
            </a:br>
            <a:r>
              <a:rPr lang="en-US" sz="1600" b="1" dirty="0">
                <a:latin typeface="Calibri" panose="020F0502020204030204" pitchFamily="34" charset="0"/>
                <a:ea typeface="Calibri" panose="020F0502020204030204" pitchFamily="34" charset="0"/>
                <a:cs typeface="Calibri" panose="020F0502020204030204" pitchFamily="34" charset="0"/>
              </a:rPr>
              <a:t>(294 MB)</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Accuracy : 0.903</a:t>
            </a: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F1 Score : 0.903</a:t>
            </a: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Precision: 0.903</a:t>
            </a: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Recall   : 0.903</a:t>
            </a:r>
            <a:br>
              <a:rPr lang="en-US" sz="1600" dirty="0"/>
            </a:br>
            <a:br>
              <a:rPr lang="en-US" sz="1600" dirty="0"/>
            </a:br>
            <a:r>
              <a:rPr lang="en-US" sz="1100" b="0" dirty="0">
                <a:latin typeface="Consolas" panose="020B0609020204030204" pitchFamily="49" charset="0"/>
              </a:rPr>
              <a:t>epochs = 40</a:t>
            </a:r>
            <a:br>
              <a:rPr lang="en-US" sz="1100" b="0" dirty="0">
                <a:latin typeface="Consolas" panose="020B0609020204030204" pitchFamily="49" charset="0"/>
              </a:rPr>
            </a:br>
            <a:r>
              <a:rPr lang="en-US" sz="1100" b="0" dirty="0" err="1">
                <a:latin typeface="Consolas" panose="020B0609020204030204" pitchFamily="49" charset="0"/>
              </a:rPr>
              <a:t>lr</a:t>
            </a:r>
            <a:r>
              <a:rPr lang="en-US" sz="1100" b="0" dirty="0">
                <a:latin typeface="Consolas" panose="020B0609020204030204" pitchFamily="49" charset="0"/>
              </a:rPr>
              <a:t> = 1e-3</a:t>
            </a:r>
            <a:br>
              <a:rPr lang="en-US" sz="1100" b="0" dirty="0">
                <a:latin typeface="Consolas" panose="020B0609020204030204" pitchFamily="49" charset="0"/>
              </a:rPr>
            </a:br>
            <a:br>
              <a:rPr lang="en-US" sz="1100" b="0" dirty="0">
                <a:latin typeface="Consolas" panose="020B0609020204030204" pitchFamily="49" charset="0"/>
              </a:rPr>
            </a:br>
            <a:r>
              <a:rPr lang="en-US" sz="1100" b="0" dirty="0" err="1">
                <a:effectLst/>
                <a:latin typeface="Consolas" panose="020B0609020204030204" pitchFamily="49" charset="0"/>
              </a:rPr>
              <a:t>early_stop_cb</a:t>
            </a:r>
            <a:r>
              <a:rPr lang="en-US" sz="1100" b="0" dirty="0">
                <a:effectLst/>
                <a:latin typeface="Consolas" panose="020B0609020204030204" pitchFamily="49" charset="0"/>
              </a:rPr>
              <a:t> = </a:t>
            </a:r>
            <a:r>
              <a:rPr lang="en-US" sz="1100" b="0" dirty="0" err="1">
                <a:effectLst/>
                <a:latin typeface="Consolas" panose="020B0609020204030204" pitchFamily="49" charset="0"/>
              </a:rPr>
              <a:t>callbacks.EarlyStopping</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monitor="</a:t>
            </a:r>
            <a:r>
              <a:rPr lang="en-US" sz="1100" b="0" dirty="0" err="1">
                <a:effectLst/>
                <a:latin typeface="Consolas" panose="020B0609020204030204" pitchFamily="49" charset="0"/>
              </a:rPr>
              <a:t>val_accuracy</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patience=</a:t>
            </a:r>
            <a:r>
              <a:rPr lang="el-GR" sz="1100" b="0" dirty="0">
                <a:effectLst/>
                <a:latin typeface="Consolas" panose="020B0609020204030204" pitchFamily="49" charset="0"/>
              </a:rPr>
              <a:t>5</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mode="max",</a:t>
            </a:r>
            <a:br>
              <a:rPr lang="en-US" sz="1100" b="0" dirty="0">
                <a:effectLst/>
                <a:latin typeface="Consolas" panose="020B0609020204030204" pitchFamily="49" charset="0"/>
              </a:rPr>
            </a:br>
            <a:r>
              <a:rPr lang="en-US" sz="1100" b="0" dirty="0">
                <a:effectLst/>
                <a:latin typeface="Consolas" panose="020B0609020204030204" pitchFamily="49" charset="0"/>
              </a:rPr>
              <a:t>        </a:t>
            </a:r>
            <a:r>
              <a:rPr lang="en-US" sz="1100" b="0" dirty="0" err="1">
                <a:effectLst/>
                <a:latin typeface="Consolas" panose="020B0609020204030204" pitchFamily="49" charset="0"/>
              </a:rPr>
              <a:t>restore_best_weights</a:t>
            </a:r>
            <a:r>
              <a:rPr lang="en-US" sz="1100" b="0" dirty="0">
                <a:effectLst/>
                <a:latin typeface="Consolas" panose="020B0609020204030204" pitchFamily="49" charset="0"/>
              </a:rPr>
              <a:t>=True)</a:t>
            </a:r>
            <a:br>
              <a:rPr lang="en-US" sz="1100" b="0" dirty="0">
                <a:effectLst/>
                <a:latin typeface="Consolas" panose="020B0609020204030204" pitchFamily="49" charset="0"/>
              </a:rPr>
            </a:br>
            <a:br>
              <a:rPr lang="en-US" sz="1100" b="0" dirty="0">
                <a:effectLst/>
                <a:latin typeface="Consolas" panose="020B0609020204030204" pitchFamily="49" charset="0"/>
              </a:rPr>
            </a:br>
            <a:r>
              <a:rPr lang="en-US" sz="1100" b="0" dirty="0" err="1">
                <a:effectLst/>
                <a:latin typeface="Consolas" panose="020B0609020204030204" pitchFamily="49" charset="0"/>
              </a:rPr>
              <a:t>reduce_lr_cb</a:t>
            </a:r>
            <a:r>
              <a:rPr lang="en-US" sz="1100" b="0" dirty="0">
                <a:effectLst/>
                <a:latin typeface="Consolas" panose="020B0609020204030204" pitchFamily="49" charset="0"/>
              </a:rPr>
              <a:t> = </a:t>
            </a:r>
            <a:r>
              <a:rPr lang="en-US" sz="1100" b="0" dirty="0" err="1">
                <a:effectLst/>
                <a:latin typeface="Consolas" panose="020B0609020204030204" pitchFamily="49" charset="0"/>
              </a:rPr>
              <a:t>callbacks.ReduceLROnPlateau</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monitor='</a:t>
            </a:r>
            <a:r>
              <a:rPr lang="en-US" sz="1100" b="0" dirty="0" err="1">
                <a:effectLst/>
                <a:latin typeface="Consolas" panose="020B0609020204030204" pitchFamily="49" charset="0"/>
              </a:rPr>
              <a:t>val_loss</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factor=0.5,</a:t>
            </a:r>
            <a:br>
              <a:rPr lang="en-US" sz="1100" b="0" dirty="0">
                <a:effectLst/>
                <a:latin typeface="Consolas" panose="020B0609020204030204" pitchFamily="49" charset="0"/>
              </a:rPr>
            </a:br>
            <a:r>
              <a:rPr lang="en-US" sz="1100" b="0" dirty="0">
                <a:effectLst/>
                <a:latin typeface="Consolas" panose="020B0609020204030204" pitchFamily="49" charset="0"/>
              </a:rPr>
              <a:t>        patience=3,</a:t>
            </a:r>
            <a:br>
              <a:rPr lang="en-US" sz="1100" b="0" dirty="0">
                <a:effectLst/>
                <a:latin typeface="Consolas" panose="020B0609020204030204" pitchFamily="49" charset="0"/>
              </a:rPr>
            </a:br>
            <a:r>
              <a:rPr lang="en-US" sz="1100" b="0" dirty="0">
                <a:effectLst/>
                <a:latin typeface="Consolas" panose="020B0609020204030204" pitchFamily="49" charset="0"/>
              </a:rPr>
              <a:t>        </a:t>
            </a:r>
            <a:r>
              <a:rPr lang="en-US" sz="1100" b="0" dirty="0" err="1">
                <a:effectLst/>
                <a:latin typeface="Consolas" panose="020B0609020204030204" pitchFamily="49" charset="0"/>
              </a:rPr>
              <a:t>min_lr</a:t>
            </a:r>
            <a:r>
              <a:rPr lang="en-US" sz="1100" b="0" dirty="0">
                <a:effectLst/>
                <a:latin typeface="Consolas" panose="020B0609020204030204" pitchFamily="49" charset="0"/>
              </a:rPr>
              <a:t>=1e-6,</a:t>
            </a:r>
            <a:br>
              <a:rPr lang="en-US" sz="1100" b="0" dirty="0">
                <a:effectLst/>
                <a:latin typeface="Consolas" panose="020B0609020204030204" pitchFamily="49" charset="0"/>
              </a:rPr>
            </a:br>
            <a:r>
              <a:rPr lang="en-US" sz="1100" b="0" dirty="0">
                <a:effectLst/>
                <a:latin typeface="Consolas" panose="020B0609020204030204" pitchFamily="49" charset="0"/>
              </a:rPr>
              <a:t>        verbose=1)</a:t>
            </a:r>
            <a:endParaRPr lang="el-GR" sz="900" dirty="0"/>
          </a:p>
        </p:txBody>
      </p:sp>
      <p:sp>
        <p:nvSpPr>
          <p:cNvPr id="14" name="Footer Placeholder 13">
            <a:extLst>
              <a:ext uri="{FF2B5EF4-FFF2-40B4-BE49-F238E27FC236}">
                <a16:creationId xmlns:a16="http://schemas.microsoft.com/office/drawing/2014/main" id="{9269E302-3948-61BE-70CD-1A6C43712455}"/>
              </a:ext>
            </a:extLst>
          </p:cNvPr>
          <p:cNvSpPr>
            <a:spLocks noGrp="1"/>
          </p:cNvSpPr>
          <p:nvPr>
            <p:ph type="ftr" sz="quarter" idx="11"/>
          </p:nvPr>
        </p:nvSpPr>
        <p:spPr/>
        <p:txBody>
          <a:bodyPr/>
          <a:lstStyle/>
          <a:p>
            <a:r>
              <a:rPr lang="en-US"/>
              <a:t>MSc Artificial Intelligence &amp; Deep Learning</a:t>
            </a:r>
          </a:p>
        </p:txBody>
      </p:sp>
      <p:sp>
        <p:nvSpPr>
          <p:cNvPr id="15" name="Slide Number Placeholder 14">
            <a:extLst>
              <a:ext uri="{FF2B5EF4-FFF2-40B4-BE49-F238E27FC236}">
                <a16:creationId xmlns:a16="http://schemas.microsoft.com/office/drawing/2014/main" id="{9C06FF78-23F2-21BF-D7F9-26B78702D665}"/>
              </a:ext>
            </a:extLst>
          </p:cNvPr>
          <p:cNvSpPr>
            <a:spLocks noGrp="1"/>
          </p:cNvSpPr>
          <p:nvPr>
            <p:ph type="sldNum" sz="quarter" idx="12"/>
          </p:nvPr>
        </p:nvSpPr>
        <p:spPr/>
        <p:txBody>
          <a:bodyPr/>
          <a:lstStyle/>
          <a:p>
            <a:fld id="{148CC95F-0247-41B6-91CF-DC97C76A7088}" type="slidenum">
              <a:rPr lang="en-US" smtClean="0"/>
              <a:t>4</a:t>
            </a:fld>
            <a:endParaRPr lang="en-US"/>
          </a:p>
        </p:txBody>
      </p:sp>
      <p:pic>
        <p:nvPicPr>
          <p:cNvPr id="1028" name="Picture 4">
            <a:extLst>
              <a:ext uri="{FF2B5EF4-FFF2-40B4-BE49-F238E27FC236}">
                <a16:creationId xmlns:a16="http://schemas.microsoft.com/office/drawing/2014/main" id="{95296A84-9083-2A12-2EB4-CE4C4B006F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08" y="4946180"/>
            <a:ext cx="3042814" cy="12539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E663F54-A212-EA6C-F096-158CCCAED1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611" y="3027575"/>
            <a:ext cx="2348943" cy="181763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A01BCF1-3E44-7BE5-E367-D7859C52E7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4329" y="2979368"/>
            <a:ext cx="2348943" cy="181763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51DA86DA-098F-0DCE-5366-E08059A4FD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9579" y="4946179"/>
            <a:ext cx="3042813" cy="1253977"/>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A40EBAB0-9E6E-C32B-3834-20D61680D2CF}"/>
              </a:ext>
            </a:extLst>
          </p:cNvPr>
          <p:cNvSpPr txBox="1">
            <a:spLocks/>
          </p:cNvSpPr>
          <p:nvPr/>
        </p:nvSpPr>
        <p:spPr>
          <a:xfrm>
            <a:off x="5209580" y="657369"/>
            <a:ext cx="2624328" cy="2409681"/>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600" b="1" dirty="0">
                <a:latin typeface="Calibri" panose="020F0502020204030204" pitchFamily="34" charset="0"/>
                <a:ea typeface="Calibri" panose="020F0502020204030204" pitchFamily="34" charset="0"/>
                <a:cs typeface="Calibri" panose="020F0502020204030204" pitchFamily="34" charset="0"/>
              </a:rPr>
              <a:t>CNN4 (same architecture with CNN1)</a:t>
            </a:r>
            <a:br>
              <a:rPr lang="en-US" sz="1600" b="1" dirty="0">
                <a:latin typeface="Calibri" panose="020F0502020204030204" pitchFamily="34" charset="0"/>
                <a:ea typeface="Calibri" panose="020F0502020204030204" pitchFamily="34" charset="0"/>
                <a:cs typeface="Calibri" panose="020F0502020204030204" pitchFamily="34" charset="0"/>
              </a:rPr>
            </a:br>
            <a:r>
              <a:rPr lang="en-US" sz="1600" b="1" dirty="0">
                <a:latin typeface="Calibri" panose="020F0502020204030204" pitchFamily="34" charset="0"/>
                <a:ea typeface="Calibri" panose="020F0502020204030204" pitchFamily="34" charset="0"/>
                <a:cs typeface="Calibri" panose="020F0502020204030204" pitchFamily="34" charset="0"/>
              </a:rPr>
              <a:t>(294 MB)</a:t>
            </a:r>
            <a:br>
              <a:rPr lang="en-US" sz="160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Accuracy : 0.643</a:t>
            </a: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F1 Score : 0.611</a:t>
            </a: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Precision: 0.772</a:t>
            </a:r>
            <a:br>
              <a:rPr lang="en-US" sz="1600" b="0" dirty="0">
                <a:latin typeface="Calibri" panose="020F0502020204030204" pitchFamily="34" charset="0"/>
                <a:ea typeface="Calibri" panose="020F0502020204030204" pitchFamily="34" charset="0"/>
                <a:cs typeface="Calibri" panose="020F0502020204030204" pitchFamily="34" charset="0"/>
              </a:rPr>
            </a:br>
            <a:r>
              <a:rPr lang="en-US" sz="1600" b="0" dirty="0">
                <a:latin typeface="Calibri" panose="020F0502020204030204" pitchFamily="34" charset="0"/>
                <a:ea typeface="Calibri" panose="020F0502020204030204" pitchFamily="34" charset="0"/>
                <a:cs typeface="Calibri" panose="020F0502020204030204" pitchFamily="34" charset="0"/>
              </a:rPr>
              <a:t>Recall   : 0.643</a:t>
            </a:r>
            <a:br>
              <a:rPr lang="en-US" sz="1600" dirty="0"/>
            </a:br>
            <a:br>
              <a:rPr lang="en-US" sz="1600" dirty="0"/>
            </a:br>
            <a:r>
              <a:rPr lang="en-US" sz="1100" b="0" dirty="0">
                <a:latin typeface="Consolas" panose="020B0609020204030204" pitchFamily="49" charset="0"/>
              </a:rPr>
              <a:t>epochs = 40</a:t>
            </a:r>
            <a:br>
              <a:rPr lang="en-US" sz="1100" b="0" dirty="0">
                <a:latin typeface="Consolas" panose="020B0609020204030204" pitchFamily="49" charset="0"/>
              </a:rPr>
            </a:br>
            <a:r>
              <a:rPr lang="en-US" sz="1100" b="0" dirty="0" err="1">
                <a:latin typeface="Consolas" panose="020B0609020204030204" pitchFamily="49" charset="0"/>
              </a:rPr>
              <a:t>lr</a:t>
            </a:r>
            <a:r>
              <a:rPr lang="en-US" sz="1100" b="0" dirty="0">
                <a:latin typeface="Consolas" panose="020B0609020204030204" pitchFamily="49" charset="0"/>
              </a:rPr>
              <a:t> = 1e-5</a:t>
            </a:r>
            <a:br>
              <a:rPr lang="en-US" sz="1100" b="0" dirty="0">
                <a:latin typeface="Consolas" panose="020B0609020204030204" pitchFamily="49" charset="0"/>
              </a:rPr>
            </a:br>
            <a:br>
              <a:rPr lang="en-US" sz="1100" b="0" dirty="0">
                <a:latin typeface="Consolas" panose="020B0609020204030204" pitchFamily="49" charset="0"/>
              </a:rPr>
            </a:br>
            <a:r>
              <a:rPr lang="en-US" sz="1100" b="0" dirty="0" err="1">
                <a:effectLst/>
                <a:latin typeface="Consolas" panose="020B0609020204030204" pitchFamily="49" charset="0"/>
              </a:rPr>
              <a:t>early_stop_cb</a:t>
            </a:r>
            <a:r>
              <a:rPr lang="en-US" sz="1100" b="0" dirty="0">
                <a:effectLst/>
                <a:latin typeface="Consolas" panose="020B0609020204030204" pitchFamily="49" charset="0"/>
              </a:rPr>
              <a:t> = </a:t>
            </a:r>
            <a:r>
              <a:rPr lang="en-US" sz="1100" b="0" dirty="0" err="1">
                <a:effectLst/>
                <a:latin typeface="Consolas" panose="020B0609020204030204" pitchFamily="49" charset="0"/>
              </a:rPr>
              <a:t>callbacks.EarlyStopping</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monitor="</a:t>
            </a:r>
            <a:r>
              <a:rPr lang="en-US" sz="1100" b="0" dirty="0" err="1">
                <a:effectLst/>
                <a:latin typeface="Consolas" panose="020B0609020204030204" pitchFamily="49" charset="0"/>
              </a:rPr>
              <a:t>val_accuracy</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patience=</a:t>
            </a:r>
            <a:r>
              <a:rPr lang="el-GR" sz="1100" b="0" dirty="0">
                <a:effectLst/>
                <a:latin typeface="Consolas" panose="020B0609020204030204" pitchFamily="49" charset="0"/>
              </a:rPr>
              <a:t>5</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mode="max",</a:t>
            </a:r>
            <a:br>
              <a:rPr lang="en-US" sz="1100" b="0" dirty="0">
                <a:effectLst/>
                <a:latin typeface="Consolas" panose="020B0609020204030204" pitchFamily="49" charset="0"/>
              </a:rPr>
            </a:br>
            <a:r>
              <a:rPr lang="en-US" sz="1100" b="0" dirty="0">
                <a:effectLst/>
                <a:latin typeface="Consolas" panose="020B0609020204030204" pitchFamily="49" charset="0"/>
              </a:rPr>
              <a:t>        </a:t>
            </a:r>
            <a:r>
              <a:rPr lang="en-US" sz="1100" b="0" dirty="0" err="1">
                <a:effectLst/>
                <a:latin typeface="Consolas" panose="020B0609020204030204" pitchFamily="49" charset="0"/>
              </a:rPr>
              <a:t>restore_best_weights</a:t>
            </a:r>
            <a:r>
              <a:rPr lang="en-US" sz="1100" b="0" dirty="0">
                <a:effectLst/>
                <a:latin typeface="Consolas" panose="020B0609020204030204" pitchFamily="49" charset="0"/>
              </a:rPr>
              <a:t>=True)</a:t>
            </a:r>
            <a:br>
              <a:rPr lang="en-US" sz="1100" b="0" dirty="0">
                <a:effectLst/>
                <a:latin typeface="Consolas" panose="020B0609020204030204" pitchFamily="49" charset="0"/>
              </a:rPr>
            </a:br>
            <a:br>
              <a:rPr lang="en-US" sz="1100" b="0" dirty="0">
                <a:effectLst/>
                <a:latin typeface="Consolas" panose="020B0609020204030204" pitchFamily="49" charset="0"/>
              </a:rPr>
            </a:br>
            <a:r>
              <a:rPr lang="en-US" sz="1100" b="0" dirty="0" err="1">
                <a:effectLst/>
                <a:latin typeface="Consolas" panose="020B0609020204030204" pitchFamily="49" charset="0"/>
              </a:rPr>
              <a:t>reduce_lr_cb</a:t>
            </a:r>
            <a:r>
              <a:rPr lang="en-US" sz="1100" b="0" dirty="0">
                <a:effectLst/>
                <a:latin typeface="Consolas" panose="020B0609020204030204" pitchFamily="49" charset="0"/>
              </a:rPr>
              <a:t> = </a:t>
            </a:r>
            <a:r>
              <a:rPr lang="en-US" sz="1100" b="0" dirty="0" err="1">
                <a:effectLst/>
                <a:latin typeface="Consolas" panose="020B0609020204030204" pitchFamily="49" charset="0"/>
              </a:rPr>
              <a:t>callbacks.ReduceLROnPlateau</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monitor='</a:t>
            </a:r>
            <a:r>
              <a:rPr lang="en-US" sz="1100" b="0" dirty="0" err="1">
                <a:effectLst/>
                <a:latin typeface="Consolas" panose="020B0609020204030204" pitchFamily="49" charset="0"/>
              </a:rPr>
              <a:t>val_loss</a:t>
            </a:r>
            <a:r>
              <a:rPr lang="en-US" sz="1100" b="0" dirty="0">
                <a:effectLst/>
                <a:latin typeface="Consolas" panose="020B0609020204030204" pitchFamily="49" charset="0"/>
              </a:rPr>
              <a:t>',</a:t>
            </a:r>
            <a:br>
              <a:rPr lang="en-US" sz="1100" b="0" dirty="0">
                <a:effectLst/>
                <a:latin typeface="Consolas" panose="020B0609020204030204" pitchFamily="49" charset="0"/>
              </a:rPr>
            </a:br>
            <a:r>
              <a:rPr lang="en-US" sz="1100" b="0" dirty="0">
                <a:effectLst/>
                <a:latin typeface="Consolas" panose="020B0609020204030204" pitchFamily="49" charset="0"/>
              </a:rPr>
              <a:t>        factor=0.5,</a:t>
            </a:r>
            <a:br>
              <a:rPr lang="en-US" sz="1100" b="0" dirty="0">
                <a:effectLst/>
                <a:latin typeface="Consolas" panose="020B0609020204030204" pitchFamily="49" charset="0"/>
              </a:rPr>
            </a:br>
            <a:r>
              <a:rPr lang="en-US" sz="1100" b="0" dirty="0">
                <a:effectLst/>
                <a:latin typeface="Consolas" panose="020B0609020204030204" pitchFamily="49" charset="0"/>
              </a:rPr>
              <a:t>        patience=3,</a:t>
            </a:r>
            <a:br>
              <a:rPr lang="en-US" sz="1100" b="0" dirty="0">
                <a:effectLst/>
                <a:latin typeface="Consolas" panose="020B0609020204030204" pitchFamily="49" charset="0"/>
              </a:rPr>
            </a:br>
            <a:r>
              <a:rPr lang="en-US" sz="1100" b="0" dirty="0">
                <a:effectLst/>
                <a:latin typeface="Consolas" panose="020B0609020204030204" pitchFamily="49" charset="0"/>
              </a:rPr>
              <a:t>        </a:t>
            </a:r>
            <a:r>
              <a:rPr lang="en-US" sz="1100" b="0" dirty="0" err="1">
                <a:effectLst/>
                <a:latin typeface="Consolas" panose="020B0609020204030204" pitchFamily="49" charset="0"/>
              </a:rPr>
              <a:t>min_lr</a:t>
            </a:r>
            <a:r>
              <a:rPr lang="en-US" sz="1100" b="0" dirty="0">
                <a:effectLst/>
                <a:latin typeface="Consolas" panose="020B0609020204030204" pitchFamily="49" charset="0"/>
              </a:rPr>
              <a:t>=1e-6,</a:t>
            </a:r>
            <a:br>
              <a:rPr lang="en-US" sz="1100" b="0" dirty="0">
                <a:effectLst/>
                <a:latin typeface="Consolas" panose="020B0609020204030204" pitchFamily="49" charset="0"/>
              </a:rPr>
            </a:br>
            <a:r>
              <a:rPr lang="en-US" sz="1100" b="0" dirty="0">
                <a:effectLst/>
                <a:latin typeface="Consolas" panose="020B0609020204030204" pitchFamily="49" charset="0"/>
              </a:rPr>
              <a:t>        verbose=1)</a:t>
            </a:r>
            <a:endParaRPr lang="el-GR" sz="900" dirty="0"/>
          </a:p>
        </p:txBody>
      </p:sp>
      <p:pic>
        <p:nvPicPr>
          <p:cNvPr id="1036" name="Picture 12">
            <a:extLst>
              <a:ext uri="{FF2B5EF4-FFF2-40B4-BE49-F238E27FC236}">
                <a16:creationId xmlns:a16="http://schemas.microsoft.com/office/drawing/2014/main" id="{FB0BA816-AD6E-3674-D3A7-AE6F4E4FF4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09580" y="2979367"/>
            <a:ext cx="2348945" cy="1817636"/>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4E612080-1335-0CF1-349A-7700341B6A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9580" y="4845210"/>
            <a:ext cx="3042814" cy="1253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3492150"/>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7745578" y="657370"/>
            <a:ext cx="4313072" cy="2533504"/>
          </a:xfrm>
        </p:spPr>
        <p:txBody>
          <a:bodyPr vert="horz" lIns="91440" tIns="45720" rIns="91440" bIns="45720" rtlCol="0" anchor="t">
            <a:normAutofit fontScale="90000"/>
          </a:bodyPr>
          <a:lstStyle/>
          <a:p>
            <a:pPr>
              <a:lnSpc>
                <a:spcPct val="90000"/>
              </a:lnSpc>
            </a:pPr>
            <a:r>
              <a:rPr lang="en-US" sz="1200" b="1" dirty="0">
                <a:latin typeface="Calibri" panose="020F0502020204030204" pitchFamily="34" charset="0"/>
                <a:ea typeface="Calibri" panose="020F0502020204030204" pitchFamily="34" charset="0"/>
                <a:cs typeface="Calibri" panose="020F0502020204030204" pitchFamily="34" charset="0"/>
              </a:rPr>
              <a:t>CNN6 </a:t>
            </a:r>
            <a:r>
              <a:rPr lang="en-US" sz="1200" dirty="0">
                <a:latin typeface="Calibri" panose="020F0502020204030204" pitchFamily="34" charset="0"/>
                <a:ea typeface="Calibri" panose="020F0502020204030204" pitchFamily="34" charset="0"/>
                <a:cs typeface="Calibri" panose="020F0502020204030204" pitchFamily="34" charset="0"/>
              </a:rPr>
              <a:t>(2,31 GB)</a:t>
            </a:r>
            <a:br>
              <a:rPr lang="en-US" sz="1200" dirty="0">
                <a:latin typeface="Calibri" panose="020F0502020204030204" pitchFamily="34" charset="0"/>
                <a:ea typeface="Calibri" panose="020F0502020204030204" pitchFamily="34" charset="0"/>
                <a:cs typeface="Calibri" panose="020F0502020204030204" pitchFamily="34" charset="0"/>
              </a:rPr>
            </a:br>
            <a:r>
              <a:rPr lang="en-US" sz="1200" b="0" dirty="0">
                <a:latin typeface="Calibri" panose="020F0502020204030204" pitchFamily="34" charset="0"/>
                <a:ea typeface="Calibri" panose="020F0502020204030204" pitchFamily="34" charset="0"/>
                <a:cs typeface="Calibri" panose="020F0502020204030204" pitchFamily="34" charset="0"/>
              </a:rPr>
              <a:t>Accuracy : 0.967</a:t>
            </a:r>
            <a:br>
              <a:rPr lang="en-US" sz="1200" b="0" dirty="0">
                <a:latin typeface="Calibri" panose="020F0502020204030204" pitchFamily="34" charset="0"/>
                <a:ea typeface="Calibri" panose="020F0502020204030204" pitchFamily="34" charset="0"/>
                <a:cs typeface="Calibri" panose="020F0502020204030204" pitchFamily="34" charset="0"/>
              </a:rPr>
            </a:br>
            <a:r>
              <a:rPr lang="en-US" sz="1200" b="0" dirty="0">
                <a:latin typeface="Calibri" panose="020F0502020204030204" pitchFamily="34" charset="0"/>
                <a:ea typeface="Calibri" panose="020F0502020204030204" pitchFamily="34" charset="0"/>
                <a:cs typeface="Calibri" panose="020F0502020204030204" pitchFamily="34" charset="0"/>
              </a:rPr>
              <a:t>F1 Score : 0.967</a:t>
            </a:r>
            <a:br>
              <a:rPr lang="en-US" sz="1200" b="0" dirty="0">
                <a:latin typeface="Calibri" panose="020F0502020204030204" pitchFamily="34" charset="0"/>
                <a:ea typeface="Calibri" panose="020F0502020204030204" pitchFamily="34" charset="0"/>
                <a:cs typeface="Calibri" panose="020F0502020204030204" pitchFamily="34" charset="0"/>
              </a:rPr>
            </a:br>
            <a:r>
              <a:rPr lang="en-US" sz="1200" b="0" dirty="0">
                <a:latin typeface="Calibri" panose="020F0502020204030204" pitchFamily="34" charset="0"/>
                <a:ea typeface="Calibri" panose="020F0502020204030204" pitchFamily="34" charset="0"/>
                <a:cs typeface="Calibri" panose="020F0502020204030204" pitchFamily="34" charset="0"/>
              </a:rPr>
              <a:t>Precision: 0.968</a:t>
            </a:r>
            <a:br>
              <a:rPr lang="en-US" sz="1200" b="0" dirty="0">
                <a:latin typeface="Calibri" panose="020F0502020204030204" pitchFamily="34" charset="0"/>
                <a:ea typeface="Calibri" panose="020F0502020204030204" pitchFamily="34" charset="0"/>
                <a:cs typeface="Calibri" panose="020F0502020204030204" pitchFamily="34" charset="0"/>
              </a:rPr>
            </a:br>
            <a:r>
              <a:rPr lang="en-US" sz="1200" b="0" dirty="0">
                <a:latin typeface="Calibri" panose="020F0502020204030204" pitchFamily="34" charset="0"/>
                <a:ea typeface="Calibri" panose="020F0502020204030204" pitchFamily="34" charset="0"/>
                <a:cs typeface="Calibri" panose="020F0502020204030204" pitchFamily="34" charset="0"/>
              </a:rPr>
              <a:t>Recall   : 0.967</a:t>
            </a:r>
            <a:br>
              <a:rPr lang="en-US" sz="1600" dirty="0"/>
            </a:br>
            <a:br>
              <a:rPr lang="en-US" sz="1600" dirty="0"/>
            </a:br>
            <a:r>
              <a:rPr lang="en-US" sz="900" b="0" dirty="0">
                <a:latin typeface="Consolas" panose="020B0609020204030204" pitchFamily="49" charset="0"/>
                <a:ea typeface="Calibri" panose="020F0502020204030204" pitchFamily="34" charset="0"/>
                <a:cs typeface="Calibri" panose="020F0502020204030204" pitchFamily="34" charset="0"/>
              </a:rPr>
              <a:t>epochs = 30</a:t>
            </a:r>
            <a:br>
              <a:rPr lang="en-US" sz="900" b="0" dirty="0">
                <a:latin typeface="Consolas" panose="020B0609020204030204" pitchFamily="49" charset="0"/>
                <a:ea typeface="Calibri" panose="020F0502020204030204" pitchFamily="34" charset="0"/>
                <a:cs typeface="Calibri" panose="020F0502020204030204" pitchFamily="34" charset="0"/>
              </a:rPr>
            </a:br>
            <a:r>
              <a:rPr lang="en-US" sz="900" b="0" dirty="0" err="1">
                <a:latin typeface="Consolas" panose="020B0609020204030204" pitchFamily="49" charset="0"/>
                <a:ea typeface="Calibri" panose="020F0502020204030204" pitchFamily="34" charset="0"/>
                <a:cs typeface="Calibri" panose="020F0502020204030204" pitchFamily="34" charset="0"/>
              </a:rPr>
              <a:t>lr</a:t>
            </a:r>
            <a:r>
              <a:rPr lang="en-US" sz="900" b="0" dirty="0">
                <a:latin typeface="Consolas" panose="020B0609020204030204" pitchFamily="49" charset="0"/>
                <a:ea typeface="Calibri" panose="020F0502020204030204" pitchFamily="34" charset="0"/>
                <a:cs typeface="Calibri" panose="020F0502020204030204" pitchFamily="34" charset="0"/>
              </a:rPr>
              <a:t> = 1e-3</a:t>
            </a:r>
            <a:br>
              <a:rPr lang="en-US" sz="900" b="0" dirty="0">
                <a:latin typeface="Consolas" panose="020B0609020204030204" pitchFamily="49" charset="0"/>
                <a:ea typeface="Calibri" panose="020F0502020204030204" pitchFamily="34" charset="0"/>
                <a:cs typeface="Calibri" panose="020F0502020204030204" pitchFamily="34" charset="0"/>
              </a:rPr>
            </a:br>
            <a:br>
              <a:rPr lang="en-US" sz="900" b="0" dirty="0">
                <a:latin typeface="Consolas" panose="020B0609020204030204" pitchFamily="49" charset="0"/>
                <a:ea typeface="Calibri" panose="020F0502020204030204" pitchFamily="34" charset="0"/>
                <a:cs typeface="Calibri" panose="020F0502020204030204" pitchFamily="34" charset="0"/>
              </a:rPr>
            </a:br>
            <a:r>
              <a:rPr lang="en-US" sz="900" b="0" dirty="0" err="1">
                <a:effectLst/>
                <a:latin typeface="Consolas" panose="020B0609020204030204" pitchFamily="49" charset="0"/>
                <a:ea typeface="Calibri" panose="020F0502020204030204" pitchFamily="34" charset="0"/>
                <a:cs typeface="Calibri" panose="020F0502020204030204" pitchFamily="34" charset="0"/>
              </a:rPr>
              <a:t>early_stop_cb</a:t>
            </a:r>
            <a:r>
              <a:rPr lang="en-US" sz="900" b="0" dirty="0">
                <a:effectLst/>
                <a:latin typeface="Consolas" panose="020B0609020204030204" pitchFamily="49" charset="0"/>
                <a:ea typeface="Calibri" panose="020F0502020204030204" pitchFamily="34" charset="0"/>
                <a:cs typeface="Calibri" panose="020F0502020204030204" pitchFamily="34" charset="0"/>
              </a:rPr>
              <a:t> = </a:t>
            </a:r>
            <a:r>
              <a:rPr lang="en-US" sz="900" b="0" dirty="0" err="1">
                <a:effectLst/>
                <a:latin typeface="Consolas" panose="020B0609020204030204" pitchFamily="49" charset="0"/>
                <a:ea typeface="Calibri" panose="020F0502020204030204" pitchFamily="34" charset="0"/>
                <a:cs typeface="Calibri" panose="020F0502020204030204" pitchFamily="34" charset="0"/>
              </a:rPr>
              <a:t>callbacks.EarlyStopping</a:t>
            </a:r>
            <a:r>
              <a:rPr lang="en-US" sz="900" b="0" dirty="0">
                <a:effectLst/>
                <a:latin typeface="Consolas" panose="020B0609020204030204" pitchFamily="49" charset="0"/>
                <a:ea typeface="Calibri" panose="020F0502020204030204" pitchFamily="34" charset="0"/>
                <a:cs typeface="Calibri" panose="020F0502020204030204" pitchFamily="34" charset="0"/>
              </a:rPr>
              <a:t>(monitor="</a:t>
            </a:r>
            <a:r>
              <a:rPr lang="en-US" sz="900" b="0" dirty="0" err="1">
                <a:effectLst/>
                <a:latin typeface="Consolas" panose="020B0609020204030204" pitchFamily="49" charset="0"/>
                <a:ea typeface="Calibri" panose="020F0502020204030204" pitchFamily="34" charset="0"/>
                <a:cs typeface="Calibri" panose="020F0502020204030204" pitchFamily="34" charset="0"/>
              </a:rPr>
              <a:t>val_accuracy</a:t>
            </a:r>
            <a:r>
              <a:rPr lang="en-US" sz="900" b="0" dirty="0">
                <a:effectLst/>
                <a:latin typeface="Consolas" panose="020B0609020204030204" pitchFamily="49" charset="0"/>
                <a:ea typeface="Calibri" panose="020F0502020204030204" pitchFamily="34" charset="0"/>
                <a:cs typeface="Calibri" panose="020F0502020204030204" pitchFamily="34" charset="0"/>
              </a:rPr>
              <a:t>",</a:t>
            </a:r>
            <a:br>
              <a:rPr lang="en-US" sz="900" b="0" dirty="0">
                <a:effectLst/>
                <a:latin typeface="Consolas" panose="020B0609020204030204" pitchFamily="49" charset="0"/>
                <a:ea typeface="Calibri" panose="020F0502020204030204" pitchFamily="34" charset="0"/>
                <a:cs typeface="Calibri" panose="020F0502020204030204" pitchFamily="34" charset="0"/>
              </a:rPr>
            </a:br>
            <a:r>
              <a:rPr lang="en-US" sz="900" b="0" dirty="0">
                <a:effectLst/>
                <a:latin typeface="Consolas" panose="020B0609020204030204" pitchFamily="49" charset="0"/>
                <a:ea typeface="Calibri" panose="020F0502020204030204" pitchFamily="34" charset="0"/>
                <a:cs typeface="Calibri" panose="020F0502020204030204" pitchFamily="34" charset="0"/>
              </a:rPr>
              <a:t>        patience=</a:t>
            </a:r>
            <a:r>
              <a:rPr lang="el-GR" sz="900" b="0" dirty="0">
                <a:effectLst/>
                <a:latin typeface="Consolas" panose="020B0609020204030204" pitchFamily="49" charset="0"/>
                <a:ea typeface="Calibri" panose="020F0502020204030204" pitchFamily="34" charset="0"/>
                <a:cs typeface="Calibri" panose="020F0502020204030204" pitchFamily="34" charset="0"/>
              </a:rPr>
              <a:t>5</a:t>
            </a:r>
            <a:r>
              <a:rPr lang="en-US" sz="900" b="0" dirty="0">
                <a:effectLst/>
                <a:latin typeface="Consolas" panose="020B0609020204030204" pitchFamily="49" charset="0"/>
                <a:ea typeface="Calibri" panose="020F0502020204030204" pitchFamily="34" charset="0"/>
                <a:cs typeface="Calibri" panose="020F0502020204030204" pitchFamily="34" charset="0"/>
              </a:rPr>
              <a:t>, mode="max",</a:t>
            </a:r>
            <a:br>
              <a:rPr lang="en-US" sz="900" b="0" dirty="0">
                <a:effectLst/>
                <a:latin typeface="Consolas" panose="020B0609020204030204" pitchFamily="49" charset="0"/>
                <a:ea typeface="Calibri" panose="020F0502020204030204" pitchFamily="34" charset="0"/>
                <a:cs typeface="Calibri" panose="020F0502020204030204" pitchFamily="34" charset="0"/>
              </a:rPr>
            </a:br>
            <a:r>
              <a:rPr lang="en-US" sz="900" b="0" dirty="0">
                <a:effectLst/>
                <a:latin typeface="Consolas" panose="020B0609020204030204" pitchFamily="49" charset="0"/>
                <a:ea typeface="Calibri" panose="020F0502020204030204" pitchFamily="34" charset="0"/>
                <a:cs typeface="Calibri" panose="020F0502020204030204" pitchFamily="34" charset="0"/>
              </a:rPr>
              <a:t>        </a:t>
            </a:r>
            <a:r>
              <a:rPr lang="en-US" sz="900" b="0" dirty="0" err="1">
                <a:effectLst/>
                <a:latin typeface="Consolas" panose="020B0609020204030204" pitchFamily="49" charset="0"/>
                <a:ea typeface="Calibri" panose="020F0502020204030204" pitchFamily="34" charset="0"/>
                <a:cs typeface="Calibri" panose="020F0502020204030204" pitchFamily="34" charset="0"/>
              </a:rPr>
              <a:t>restore_best_weights</a:t>
            </a:r>
            <a:r>
              <a:rPr lang="en-US" sz="900" b="0" dirty="0">
                <a:effectLst/>
                <a:latin typeface="Consolas" panose="020B0609020204030204" pitchFamily="49" charset="0"/>
                <a:ea typeface="Calibri" panose="020F0502020204030204" pitchFamily="34" charset="0"/>
                <a:cs typeface="Calibri" panose="020F0502020204030204" pitchFamily="34" charset="0"/>
              </a:rPr>
              <a:t>=True)</a:t>
            </a:r>
            <a:br>
              <a:rPr lang="en-US" sz="900" b="0" dirty="0">
                <a:effectLst/>
                <a:latin typeface="Consolas" panose="020B0609020204030204" pitchFamily="49" charset="0"/>
                <a:ea typeface="Calibri" panose="020F0502020204030204" pitchFamily="34" charset="0"/>
                <a:cs typeface="Calibri" panose="020F0502020204030204" pitchFamily="34" charset="0"/>
              </a:rPr>
            </a:br>
            <a:br>
              <a:rPr lang="en-US" sz="900" b="0" dirty="0">
                <a:effectLst/>
                <a:latin typeface="Consolas" panose="020B0609020204030204" pitchFamily="49" charset="0"/>
                <a:ea typeface="Calibri" panose="020F0502020204030204" pitchFamily="34" charset="0"/>
                <a:cs typeface="Calibri" panose="020F0502020204030204" pitchFamily="34" charset="0"/>
              </a:rPr>
            </a:br>
            <a:r>
              <a:rPr lang="en-US" sz="900" b="0" dirty="0" err="1">
                <a:effectLst/>
                <a:latin typeface="Consolas" panose="020B0609020204030204" pitchFamily="49" charset="0"/>
                <a:ea typeface="Calibri" panose="020F0502020204030204" pitchFamily="34" charset="0"/>
                <a:cs typeface="Calibri" panose="020F0502020204030204" pitchFamily="34" charset="0"/>
              </a:rPr>
              <a:t>reduce_lr_cb</a:t>
            </a:r>
            <a:r>
              <a:rPr lang="en-US" sz="900" b="0" dirty="0">
                <a:effectLst/>
                <a:latin typeface="Consolas" panose="020B0609020204030204" pitchFamily="49" charset="0"/>
                <a:ea typeface="Calibri" panose="020F0502020204030204" pitchFamily="34" charset="0"/>
                <a:cs typeface="Calibri" panose="020F0502020204030204" pitchFamily="34" charset="0"/>
              </a:rPr>
              <a:t> = </a:t>
            </a:r>
            <a:r>
              <a:rPr lang="en-US" sz="900" b="0" dirty="0" err="1">
                <a:effectLst/>
                <a:latin typeface="Consolas" panose="020B0609020204030204" pitchFamily="49" charset="0"/>
                <a:ea typeface="Calibri" panose="020F0502020204030204" pitchFamily="34" charset="0"/>
                <a:cs typeface="Calibri" panose="020F0502020204030204" pitchFamily="34" charset="0"/>
              </a:rPr>
              <a:t>callbacks.ReduceLROnPlateau</a:t>
            </a:r>
            <a:r>
              <a:rPr lang="en-US" sz="900" b="0" dirty="0">
                <a:effectLst/>
                <a:latin typeface="Consolas" panose="020B0609020204030204" pitchFamily="49" charset="0"/>
                <a:ea typeface="Calibri" panose="020F0502020204030204" pitchFamily="34" charset="0"/>
                <a:cs typeface="Calibri" panose="020F0502020204030204" pitchFamily="34" charset="0"/>
              </a:rPr>
              <a:t>(monitor='</a:t>
            </a:r>
            <a:r>
              <a:rPr lang="en-US" sz="900" b="0" dirty="0" err="1">
                <a:effectLst/>
                <a:latin typeface="Consolas" panose="020B0609020204030204" pitchFamily="49" charset="0"/>
                <a:ea typeface="Calibri" panose="020F0502020204030204" pitchFamily="34" charset="0"/>
                <a:cs typeface="Calibri" panose="020F0502020204030204" pitchFamily="34" charset="0"/>
              </a:rPr>
              <a:t>val_loss</a:t>
            </a:r>
            <a:r>
              <a:rPr lang="en-US" sz="900" b="0" dirty="0">
                <a:effectLst/>
                <a:latin typeface="Consolas" panose="020B0609020204030204" pitchFamily="49" charset="0"/>
                <a:ea typeface="Calibri" panose="020F0502020204030204" pitchFamily="34" charset="0"/>
                <a:cs typeface="Calibri" panose="020F0502020204030204" pitchFamily="34" charset="0"/>
              </a:rPr>
              <a:t>',</a:t>
            </a:r>
            <a:br>
              <a:rPr lang="en-US" sz="900" b="0" dirty="0">
                <a:effectLst/>
                <a:latin typeface="Consolas" panose="020B0609020204030204" pitchFamily="49" charset="0"/>
                <a:ea typeface="Calibri" panose="020F0502020204030204" pitchFamily="34" charset="0"/>
                <a:cs typeface="Calibri" panose="020F0502020204030204" pitchFamily="34" charset="0"/>
              </a:rPr>
            </a:br>
            <a:r>
              <a:rPr lang="en-US" sz="900" b="0" dirty="0">
                <a:effectLst/>
                <a:latin typeface="Consolas" panose="020B0609020204030204" pitchFamily="49" charset="0"/>
                <a:ea typeface="Calibri" panose="020F0502020204030204" pitchFamily="34" charset="0"/>
                <a:cs typeface="Calibri" panose="020F0502020204030204" pitchFamily="34" charset="0"/>
              </a:rPr>
              <a:t>        factor=0.5, patience=3,</a:t>
            </a:r>
            <a:br>
              <a:rPr lang="en-US" sz="900" b="0" dirty="0">
                <a:effectLst/>
                <a:latin typeface="Consolas" panose="020B0609020204030204" pitchFamily="49" charset="0"/>
                <a:ea typeface="Calibri" panose="020F0502020204030204" pitchFamily="34" charset="0"/>
                <a:cs typeface="Calibri" panose="020F0502020204030204" pitchFamily="34" charset="0"/>
              </a:rPr>
            </a:br>
            <a:r>
              <a:rPr lang="en-US" sz="900" b="0" dirty="0">
                <a:effectLst/>
                <a:latin typeface="Consolas" panose="020B0609020204030204" pitchFamily="49" charset="0"/>
                <a:ea typeface="Calibri" panose="020F0502020204030204" pitchFamily="34" charset="0"/>
                <a:cs typeface="Calibri" panose="020F0502020204030204" pitchFamily="34" charset="0"/>
              </a:rPr>
              <a:t>        </a:t>
            </a:r>
            <a:r>
              <a:rPr lang="en-US" sz="900" b="0" dirty="0" err="1">
                <a:effectLst/>
                <a:latin typeface="Consolas" panose="020B0609020204030204" pitchFamily="49" charset="0"/>
                <a:ea typeface="Calibri" panose="020F0502020204030204" pitchFamily="34" charset="0"/>
                <a:cs typeface="Calibri" panose="020F0502020204030204" pitchFamily="34" charset="0"/>
              </a:rPr>
              <a:t>min_lr</a:t>
            </a:r>
            <a:r>
              <a:rPr lang="en-US" sz="900" b="0" dirty="0">
                <a:effectLst/>
                <a:latin typeface="Consolas" panose="020B0609020204030204" pitchFamily="49" charset="0"/>
                <a:ea typeface="Calibri" panose="020F0502020204030204" pitchFamily="34" charset="0"/>
                <a:cs typeface="Calibri" panose="020F0502020204030204" pitchFamily="34" charset="0"/>
              </a:rPr>
              <a:t>=1e-6,</a:t>
            </a:r>
            <a:br>
              <a:rPr lang="en-US" sz="900" b="0" dirty="0">
                <a:effectLst/>
                <a:latin typeface="Consolas" panose="020B0609020204030204" pitchFamily="49" charset="0"/>
                <a:ea typeface="Calibri" panose="020F0502020204030204" pitchFamily="34" charset="0"/>
                <a:cs typeface="Calibri" panose="020F0502020204030204" pitchFamily="34" charset="0"/>
              </a:rPr>
            </a:br>
            <a:r>
              <a:rPr lang="en-US" sz="900" b="0" dirty="0">
                <a:effectLst/>
                <a:latin typeface="Consolas" panose="020B0609020204030204" pitchFamily="49" charset="0"/>
                <a:ea typeface="Calibri" panose="020F0502020204030204" pitchFamily="34" charset="0"/>
                <a:cs typeface="Calibri" panose="020F0502020204030204" pitchFamily="34" charset="0"/>
              </a:rPr>
              <a:t>        verbose=1)</a:t>
            </a:r>
            <a:br>
              <a:rPr lang="en-US" sz="10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endParaRPr lang="en-US" sz="1000" b="1"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3" name="Title 1">
            <a:extLst>
              <a:ext uri="{FF2B5EF4-FFF2-40B4-BE49-F238E27FC236}">
                <a16:creationId xmlns:a16="http://schemas.microsoft.com/office/drawing/2014/main" id="{DF5A3138-9AE6-C5D6-9B1B-DBF89A2462DE}"/>
              </a:ext>
            </a:extLst>
          </p:cNvPr>
          <p:cNvSpPr txBox="1">
            <a:spLocks/>
          </p:cNvSpPr>
          <p:nvPr/>
        </p:nvSpPr>
        <p:spPr>
          <a:xfrm>
            <a:off x="534321" y="657368"/>
            <a:ext cx="2624328" cy="2771628"/>
          </a:xfrm>
          <a:prstGeom prst="rect">
            <a:avLst/>
          </a:prstGeom>
        </p:spPr>
        <p:txBody>
          <a:bodyPr vert="horz" lIns="91440" tIns="45720" rIns="91440" bIns="45720" rtlCol="0">
            <a:norm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spcAft>
                <a:spcPts val="600"/>
              </a:spcAft>
            </a:pPr>
            <a:r>
              <a:rPr lang="en-US" sz="1100" dirty="0">
                <a:latin typeface="Calibri" panose="020F0502020204030204" pitchFamily="34" charset="0"/>
                <a:ea typeface="Calibri" panose="020F0502020204030204" pitchFamily="34" charset="0"/>
                <a:cs typeface="Calibri" panose="020F0502020204030204" pitchFamily="34" charset="0"/>
              </a:rPr>
              <a:t>CNN2 (589 MB)</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Accuracy : 0.714</a:t>
            </a: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F1 Score : 0.708</a:t>
            </a: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Precision: 0.707</a:t>
            </a: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Recall   : 0.714</a:t>
            </a:r>
            <a:br>
              <a:rPr lang="en-US" sz="1100" dirty="0">
                <a:latin typeface="+mn-lt"/>
                <a:ea typeface="+mn-ea"/>
                <a:cs typeface="+mn-cs"/>
              </a:rPr>
            </a:br>
            <a:br>
              <a:rPr lang="en-US" sz="1050" dirty="0">
                <a:latin typeface="+mn-lt"/>
                <a:ea typeface="+mn-ea"/>
                <a:cs typeface="+mn-cs"/>
              </a:rPr>
            </a:br>
            <a:r>
              <a:rPr lang="en-US" sz="800" b="0" dirty="0">
                <a:latin typeface="Consolas" panose="020B0609020204030204" pitchFamily="49" charset="0"/>
                <a:ea typeface="+mn-ea"/>
                <a:cs typeface="+mn-cs"/>
              </a:rPr>
              <a:t>epochs = 30 </a:t>
            </a:r>
            <a:br>
              <a:rPr lang="en-US" sz="800" b="0" dirty="0">
                <a:latin typeface="Consolas" panose="020B0609020204030204" pitchFamily="49" charset="0"/>
                <a:ea typeface="+mn-ea"/>
                <a:cs typeface="+mn-cs"/>
              </a:rPr>
            </a:br>
            <a:r>
              <a:rPr lang="en-US" sz="800" b="0" dirty="0" err="1">
                <a:latin typeface="Consolas" panose="020B0609020204030204" pitchFamily="49" charset="0"/>
                <a:ea typeface="+mn-ea"/>
                <a:cs typeface="+mn-cs"/>
              </a:rPr>
              <a:t>lr</a:t>
            </a:r>
            <a:r>
              <a:rPr lang="en-US" sz="800" b="0" dirty="0">
                <a:latin typeface="Consolas" panose="020B0609020204030204" pitchFamily="49" charset="0"/>
                <a:ea typeface="+mn-ea"/>
                <a:cs typeface="+mn-cs"/>
              </a:rPr>
              <a:t> = 1e-5</a:t>
            </a:r>
            <a:br>
              <a:rPr lang="en-US" sz="800" b="0" dirty="0">
                <a:latin typeface="Consolas" panose="020B0609020204030204" pitchFamily="49" charset="0"/>
                <a:ea typeface="+mn-ea"/>
                <a:cs typeface="+mn-cs"/>
              </a:rPr>
            </a:br>
            <a:endParaRPr lang="en-US" sz="800" b="0" dirty="0">
              <a:latin typeface="Consolas" panose="020B0609020204030204" pitchFamily="49" charset="0"/>
              <a:ea typeface="+mn-ea"/>
              <a:cs typeface="+mn-cs"/>
            </a:endParaRPr>
          </a:p>
          <a:p>
            <a:pPr>
              <a:spcAft>
                <a:spcPts val="600"/>
              </a:spcAft>
            </a:pPr>
            <a:r>
              <a:rPr lang="en-US" sz="800" b="0" dirty="0" err="1">
                <a:effectLst/>
                <a:latin typeface="Consolas" panose="020B0609020204030204" pitchFamily="49" charset="0"/>
              </a:rPr>
              <a:t>EarlyStopping</a:t>
            </a:r>
            <a:r>
              <a:rPr lang="en-US" sz="800" b="0" dirty="0">
                <a:effectLst/>
                <a:latin typeface="Consolas" panose="020B0609020204030204" pitchFamily="49" charset="0"/>
              </a:rPr>
              <a:t>(monitor="</a:t>
            </a:r>
            <a:r>
              <a:rPr lang="en-US" sz="800" b="0" dirty="0" err="1">
                <a:effectLst/>
                <a:latin typeface="Consolas" panose="020B0609020204030204" pitchFamily="49" charset="0"/>
              </a:rPr>
              <a:t>val_accuracy</a:t>
            </a:r>
            <a:r>
              <a:rPr lang="en-US" sz="800" b="0" dirty="0">
                <a:effectLst/>
                <a:latin typeface="Consolas" panose="020B0609020204030204" pitchFamily="49" charset="0"/>
              </a:rPr>
              <a:t>", patience=5,mode="max", </a:t>
            </a:r>
            <a:r>
              <a:rPr lang="en-US" sz="800" b="0" dirty="0" err="1">
                <a:effectLst/>
                <a:latin typeface="Consolas" panose="020B0609020204030204" pitchFamily="49" charset="0"/>
              </a:rPr>
              <a:t>restore_best_weights</a:t>
            </a:r>
            <a:r>
              <a:rPr lang="en-US" sz="800" b="0" dirty="0">
                <a:effectLst/>
                <a:latin typeface="Consolas" panose="020B0609020204030204" pitchFamily="49" charset="0"/>
              </a:rPr>
              <a:t>=True</a:t>
            </a:r>
            <a:endParaRPr lang="en-US" sz="800" b="0" dirty="0">
              <a:latin typeface="Consolas" panose="020B0609020204030204" pitchFamily="49" charset="0"/>
              <a:ea typeface="+mn-ea"/>
              <a:cs typeface="+mn-cs"/>
            </a:endParaRPr>
          </a:p>
          <a:p>
            <a:pPr>
              <a:spcAft>
                <a:spcPts val="600"/>
              </a:spcAft>
            </a:pPr>
            <a:r>
              <a:rPr lang="en-US" sz="800" b="0" dirty="0" err="1">
                <a:latin typeface="Consolas" panose="020B0609020204030204" pitchFamily="49" charset="0"/>
                <a:ea typeface="+mn-ea"/>
                <a:cs typeface="+mn-cs"/>
              </a:rPr>
              <a:t>ReduceLROnPlateau</a:t>
            </a:r>
            <a:r>
              <a:rPr lang="en-US" sz="800" b="0" dirty="0">
                <a:latin typeface="Consolas" panose="020B0609020204030204" pitchFamily="49" charset="0"/>
                <a:ea typeface="+mn-ea"/>
                <a:cs typeface="+mn-cs"/>
              </a:rPr>
              <a:t>(monitor='</a:t>
            </a:r>
            <a:r>
              <a:rPr lang="en-US" sz="800" b="0" dirty="0" err="1">
                <a:latin typeface="Consolas" panose="020B0609020204030204" pitchFamily="49" charset="0"/>
                <a:ea typeface="+mn-ea"/>
                <a:cs typeface="+mn-cs"/>
              </a:rPr>
              <a:t>val_loss</a:t>
            </a:r>
            <a:r>
              <a:rPr lang="en-US" sz="800" b="0" dirty="0">
                <a:latin typeface="Consolas" panose="020B0609020204030204" pitchFamily="49" charset="0"/>
                <a:ea typeface="+mn-ea"/>
                <a:cs typeface="+mn-cs"/>
              </a:rPr>
              <a:t>',        factor=0.2, patience=5,min_lr=1e-6, verbose=1)</a:t>
            </a:r>
            <a:br>
              <a:rPr lang="en-US" sz="1000" dirty="0">
                <a:latin typeface="+mn-lt"/>
                <a:ea typeface="+mn-ea"/>
                <a:cs typeface="+mn-cs"/>
              </a:rPr>
            </a:br>
            <a:endParaRPr lang="en-US" sz="1000" dirty="0">
              <a:latin typeface="+mn-lt"/>
              <a:ea typeface="+mn-ea"/>
              <a:cs typeface="+mn-cs"/>
            </a:endParaRPr>
          </a:p>
        </p:txBody>
      </p:sp>
      <p:sp>
        <p:nvSpPr>
          <p:cNvPr id="6" name="Title 1">
            <a:extLst>
              <a:ext uri="{FF2B5EF4-FFF2-40B4-BE49-F238E27FC236}">
                <a16:creationId xmlns:a16="http://schemas.microsoft.com/office/drawing/2014/main" id="{7EC1F43E-DB13-7853-1F43-2EB85C24A6B5}"/>
              </a:ext>
            </a:extLst>
          </p:cNvPr>
          <p:cNvSpPr txBox="1">
            <a:spLocks/>
          </p:cNvSpPr>
          <p:nvPr/>
        </p:nvSpPr>
        <p:spPr>
          <a:xfrm>
            <a:off x="4115469" y="657368"/>
            <a:ext cx="2624328" cy="2533505"/>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100" dirty="0">
                <a:latin typeface="Calibri" panose="020F0502020204030204" pitchFamily="34" charset="0"/>
                <a:ea typeface="Calibri" panose="020F0502020204030204" pitchFamily="34" charset="0"/>
                <a:cs typeface="Calibri" panose="020F0502020204030204" pitchFamily="34" charset="0"/>
              </a:rPr>
              <a:t>CNN</a:t>
            </a:r>
            <a:r>
              <a:rPr lang="el-GR" sz="1100" dirty="0">
                <a:latin typeface="Calibri" panose="020F0502020204030204" pitchFamily="34" charset="0"/>
                <a:ea typeface="Calibri" panose="020F0502020204030204" pitchFamily="34" charset="0"/>
                <a:cs typeface="Calibri" panose="020F0502020204030204" pitchFamily="34" charset="0"/>
              </a:rPr>
              <a:t>3</a:t>
            </a:r>
            <a:r>
              <a:rPr lang="en-US" sz="1100" dirty="0">
                <a:latin typeface="Calibri" panose="020F0502020204030204" pitchFamily="34" charset="0"/>
                <a:ea typeface="Calibri" panose="020F0502020204030204" pitchFamily="34" charset="0"/>
                <a:cs typeface="Calibri" panose="020F0502020204030204" pitchFamily="34" charset="0"/>
              </a:rPr>
              <a:t> (1,9 MB)</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Accuracy : 0.953</a:t>
            </a: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F1 Score : 0.953</a:t>
            </a: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Precision: 0.955</a:t>
            </a: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Recall   : 0.953</a:t>
            </a:r>
            <a:br>
              <a:rPr lang="en-US" sz="1700" dirty="0"/>
            </a:br>
            <a:br>
              <a:rPr lang="en-US" sz="1700" dirty="0"/>
            </a:br>
            <a:r>
              <a:rPr lang="en-US" sz="800" b="0" dirty="0">
                <a:latin typeface="Consolas" panose="020B0609020204030204" pitchFamily="49" charset="0"/>
              </a:rPr>
              <a:t>epochs = 30 </a:t>
            </a:r>
            <a:br>
              <a:rPr lang="en-US" sz="800" b="0" dirty="0">
                <a:latin typeface="Consolas" panose="020B0609020204030204" pitchFamily="49" charset="0"/>
              </a:rPr>
            </a:br>
            <a:r>
              <a:rPr lang="en-US" sz="800" b="0" dirty="0" err="1">
                <a:latin typeface="Consolas" panose="020B0609020204030204" pitchFamily="49" charset="0"/>
              </a:rPr>
              <a:t>lr</a:t>
            </a:r>
            <a:r>
              <a:rPr lang="en-US" sz="800" b="0" dirty="0">
                <a:latin typeface="Consolas" panose="020B0609020204030204" pitchFamily="49" charset="0"/>
              </a:rPr>
              <a:t> = 1e-3</a:t>
            </a:r>
            <a:br>
              <a:rPr lang="en-US" sz="800" b="0" dirty="0">
                <a:latin typeface="Consolas" panose="020B0609020204030204" pitchFamily="49" charset="0"/>
              </a:rPr>
            </a:br>
            <a:br>
              <a:rPr lang="en-US" sz="800" b="0" dirty="0">
                <a:latin typeface="Consolas" panose="020B0609020204030204" pitchFamily="49" charset="0"/>
              </a:rPr>
            </a:br>
            <a:r>
              <a:rPr lang="en-US" sz="800" b="0" dirty="0" err="1">
                <a:latin typeface="Consolas" panose="020B0609020204030204" pitchFamily="49" charset="0"/>
              </a:rPr>
              <a:t>EarlyStopping</a:t>
            </a:r>
            <a:r>
              <a:rPr lang="en-US" sz="800" b="0" dirty="0">
                <a:latin typeface="Consolas" panose="020B0609020204030204" pitchFamily="49" charset="0"/>
              </a:rPr>
              <a:t>(monitor="</a:t>
            </a:r>
            <a:r>
              <a:rPr lang="en-US" sz="800" b="0" dirty="0" err="1">
                <a:latin typeface="Consolas" panose="020B0609020204030204" pitchFamily="49" charset="0"/>
              </a:rPr>
              <a:t>val_accuracy</a:t>
            </a:r>
            <a:r>
              <a:rPr lang="en-US" sz="800" b="0" dirty="0">
                <a:latin typeface="Consolas" panose="020B0609020204030204" pitchFamily="49" charset="0"/>
              </a:rPr>
              <a:t>", patience=5,mode="max", </a:t>
            </a:r>
            <a:r>
              <a:rPr lang="en-US" sz="800" b="0" dirty="0" err="1">
                <a:latin typeface="Consolas" panose="020B0609020204030204" pitchFamily="49" charset="0"/>
              </a:rPr>
              <a:t>restore_best_weights</a:t>
            </a:r>
            <a:r>
              <a:rPr lang="en-US" sz="800" b="0" dirty="0">
                <a:latin typeface="Consolas" panose="020B0609020204030204" pitchFamily="49" charset="0"/>
              </a:rPr>
              <a:t>=True</a:t>
            </a:r>
          </a:p>
          <a:p>
            <a:pPr>
              <a:lnSpc>
                <a:spcPct val="90000"/>
              </a:lnSpc>
            </a:pPr>
            <a:r>
              <a:rPr lang="en-US" sz="800" b="0" dirty="0" err="1">
                <a:latin typeface="Consolas" panose="020B0609020204030204" pitchFamily="49" charset="0"/>
              </a:rPr>
              <a:t>ReduceLROnPlateau</a:t>
            </a:r>
            <a:r>
              <a:rPr lang="en-US" sz="800" b="0" dirty="0">
                <a:latin typeface="Consolas" panose="020B0609020204030204" pitchFamily="49" charset="0"/>
              </a:rPr>
              <a:t>(monitor='</a:t>
            </a:r>
            <a:r>
              <a:rPr lang="en-US" sz="800" b="0" dirty="0" err="1">
                <a:latin typeface="Consolas" panose="020B0609020204030204" pitchFamily="49" charset="0"/>
              </a:rPr>
              <a:t>val_loss</a:t>
            </a:r>
            <a:r>
              <a:rPr lang="en-US" sz="800" b="0" dirty="0">
                <a:latin typeface="Consolas" panose="020B0609020204030204" pitchFamily="49" charset="0"/>
              </a:rPr>
              <a:t>',        factor=0.2, patience=5,min_lr=1e-6, verbose=1)</a:t>
            </a:r>
            <a:endParaRPr lang="el-GR" sz="800" dirty="0"/>
          </a:p>
        </p:txBody>
      </p:sp>
      <p:sp>
        <p:nvSpPr>
          <p:cNvPr id="11" name="Footer Placeholder 10">
            <a:extLst>
              <a:ext uri="{FF2B5EF4-FFF2-40B4-BE49-F238E27FC236}">
                <a16:creationId xmlns:a16="http://schemas.microsoft.com/office/drawing/2014/main" id="{B3649646-D2DE-AFC4-C008-A66AEB41A9C7}"/>
              </a:ext>
            </a:extLst>
          </p:cNvPr>
          <p:cNvSpPr>
            <a:spLocks noGrp="1"/>
          </p:cNvSpPr>
          <p:nvPr>
            <p:ph type="ftr" sz="quarter" idx="11"/>
          </p:nvPr>
        </p:nvSpPr>
        <p:spPr/>
        <p:txBody>
          <a:bodyPr/>
          <a:lstStyle/>
          <a:p>
            <a:r>
              <a:rPr lang="en-US"/>
              <a:t>MSc Artificial Intelligence &amp; Deep Learning</a:t>
            </a:r>
          </a:p>
        </p:txBody>
      </p:sp>
      <p:sp>
        <p:nvSpPr>
          <p:cNvPr id="12" name="Slide Number Placeholder 11">
            <a:extLst>
              <a:ext uri="{FF2B5EF4-FFF2-40B4-BE49-F238E27FC236}">
                <a16:creationId xmlns:a16="http://schemas.microsoft.com/office/drawing/2014/main" id="{9B401B6F-0CE1-0AB9-AE8E-7C9D407EAE0C}"/>
              </a:ext>
            </a:extLst>
          </p:cNvPr>
          <p:cNvSpPr>
            <a:spLocks noGrp="1"/>
          </p:cNvSpPr>
          <p:nvPr>
            <p:ph type="sldNum" sz="quarter" idx="12"/>
          </p:nvPr>
        </p:nvSpPr>
        <p:spPr/>
        <p:txBody>
          <a:bodyPr/>
          <a:lstStyle/>
          <a:p>
            <a:fld id="{148CC95F-0247-41B6-91CF-DC97C76A7088}" type="slidenum">
              <a:rPr lang="en-US" smtClean="0"/>
              <a:t>5</a:t>
            </a:fld>
            <a:endParaRPr lang="en-US"/>
          </a:p>
        </p:txBody>
      </p:sp>
      <p:pic>
        <p:nvPicPr>
          <p:cNvPr id="9" name="Picture 2">
            <a:extLst>
              <a:ext uri="{FF2B5EF4-FFF2-40B4-BE49-F238E27FC236}">
                <a16:creationId xmlns:a16="http://schemas.microsoft.com/office/drawing/2014/main" id="{E3AA14F9-ACD6-B2C5-7E67-5E270BD235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321" y="2999791"/>
            <a:ext cx="2240881" cy="173401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E91B1AFC-0B4C-2218-8790-98AEF558D3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679" y="4837098"/>
            <a:ext cx="3319108" cy="136784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FD243082-38DD-2F0D-57FE-F65115EC6D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9820" y="2999790"/>
            <a:ext cx="2240881" cy="173401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46142537-89CB-7266-27F5-BF68C6315D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09820" y="4812934"/>
            <a:ext cx="3319108" cy="136784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D635A4C9-F54E-8C00-5C94-84D64BA173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45578" y="2999789"/>
            <a:ext cx="2240881" cy="1734015"/>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4DDD1C2E-A247-ABD0-5BFC-F7166235FD2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45578" y="4812935"/>
            <a:ext cx="3319109" cy="1367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189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C1F43E-DB13-7853-1F43-2EB85C24A6B5}"/>
              </a:ext>
            </a:extLst>
          </p:cNvPr>
          <p:cNvSpPr txBox="1">
            <a:spLocks/>
          </p:cNvSpPr>
          <p:nvPr/>
        </p:nvSpPr>
        <p:spPr>
          <a:xfrm>
            <a:off x="440052" y="765773"/>
            <a:ext cx="2624328" cy="1387331"/>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100" dirty="0" err="1">
                <a:latin typeface="Calibri" panose="020F0502020204030204" pitchFamily="34" charset="0"/>
                <a:ea typeface="Calibri" panose="020F0502020204030204" pitchFamily="34" charset="0"/>
                <a:cs typeface="Calibri" panose="020F0502020204030204" pitchFamily="34" charset="0"/>
              </a:rPr>
              <a:t>multibranch_cnn</a:t>
            </a:r>
            <a:r>
              <a:rPr lang="en-US" sz="1100" dirty="0">
                <a:latin typeface="Calibri" panose="020F0502020204030204" pitchFamily="34" charset="0"/>
                <a:ea typeface="Calibri" panose="020F0502020204030204" pitchFamily="34" charset="0"/>
                <a:cs typeface="Calibri" panose="020F0502020204030204" pitchFamily="34" charset="0"/>
              </a:rPr>
              <a:t> (2,7 MB)</a:t>
            </a:r>
          </a:p>
          <a:p>
            <a:pPr>
              <a:lnSpc>
                <a:spcPct val="90000"/>
              </a:lnSpc>
            </a:pP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Accuracy : 0.775</a:t>
            </a:r>
          </a:p>
          <a:p>
            <a:pPr>
              <a:lnSpc>
                <a:spcPct val="90000"/>
              </a:lnSpc>
            </a:pPr>
            <a:r>
              <a:rPr lang="en-US" sz="1100" b="0" dirty="0">
                <a:latin typeface="Calibri" panose="020F0502020204030204" pitchFamily="34" charset="0"/>
                <a:ea typeface="Calibri" panose="020F0502020204030204" pitchFamily="34" charset="0"/>
                <a:cs typeface="Calibri" panose="020F0502020204030204" pitchFamily="34" charset="0"/>
              </a:rPr>
              <a:t>F1 Score : 0.776</a:t>
            </a:r>
          </a:p>
          <a:p>
            <a:pPr>
              <a:lnSpc>
                <a:spcPct val="90000"/>
              </a:lnSpc>
            </a:pPr>
            <a:r>
              <a:rPr lang="en-US" sz="1100" b="0" dirty="0">
                <a:latin typeface="Calibri" panose="020F0502020204030204" pitchFamily="34" charset="0"/>
                <a:ea typeface="Calibri" panose="020F0502020204030204" pitchFamily="34" charset="0"/>
                <a:cs typeface="Calibri" panose="020F0502020204030204" pitchFamily="34" charset="0"/>
              </a:rPr>
              <a:t>Precision: 0.780</a:t>
            </a:r>
          </a:p>
          <a:p>
            <a:pPr>
              <a:lnSpc>
                <a:spcPct val="90000"/>
              </a:lnSpc>
            </a:pPr>
            <a:r>
              <a:rPr lang="en-US" sz="1100" b="0" dirty="0">
                <a:latin typeface="Calibri" panose="020F0502020204030204" pitchFamily="34" charset="0"/>
                <a:ea typeface="Calibri" panose="020F0502020204030204" pitchFamily="34" charset="0"/>
                <a:cs typeface="Calibri" panose="020F0502020204030204" pitchFamily="34" charset="0"/>
              </a:rPr>
              <a:t>Recall   : 0.775</a:t>
            </a:r>
            <a:br>
              <a:rPr lang="en-US" sz="1700" dirty="0"/>
            </a:br>
            <a:br>
              <a:rPr lang="en-US" sz="1700" dirty="0"/>
            </a:br>
            <a:r>
              <a:rPr lang="en-US" sz="900" b="0" dirty="0">
                <a:latin typeface="Consolas" panose="020B0609020204030204" pitchFamily="49" charset="0"/>
              </a:rPr>
              <a:t>epochs = 30 </a:t>
            </a:r>
            <a:br>
              <a:rPr lang="en-US" sz="900" b="0" dirty="0">
                <a:latin typeface="Consolas" panose="020B0609020204030204" pitchFamily="49" charset="0"/>
              </a:rPr>
            </a:br>
            <a:r>
              <a:rPr lang="en-US" sz="900" b="0" dirty="0" err="1">
                <a:latin typeface="Consolas" panose="020B0609020204030204" pitchFamily="49" charset="0"/>
              </a:rPr>
              <a:t>lr</a:t>
            </a:r>
            <a:r>
              <a:rPr lang="en-US" sz="900" b="0" dirty="0">
                <a:latin typeface="Consolas" panose="020B0609020204030204" pitchFamily="49" charset="0"/>
              </a:rPr>
              <a:t> = 1e-</a:t>
            </a:r>
            <a:r>
              <a:rPr lang="el-GR" sz="900" b="0" dirty="0">
                <a:latin typeface="Consolas" panose="020B0609020204030204" pitchFamily="49" charset="0"/>
              </a:rPr>
              <a:t>4</a:t>
            </a:r>
            <a:br>
              <a:rPr lang="en-US" sz="900" b="0" dirty="0">
                <a:latin typeface="Consolas" panose="020B0609020204030204" pitchFamily="49" charset="0"/>
              </a:rPr>
            </a:br>
            <a:br>
              <a:rPr lang="en-US" sz="900" b="0" dirty="0">
                <a:latin typeface="Consolas" panose="020B0609020204030204" pitchFamily="49" charset="0"/>
              </a:rPr>
            </a:br>
            <a:endParaRPr lang="el-GR" sz="900" dirty="0"/>
          </a:p>
        </p:txBody>
      </p:sp>
      <p:pic>
        <p:nvPicPr>
          <p:cNvPr id="7" name="Picture 6" descr="A screenshot of a computer&#10;&#10;Description automatically generated">
            <a:extLst>
              <a:ext uri="{FF2B5EF4-FFF2-40B4-BE49-F238E27FC236}">
                <a16:creationId xmlns:a16="http://schemas.microsoft.com/office/drawing/2014/main" id="{9C6DB93B-A749-0A92-BB34-E39B24781F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54440"/>
            <a:ext cx="12192000" cy="2325162"/>
          </a:xfrm>
          <a:prstGeom prst="rect">
            <a:avLst/>
          </a:prstGeom>
        </p:spPr>
      </p:pic>
      <p:sp>
        <p:nvSpPr>
          <p:cNvPr id="8" name="Footer Placeholder 7">
            <a:extLst>
              <a:ext uri="{FF2B5EF4-FFF2-40B4-BE49-F238E27FC236}">
                <a16:creationId xmlns:a16="http://schemas.microsoft.com/office/drawing/2014/main" id="{ACEE205D-FA77-8B33-0F5E-4BDFEB0E9EE8}"/>
              </a:ext>
            </a:extLst>
          </p:cNvPr>
          <p:cNvSpPr>
            <a:spLocks noGrp="1"/>
          </p:cNvSpPr>
          <p:nvPr>
            <p:ph type="ftr" sz="quarter" idx="11"/>
          </p:nvPr>
        </p:nvSpPr>
        <p:spPr/>
        <p:txBody>
          <a:bodyPr/>
          <a:lstStyle/>
          <a:p>
            <a:r>
              <a:rPr lang="en-US"/>
              <a:t>MSc Artificial Intelligence &amp; Deep Learning</a:t>
            </a:r>
          </a:p>
        </p:txBody>
      </p:sp>
      <p:sp>
        <p:nvSpPr>
          <p:cNvPr id="11" name="Slide Number Placeholder 10">
            <a:extLst>
              <a:ext uri="{FF2B5EF4-FFF2-40B4-BE49-F238E27FC236}">
                <a16:creationId xmlns:a16="http://schemas.microsoft.com/office/drawing/2014/main" id="{689353DD-6054-766A-F6F8-0B5073F80D62}"/>
              </a:ext>
            </a:extLst>
          </p:cNvPr>
          <p:cNvSpPr>
            <a:spLocks noGrp="1"/>
          </p:cNvSpPr>
          <p:nvPr>
            <p:ph type="sldNum" sz="quarter" idx="12"/>
          </p:nvPr>
        </p:nvSpPr>
        <p:spPr/>
        <p:txBody>
          <a:bodyPr/>
          <a:lstStyle/>
          <a:p>
            <a:fld id="{148CC95F-0247-41B6-91CF-DC97C76A7088}" type="slidenum">
              <a:rPr lang="en-US" smtClean="0"/>
              <a:t>6</a:t>
            </a:fld>
            <a:endParaRPr lang="en-US"/>
          </a:p>
        </p:txBody>
      </p:sp>
      <p:pic>
        <p:nvPicPr>
          <p:cNvPr id="3078" name="Picture 6">
            <a:extLst>
              <a:ext uri="{FF2B5EF4-FFF2-40B4-BE49-F238E27FC236}">
                <a16:creationId xmlns:a16="http://schemas.microsoft.com/office/drawing/2014/main" id="{93A5B4C0-49EF-61DC-33DD-8AEF723235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5307" y="765772"/>
            <a:ext cx="2660946" cy="205906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DEC45161-38DE-A81C-0BAF-1BF718F945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8730" y="765772"/>
            <a:ext cx="5657850" cy="2333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075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521209" y="755975"/>
            <a:ext cx="1783842" cy="1530026"/>
          </a:xfrm>
        </p:spPr>
        <p:txBody>
          <a:bodyPr vert="horz" lIns="91440" tIns="45720" rIns="91440" bIns="45720" rtlCol="0" anchor="t">
            <a:normAutofit fontScale="90000"/>
          </a:bodyPr>
          <a:lstStyle/>
          <a:p>
            <a:pPr>
              <a:lnSpc>
                <a:spcPct val="90000"/>
              </a:lnSpc>
            </a:pPr>
            <a:r>
              <a:rPr lang="en-US" sz="1100" b="1" kern="1200" dirty="0" err="1">
                <a:solidFill>
                  <a:schemeClr val="tx1"/>
                </a:solidFill>
                <a:latin typeface="Calibri" panose="020F0502020204030204" pitchFamily="34" charset="0"/>
                <a:ea typeface="Calibri" panose="020F0502020204030204" pitchFamily="34" charset="0"/>
                <a:cs typeface="Calibri" panose="020F0502020204030204" pitchFamily="34" charset="0"/>
              </a:rPr>
              <a:t>multiscale_cnn</a:t>
            </a:r>
            <a:r>
              <a:rPr lang="en-US"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t> (3,2 MB)</a:t>
            </a:r>
            <a:br>
              <a:rPr lang="en-US"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1100" b="1"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Accuracy : 0.837</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F1 Score : 0.836</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Precision: 0.837</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t>Recall   : 0.837</a:t>
            </a:r>
            <a:br>
              <a:rPr lang="en-US" sz="1100" b="0" kern="1200" dirty="0">
                <a:solidFill>
                  <a:schemeClr val="tx1"/>
                </a:solidFill>
                <a:latin typeface="Calibri" panose="020F0502020204030204" pitchFamily="34" charset="0"/>
                <a:ea typeface="Calibri" panose="020F0502020204030204" pitchFamily="34" charset="0"/>
                <a:cs typeface="Calibri" panose="020F0502020204030204" pitchFamily="34" charset="0"/>
              </a:rPr>
            </a:br>
            <a:br>
              <a:rPr lang="en-US" sz="1100" b="0" kern="1200" dirty="0">
                <a:solidFill>
                  <a:schemeClr val="tx1"/>
                </a:solidFill>
                <a:latin typeface="Consolas" panose="020B0609020204030204" pitchFamily="49" charset="0"/>
              </a:rPr>
            </a:br>
            <a:r>
              <a:rPr lang="en-US" sz="900" b="0" kern="1200" dirty="0">
                <a:solidFill>
                  <a:schemeClr val="tx1"/>
                </a:solidFill>
                <a:latin typeface="Consolas" panose="020B0609020204030204" pitchFamily="49" charset="0"/>
              </a:rPr>
              <a:t>epochs = 20</a:t>
            </a:r>
            <a:br>
              <a:rPr lang="en-US" sz="900" b="0" kern="1200" dirty="0">
                <a:solidFill>
                  <a:schemeClr val="tx1"/>
                </a:solidFill>
                <a:latin typeface="Consolas" panose="020B0609020204030204" pitchFamily="49" charset="0"/>
              </a:rPr>
            </a:br>
            <a:r>
              <a:rPr lang="en-US" sz="900" b="0" kern="1200" dirty="0" err="1">
                <a:solidFill>
                  <a:schemeClr val="tx1"/>
                </a:solidFill>
                <a:latin typeface="Consolas" panose="020B0609020204030204" pitchFamily="49" charset="0"/>
              </a:rPr>
              <a:t>lr</a:t>
            </a:r>
            <a:r>
              <a:rPr lang="en-US" sz="900" b="0" kern="1200" dirty="0">
                <a:solidFill>
                  <a:schemeClr val="tx1"/>
                </a:solidFill>
                <a:latin typeface="Consolas" panose="020B0609020204030204" pitchFamily="49" charset="0"/>
              </a:rPr>
              <a:t> = 1e-4</a:t>
            </a:r>
            <a:br>
              <a:rPr lang="en-US" sz="900" b="0" kern="1200" dirty="0">
                <a:solidFill>
                  <a:schemeClr val="tx1"/>
                </a:solidFill>
                <a:latin typeface="Consolas" panose="020B0609020204030204" pitchFamily="49" charset="0"/>
              </a:rPr>
            </a:br>
            <a:br>
              <a:rPr lang="en-US" sz="1100" b="1" kern="1200" dirty="0">
                <a:solidFill>
                  <a:schemeClr val="tx1"/>
                </a:solidFill>
                <a:latin typeface="+mj-lt"/>
                <a:ea typeface="+mj-ea"/>
                <a:cs typeface="+mj-cs"/>
              </a:rPr>
            </a:br>
            <a:endParaRPr lang="en-US" sz="1100" b="1" kern="1200" dirty="0">
              <a:solidFill>
                <a:schemeClr val="tx1"/>
              </a:solidFill>
              <a:latin typeface="+mj-lt"/>
              <a:ea typeface="+mj-ea"/>
              <a:cs typeface="+mj-cs"/>
            </a:endParaRPr>
          </a:p>
        </p:txBody>
      </p:sp>
      <p:sp>
        <p:nvSpPr>
          <p:cNvPr id="5" name="Footer Placeholder 4">
            <a:extLst>
              <a:ext uri="{FF2B5EF4-FFF2-40B4-BE49-F238E27FC236}">
                <a16:creationId xmlns:a16="http://schemas.microsoft.com/office/drawing/2014/main" id="{6DDDAAEC-57C1-0B35-BD9D-663A9E9FDBE4}"/>
              </a:ext>
            </a:extLst>
          </p:cNvPr>
          <p:cNvSpPr>
            <a:spLocks noGrp="1"/>
          </p:cNvSpPr>
          <p:nvPr>
            <p:ph type="ftr" sz="quarter" idx="11"/>
          </p:nvPr>
        </p:nvSpPr>
        <p:spPr/>
        <p:txBody>
          <a:bodyPr/>
          <a:lstStyle/>
          <a:p>
            <a:r>
              <a:rPr lang="en-US"/>
              <a:t>MSc Artificial Intelligence &amp; Deep Learning</a:t>
            </a:r>
          </a:p>
        </p:txBody>
      </p:sp>
      <p:sp>
        <p:nvSpPr>
          <p:cNvPr id="7" name="Slide Number Placeholder 6">
            <a:extLst>
              <a:ext uri="{FF2B5EF4-FFF2-40B4-BE49-F238E27FC236}">
                <a16:creationId xmlns:a16="http://schemas.microsoft.com/office/drawing/2014/main" id="{E5B28DD8-50A3-17D3-8EAD-A809EAC37571}"/>
              </a:ext>
            </a:extLst>
          </p:cNvPr>
          <p:cNvSpPr>
            <a:spLocks noGrp="1"/>
          </p:cNvSpPr>
          <p:nvPr>
            <p:ph type="sldNum" sz="quarter" idx="12"/>
          </p:nvPr>
        </p:nvSpPr>
        <p:spPr/>
        <p:txBody>
          <a:bodyPr/>
          <a:lstStyle/>
          <a:p>
            <a:fld id="{148CC95F-0247-41B6-91CF-DC97C76A7088}" type="slidenum">
              <a:rPr lang="en-US" smtClean="0"/>
              <a:t>7</a:t>
            </a:fld>
            <a:endParaRPr lang="en-US"/>
          </a:p>
        </p:txBody>
      </p:sp>
      <p:pic>
        <p:nvPicPr>
          <p:cNvPr id="4098" name="Picture 2">
            <a:extLst>
              <a:ext uri="{FF2B5EF4-FFF2-40B4-BE49-F238E27FC236}">
                <a16:creationId xmlns:a16="http://schemas.microsoft.com/office/drawing/2014/main" id="{3AC2EA1A-AE2E-0AA4-F0E0-EB6B03DC77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7601" y="731664"/>
            <a:ext cx="3071655" cy="237687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CBE47577-27C3-A38A-AD0C-7D83938F7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0832" y="736363"/>
            <a:ext cx="6239959" cy="25715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849C601-7BF3-904E-348C-B35774F08B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842949"/>
            <a:ext cx="12192000" cy="1896634"/>
          </a:xfrm>
          <a:prstGeom prst="rect">
            <a:avLst/>
          </a:prstGeom>
        </p:spPr>
      </p:pic>
    </p:spTree>
    <p:extLst>
      <p:ext uri="{BB962C8B-B14F-4D97-AF65-F5344CB8AC3E}">
        <p14:creationId xmlns:p14="http://schemas.microsoft.com/office/powerpoint/2010/main" val="2240863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A7F3B-E943-CB57-F823-C8B96DBA7569}"/>
              </a:ext>
            </a:extLst>
          </p:cNvPr>
          <p:cNvSpPr>
            <a:spLocks noGrp="1"/>
          </p:cNvSpPr>
          <p:nvPr>
            <p:ph type="title"/>
          </p:nvPr>
        </p:nvSpPr>
        <p:spPr/>
        <p:txBody>
          <a:bodyPr>
            <a:normAutofit/>
          </a:bodyPr>
          <a:lstStyle/>
          <a:p>
            <a:r>
              <a:rPr lang="en-US" sz="2400" dirty="0"/>
              <a:t>Transfer Learning Models</a:t>
            </a:r>
            <a:endParaRPr lang="el-GR" sz="2400" dirty="0"/>
          </a:p>
        </p:txBody>
      </p:sp>
      <p:sp>
        <p:nvSpPr>
          <p:cNvPr id="3" name="Content Placeholder 2">
            <a:extLst>
              <a:ext uri="{FF2B5EF4-FFF2-40B4-BE49-F238E27FC236}">
                <a16:creationId xmlns:a16="http://schemas.microsoft.com/office/drawing/2014/main" id="{6ADDC5FB-70BC-D351-2A19-2E696C6F40E9}"/>
              </a:ext>
            </a:extLst>
          </p:cNvPr>
          <p:cNvSpPr>
            <a:spLocks noGrp="1"/>
          </p:cNvSpPr>
          <p:nvPr>
            <p:ph idx="1"/>
          </p:nvPr>
        </p:nvSpPr>
        <p:spPr/>
        <p:txBody>
          <a:bodyPr/>
          <a:lstStyle/>
          <a:p>
            <a:pPr marL="0" indent="0">
              <a:buNone/>
            </a:pPr>
            <a:r>
              <a:rPr lang="en-US" dirty="0"/>
              <a:t>The below models are selected</a:t>
            </a:r>
          </a:p>
          <a:p>
            <a:r>
              <a:rPr lang="en-US" dirty="0"/>
              <a:t>VGG16</a:t>
            </a:r>
          </a:p>
          <a:p>
            <a:r>
              <a:rPr lang="en-US" dirty="0"/>
              <a:t>ResNet-50</a:t>
            </a:r>
          </a:p>
          <a:p>
            <a:r>
              <a:rPr lang="en-US" dirty="0"/>
              <a:t>InceptionV3</a:t>
            </a:r>
          </a:p>
        </p:txBody>
      </p:sp>
      <p:sp>
        <p:nvSpPr>
          <p:cNvPr id="4" name="Footer Placeholder 3">
            <a:extLst>
              <a:ext uri="{FF2B5EF4-FFF2-40B4-BE49-F238E27FC236}">
                <a16:creationId xmlns:a16="http://schemas.microsoft.com/office/drawing/2014/main" id="{18B8147F-4B76-AAB5-8CB9-7B71E5AA79CB}"/>
              </a:ext>
            </a:extLst>
          </p:cNvPr>
          <p:cNvSpPr>
            <a:spLocks noGrp="1"/>
          </p:cNvSpPr>
          <p:nvPr>
            <p:ph type="ftr" sz="quarter" idx="11"/>
          </p:nvPr>
        </p:nvSpPr>
        <p:spPr/>
        <p:txBody>
          <a:bodyPr/>
          <a:lstStyle/>
          <a:p>
            <a:r>
              <a:rPr lang="en-US"/>
              <a:t>MSc Artificial Intelligence &amp; Deep Learning</a:t>
            </a:r>
          </a:p>
        </p:txBody>
      </p:sp>
      <p:sp>
        <p:nvSpPr>
          <p:cNvPr id="5" name="Slide Number Placeholder 4">
            <a:extLst>
              <a:ext uri="{FF2B5EF4-FFF2-40B4-BE49-F238E27FC236}">
                <a16:creationId xmlns:a16="http://schemas.microsoft.com/office/drawing/2014/main" id="{CD518D7C-A089-2CDB-F642-CB55A94816EE}"/>
              </a:ext>
            </a:extLst>
          </p:cNvPr>
          <p:cNvSpPr>
            <a:spLocks noGrp="1"/>
          </p:cNvSpPr>
          <p:nvPr>
            <p:ph type="sldNum" sz="quarter" idx="12"/>
          </p:nvPr>
        </p:nvSpPr>
        <p:spPr/>
        <p:txBody>
          <a:bodyPr/>
          <a:lstStyle/>
          <a:p>
            <a:fld id="{148CC95F-0247-41B6-91CF-DC97C76A7088}" type="slidenum">
              <a:rPr lang="en-US" smtClean="0"/>
              <a:t>8</a:t>
            </a:fld>
            <a:endParaRPr lang="en-US"/>
          </a:p>
        </p:txBody>
      </p:sp>
    </p:spTree>
    <p:extLst>
      <p:ext uri="{BB962C8B-B14F-4D97-AF65-F5344CB8AC3E}">
        <p14:creationId xmlns:p14="http://schemas.microsoft.com/office/powerpoint/2010/main" val="2444806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521208" y="829806"/>
            <a:ext cx="3532046" cy="1552909"/>
          </a:xfrm>
        </p:spPr>
        <p:txBody>
          <a:bodyPr anchor="t">
            <a:normAutofit/>
          </a:bodyPr>
          <a:lstStyle/>
          <a:p>
            <a:pPr>
              <a:lnSpc>
                <a:spcPct val="90000"/>
              </a:lnSpc>
            </a:pPr>
            <a:r>
              <a:rPr lang="en-US" sz="1050" b="1" dirty="0"/>
              <a:t>VGG16 (57 MB)</a:t>
            </a:r>
            <a:br>
              <a:rPr lang="en-US" sz="1050" b="1" dirty="0"/>
            </a:br>
            <a:br>
              <a:rPr lang="en-US" sz="1050" dirty="0"/>
            </a:br>
            <a:r>
              <a:rPr lang="en-US" sz="1050" b="0" dirty="0"/>
              <a:t>Accuracy : 0.906</a:t>
            </a:r>
            <a:br>
              <a:rPr lang="en-US" sz="1050" b="0" dirty="0"/>
            </a:br>
            <a:r>
              <a:rPr lang="en-US" sz="1050" b="0" dirty="0"/>
              <a:t>F1 Score : 0.906</a:t>
            </a:r>
            <a:br>
              <a:rPr lang="en-US" sz="1050" b="0" dirty="0"/>
            </a:br>
            <a:r>
              <a:rPr lang="en-US" sz="1050" b="0" dirty="0"/>
              <a:t>Precision: 0.907</a:t>
            </a:r>
            <a:br>
              <a:rPr lang="en-US" sz="1050" b="0" dirty="0"/>
            </a:br>
            <a:r>
              <a:rPr lang="en-US" sz="1050" b="0" dirty="0"/>
              <a:t>Recall   : 0.906</a:t>
            </a:r>
            <a:br>
              <a:rPr lang="en-US" sz="1100" dirty="0"/>
            </a:br>
            <a:br>
              <a:rPr lang="en-US" sz="1100" dirty="0"/>
            </a:br>
            <a:r>
              <a:rPr lang="en-US" sz="900" b="0" dirty="0">
                <a:latin typeface="Consolas" panose="020B0609020204030204" pitchFamily="49" charset="0"/>
              </a:rPr>
              <a:t>epochs = 20</a:t>
            </a:r>
            <a:br>
              <a:rPr lang="en-US" sz="900" b="0" dirty="0">
                <a:latin typeface="Consolas" panose="020B0609020204030204" pitchFamily="49" charset="0"/>
              </a:rPr>
            </a:br>
            <a:r>
              <a:rPr lang="en-US" sz="900" b="0" dirty="0" err="1">
                <a:latin typeface="Consolas" panose="020B0609020204030204" pitchFamily="49" charset="0"/>
              </a:rPr>
              <a:t>lr</a:t>
            </a:r>
            <a:r>
              <a:rPr lang="en-US" sz="900" b="0" dirty="0">
                <a:latin typeface="Consolas" panose="020B0609020204030204" pitchFamily="49" charset="0"/>
              </a:rPr>
              <a:t> = 1e-4</a:t>
            </a:r>
            <a:endParaRPr lang="el-GR" sz="900" b="1" dirty="0"/>
          </a:p>
        </p:txBody>
      </p:sp>
      <p:sp>
        <p:nvSpPr>
          <p:cNvPr id="3" name="Footer Placeholder 2">
            <a:extLst>
              <a:ext uri="{FF2B5EF4-FFF2-40B4-BE49-F238E27FC236}">
                <a16:creationId xmlns:a16="http://schemas.microsoft.com/office/drawing/2014/main" id="{72A20B03-D5C3-4E06-7568-39DA5BFC746C}"/>
              </a:ext>
            </a:extLst>
          </p:cNvPr>
          <p:cNvSpPr>
            <a:spLocks noGrp="1"/>
          </p:cNvSpPr>
          <p:nvPr>
            <p:ph type="ftr" sz="quarter" idx="11"/>
          </p:nvPr>
        </p:nvSpPr>
        <p:spPr/>
        <p:txBody>
          <a:bodyPr/>
          <a:lstStyle/>
          <a:p>
            <a:r>
              <a:rPr lang="en-US"/>
              <a:t>MSc Artificial Intelligence &amp; Deep Learning</a:t>
            </a:r>
          </a:p>
        </p:txBody>
      </p:sp>
      <p:sp>
        <p:nvSpPr>
          <p:cNvPr id="4" name="Slide Number Placeholder 3">
            <a:extLst>
              <a:ext uri="{FF2B5EF4-FFF2-40B4-BE49-F238E27FC236}">
                <a16:creationId xmlns:a16="http://schemas.microsoft.com/office/drawing/2014/main" id="{71E6DF37-B79B-F2C8-398A-75A6556C5ABA}"/>
              </a:ext>
            </a:extLst>
          </p:cNvPr>
          <p:cNvSpPr>
            <a:spLocks noGrp="1"/>
          </p:cNvSpPr>
          <p:nvPr>
            <p:ph type="sldNum" sz="quarter" idx="12"/>
          </p:nvPr>
        </p:nvSpPr>
        <p:spPr/>
        <p:txBody>
          <a:bodyPr/>
          <a:lstStyle/>
          <a:p>
            <a:fld id="{148CC95F-0247-41B6-91CF-DC97C76A7088}" type="slidenum">
              <a:rPr lang="en-US" smtClean="0"/>
              <a:t>9</a:t>
            </a:fld>
            <a:endParaRPr lang="en-US"/>
          </a:p>
        </p:txBody>
      </p:sp>
      <p:pic>
        <p:nvPicPr>
          <p:cNvPr id="5126" name="Picture 6">
            <a:extLst>
              <a:ext uri="{FF2B5EF4-FFF2-40B4-BE49-F238E27FC236}">
                <a16:creationId xmlns:a16="http://schemas.microsoft.com/office/drawing/2014/main" id="{EC66F71E-85AB-F69A-4625-A536C6FB9E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08" y="2456383"/>
            <a:ext cx="2309915" cy="1787434"/>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a:extLst>
              <a:ext uri="{FF2B5EF4-FFF2-40B4-BE49-F238E27FC236}">
                <a16:creationId xmlns:a16="http://schemas.microsoft.com/office/drawing/2014/main" id="{3330CA9B-8532-9447-04A8-39A4CFB2AA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208" y="4475286"/>
            <a:ext cx="3242886" cy="133642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73D162EA-5CCA-D6B3-FC19-AAB56D79BA15}"/>
              </a:ext>
            </a:extLst>
          </p:cNvPr>
          <p:cNvSpPr txBox="1">
            <a:spLocks/>
          </p:cNvSpPr>
          <p:nvPr/>
        </p:nvSpPr>
        <p:spPr>
          <a:xfrm>
            <a:off x="4247737" y="829806"/>
            <a:ext cx="1778860" cy="1613409"/>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100" dirty="0"/>
              <a:t>ResNet-50 (96 MB)</a:t>
            </a:r>
            <a:br>
              <a:rPr lang="en-US" sz="1100" dirty="0"/>
            </a:br>
            <a:br>
              <a:rPr lang="en-US" sz="1100" dirty="0"/>
            </a:br>
            <a:r>
              <a:rPr lang="en-US" sz="1100" b="0" dirty="0"/>
              <a:t>Accuracy : 0.745</a:t>
            </a:r>
            <a:br>
              <a:rPr lang="en-US" sz="1100" b="0" dirty="0"/>
            </a:br>
            <a:r>
              <a:rPr lang="en-US" sz="1100" b="0" dirty="0"/>
              <a:t>F1 Score : 0.745</a:t>
            </a:r>
            <a:br>
              <a:rPr lang="en-US" sz="1100" b="0" dirty="0"/>
            </a:br>
            <a:r>
              <a:rPr lang="en-US" sz="1100" b="0" dirty="0"/>
              <a:t>Precision: 0.745</a:t>
            </a:r>
            <a:br>
              <a:rPr lang="en-US" sz="1100" b="0" dirty="0"/>
            </a:br>
            <a:r>
              <a:rPr lang="en-US" sz="1100" b="0" dirty="0"/>
              <a:t>Recall   : 0.745</a:t>
            </a:r>
            <a:br>
              <a:rPr lang="en-US" sz="1200" dirty="0"/>
            </a:br>
            <a:br>
              <a:rPr lang="en-US" sz="1200" dirty="0"/>
            </a:br>
            <a:r>
              <a:rPr lang="en-US" sz="1000" b="0" dirty="0">
                <a:latin typeface="Consolas" panose="020B0609020204030204" pitchFamily="49" charset="0"/>
              </a:rPr>
              <a:t>epochs = 20</a:t>
            </a:r>
            <a:br>
              <a:rPr lang="en-US" sz="1000" b="0" dirty="0">
                <a:latin typeface="Consolas" panose="020B0609020204030204" pitchFamily="49" charset="0"/>
              </a:rPr>
            </a:br>
            <a:r>
              <a:rPr lang="en-US" sz="1000" b="0" dirty="0" err="1">
                <a:latin typeface="Consolas" panose="020B0609020204030204" pitchFamily="49" charset="0"/>
              </a:rPr>
              <a:t>lr</a:t>
            </a:r>
            <a:r>
              <a:rPr lang="en-US" sz="1000" b="0" dirty="0">
                <a:latin typeface="Consolas" panose="020B0609020204030204" pitchFamily="49" charset="0"/>
              </a:rPr>
              <a:t> = 1e-4</a:t>
            </a:r>
            <a:endParaRPr lang="el-GR" sz="1000" dirty="0"/>
          </a:p>
        </p:txBody>
      </p:sp>
      <p:pic>
        <p:nvPicPr>
          <p:cNvPr id="6150" name="Picture 6">
            <a:extLst>
              <a:ext uri="{FF2B5EF4-FFF2-40B4-BE49-F238E27FC236}">
                <a16:creationId xmlns:a16="http://schemas.microsoft.com/office/drawing/2014/main" id="{CE932686-8FFF-EA2D-F7DC-7632E21FC4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7737" y="2456383"/>
            <a:ext cx="2332228" cy="1804701"/>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a:extLst>
              <a:ext uri="{FF2B5EF4-FFF2-40B4-BE49-F238E27FC236}">
                <a16:creationId xmlns:a16="http://schemas.microsoft.com/office/drawing/2014/main" id="{5ED4EB2B-9540-E0DA-E5F1-7946A24A5E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7737" y="4475287"/>
            <a:ext cx="3242886" cy="133642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73D162EA-5CCA-D6B3-FC19-AAB56D79BA15}"/>
              </a:ext>
            </a:extLst>
          </p:cNvPr>
          <p:cNvSpPr txBox="1">
            <a:spLocks/>
          </p:cNvSpPr>
          <p:nvPr/>
        </p:nvSpPr>
        <p:spPr>
          <a:xfrm>
            <a:off x="8004518" y="859512"/>
            <a:ext cx="2184670" cy="1752714"/>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100" dirty="0"/>
              <a:t>InceptionV3 (86 MB)</a:t>
            </a:r>
            <a:br>
              <a:rPr lang="en-US" sz="1100" dirty="0"/>
            </a:br>
            <a:br>
              <a:rPr lang="en-US" sz="1100" dirty="0"/>
            </a:br>
            <a:r>
              <a:rPr lang="en-US" sz="1100" b="0" dirty="0"/>
              <a:t>Accuracy : 0.968</a:t>
            </a:r>
            <a:br>
              <a:rPr lang="en-US" sz="1100" b="0" dirty="0"/>
            </a:br>
            <a:r>
              <a:rPr lang="en-US" sz="1100" b="0" dirty="0"/>
              <a:t>F1 Score : 0.968</a:t>
            </a:r>
            <a:br>
              <a:rPr lang="en-US" sz="1100" b="0" dirty="0"/>
            </a:br>
            <a:r>
              <a:rPr lang="en-US" sz="1100" b="0" dirty="0"/>
              <a:t>Precision: 0.968 </a:t>
            </a:r>
            <a:br>
              <a:rPr lang="en-US" sz="1100" b="0" dirty="0"/>
            </a:br>
            <a:r>
              <a:rPr lang="en-US" sz="1100" b="0" dirty="0"/>
              <a:t>Recall : 0.968</a:t>
            </a:r>
            <a:br>
              <a:rPr lang="en-US" sz="1200" dirty="0"/>
            </a:br>
            <a:br>
              <a:rPr lang="en-US" sz="1200" dirty="0"/>
            </a:br>
            <a:r>
              <a:rPr lang="en-US" sz="900" b="0" dirty="0">
                <a:latin typeface="Consolas" panose="020B0609020204030204" pitchFamily="49" charset="0"/>
              </a:rPr>
              <a:t>epochs = 20</a:t>
            </a:r>
            <a:br>
              <a:rPr lang="en-US" sz="900" b="0" dirty="0">
                <a:latin typeface="Consolas" panose="020B0609020204030204" pitchFamily="49" charset="0"/>
              </a:rPr>
            </a:br>
            <a:r>
              <a:rPr lang="en-US" sz="900" b="0" dirty="0" err="1">
                <a:latin typeface="Consolas" panose="020B0609020204030204" pitchFamily="49" charset="0"/>
              </a:rPr>
              <a:t>lr</a:t>
            </a:r>
            <a:r>
              <a:rPr lang="en-US" sz="900" b="0" dirty="0">
                <a:latin typeface="Consolas" panose="020B0609020204030204" pitchFamily="49" charset="0"/>
              </a:rPr>
              <a:t> = 1e-4</a:t>
            </a:r>
            <a:endParaRPr lang="el-GR" sz="900" dirty="0"/>
          </a:p>
        </p:txBody>
      </p:sp>
      <p:pic>
        <p:nvPicPr>
          <p:cNvPr id="7170" name="Picture 2">
            <a:extLst>
              <a:ext uri="{FF2B5EF4-FFF2-40B4-BE49-F238E27FC236}">
                <a16:creationId xmlns:a16="http://schemas.microsoft.com/office/drawing/2014/main" id="{83FA9539-828F-F2E0-BB4F-1AA760374B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4518" y="2535283"/>
            <a:ext cx="2309914" cy="178743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CD40715A-11B3-357F-AE54-8C6F72F93EA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04518" y="4475286"/>
            <a:ext cx="3242886" cy="1336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557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526DA-D099-6E36-EBA9-8F581C1032B3}"/>
              </a:ext>
            </a:extLst>
          </p:cNvPr>
          <p:cNvSpPr>
            <a:spLocks noGrp="1"/>
          </p:cNvSpPr>
          <p:nvPr>
            <p:ph type="title"/>
          </p:nvPr>
        </p:nvSpPr>
        <p:spPr>
          <a:xfrm>
            <a:off x="521208" y="978408"/>
            <a:ext cx="11155680" cy="682441"/>
          </a:xfrm>
        </p:spPr>
        <p:txBody>
          <a:bodyPr>
            <a:normAutofit/>
          </a:bodyPr>
          <a:lstStyle/>
          <a:p>
            <a:r>
              <a:rPr lang="en-US" sz="2800" dirty="0"/>
              <a:t>Data Augmentation</a:t>
            </a:r>
            <a:endParaRPr lang="el-GR" sz="2800" dirty="0"/>
          </a:p>
        </p:txBody>
      </p:sp>
      <p:sp>
        <p:nvSpPr>
          <p:cNvPr id="3" name="Content Placeholder 2">
            <a:extLst>
              <a:ext uri="{FF2B5EF4-FFF2-40B4-BE49-F238E27FC236}">
                <a16:creationId xmlns:a16="http://schemas.microsoft.com/office/drawing/2014/main" id="{78FC892C-F715-BD3E-BD44-6DF4DE622017}"/>
              </a:ext>
            </a:extLst>
          </p:cNvPr>
          <p:cNvSpPr>
            <a:spLocks noGrp="1"/>
          </p:cNvSpPr>
          <p:nvPr>
            <p:ph idx="1"/>
          </p:nvPr>
        </p:nvSpPr>
        <p:spPr>
          <a:xfrm>
            <a:off x="518160" y="1794834"/>
            <a:ext cx="11155680" cy="3339873"/>
          </a:xfrm>
        </p:spPr>
        <p:txBody>
          <a:bodyPr>
            <a:normAutofit fontScale="85000" lnSpcReduction="20000"/>
          </a:bodyPr>
          <a:lstStyle/>
          <a:p>
            <a:pPr marL="0" indent="0">
              <a:buNone/>
            </a:pPr>
            <a:r>
              <a:rPr lang="en-US" dirty="0"/>
              <a:t>The following techniques were used, in two different tests:</a:t>
            </a:r>
          </a:p>
          <a:p>
            <a:pPr marL="0" indent="0">
              <a:buNone/>
            </a:pPr>
            <a:endParaRPr lang="en-US" dirty="0"/>
          </a:p>
          <a:p>
            <a:pPr marL="0" indent="0">
              <a:buNone/>
            </a:pPr>
            <a:r>
              <a:rPr lang="en-US" b="1" dirty="0"/>
              <a:t>Configuration A</a:t>
            </a:r>
            <a:endParaRPr lang="en-US" dirty="0"/>
          </a:p>
          <a:p>
            <a:r>
              <a:rPr lang="en-US" dirty="0"/>
              <a:t>Random horizontal flip</a:t>
            </a:r>
          </a:p>
          <a:p>
            <a:r>
              <a:rPr lang="en-US" dirty="0"/>
              <a:t>Random rotation 0.05 radians (~2.8 degrees) </a:t>
            </a:r>
          </a:p>
          <a:p>
            <a:r>
              <a:rPr lang="en-US" dirty="0"/>
              <a:t>Random zoom 0.05 or 10%</a:t>
            </a:r>
          </a:p>
          <a:p>
            <a:pPr marL="0" indent="0">
              <a:buNone/>
            </a:pPr>
            <a:endParaRPr lang="en-US" dirty="0"/>
          </a:p>
          <a:p>
            <a:pPr marL="0" indent="0">
              <a:buNone/>
            </a:pPr>
            <a:r>
              <a:rPr lang="en-US" b="1" dirty="0"/>
              <a:t>Configuration B</a:t>
            </a:r>
          </a:p>
          <a:p>
            <a:r>
              <a:rPr lang="en-US" dirty="0"/>
              <a:t>Random Brightness 0.05</a:t>
            </a:r>
          </a:p>
          <a:p>
            <a:r>
              <a:rPr lang="en-US" dirty="0"/>
              <a:t>Random Contrast 0.05</a:t>
            </a:r>
          </a:p>
          <a:p>
            <a:endParaRPr lang="en-US" dirty="0"/>
          </a:p>
        </p:txBody>
      </p:sp>
      <p:sp>
        <p:nvSpPr>
          <p:cNvPr id="4" name="Footer Placeholder 3">
            <a:extLst>
              <a:ext uri="{FF2B5EF4-FFF2-40B4-BE49-F238E27FC236}">
                <a16:creationId xmlns:a16="http://schemas.microsoft.com/office/drawing/2014/main" id="{A2C9CEB7-CF7D-A0C8-F09F-8B6EE0CC1956}"/>
              </a:ext>
            </a:extLst>
          </p:cNvPr>
          <p:cNvSpPr>
            <a:spLocks noGrp="1"/>
          </p:cNvSpPr>
          <p:nvPr>
            <p:ph type="ftr" sz="quarter" idx="11"/>
          </p:nvPr>
        </p:nvSpPr>
        <p:spPr/>
        <p:txBody>
          <a:bodyPr/>
          <a:lstStyle/>
          <a:p>
            <a:r>
              <a:rPr lang="en-US"/>
              <a:t>MSc Artificial Intelligence &amp; Deep Learning</a:t>
            </a:r>
          </a:p>
        </p:txBody>
      </p:sp>
      <p:sp>
        <p:nvSpPr>
          <p:cNvPr id="6" name="Slide Number Placeholder 5">
            <a:extLst>
              <a:ext uri="{FF2B5EF4-FFF2-40B4-BE49-F238E27FC236}">
                <a16:creationId xmlns:a16="http://schemas.microsoft.com/office/drawing/2014/main" id="{8804D7EA-70DB-111E-26F1-305BF6207AAC}"/>
              </a:ext>
            </a:extLst>
          </p:cNvPr>
          <p:cNvSpPr>
            <a:spLocks noGrp="1"/>
          </p:cNvSpPr>
          <p:nvPr>
            <p:ph type="sldNum" sz="quarter" idx="12"/>
          </p:nvPr>
        </p:nvSpPr>
        <p:spPr/>
        <p:txBody>
          <a:bodyPr/>
          <a:lstStyle/>
          <a:p>
            <a:fld id="{148CC95F-0247-41B6-91CF-DC97C76A7088}" type="slidenum">
              <a:rPr lang="en-US" smtClean="0"/>
              <a:t>10</a:t>
            </a:fld>
            <a:endParaRPr lang="en-US"/>
          </a:p>
        </p:txBody>
      </p:sp>
    </p:spTree>
    <p:extLst>
      <p:ext uri="{BB962C8B-B14F-4D97-AF65-F5344CB8AC3E}">
        <p14:creationId xmlns:p14="http://schemas.microsoft.com/office/powerpoint/2010/main" val="2722919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521208" y="794250"/>
            <a:ext cx="1791168" cy="1974803"/>
          </a:xfrm>
        </p:spPr>
        <p:txBody>
          <a:bodyPr anchor="t">
            <a:normAutofit/>
          </a:bodyPr>
          <a:lstStyle/>
          <a:p>
            <a:pPr>
              <a:lnSpc>
                <a:spcPct val="90000"/>
              </a:lnSpc>
            </a:pPr>
            <a:r>
              <a:rPr lang="en-US" sz="1200" dirty="0"/>
              <a:t>CNN6 Augmented</a:t>
            </a:r>
            <a:br>
              <a:rPr lang="en-US" sz="1200" b="1" dirty="0"/>
            </a:br>
            <a:br>
              <a:rPr lang="en-US" sz="1200" dirty="0"/>
            </a:br>
            <a:r>
              <a:rPr lang="en-US" sz="1200" b="0" dirty="0"/>
              <a:t>Accuracy : 0.937</a:t>
            </a:r>
            <a:br>
              <a:rPr lang="en-US" sz="1200" b="0" dirty="0"/>
            </a:br>
            <a:r>
              <a:rPr lang="en-US" sz="1200" b="0" dirty="0"/>
              <a:t>F1 Score : 0.936</a:t>
            </a:r>
            <a:br>
              <a:rPr lang="en-US" sz="1200" b="0" dirty="0"/>
            </a:br>
            <a:r>
              <a:rPr lang="en-US" sz="1200" b="0" dirty="0"/>
              <a:t>Precision: 0.939</a:t>
            </a:r>
            <a:br>
              <a:rPr lang="en-US" sz="1200" b="0" dirty="0"/>
            </a:br>
            <a:r>
              <a:rPr lang="en-US" sz="1200" b="0" dirty="0"/>
              <a:t>Recall   : 0.937</a:t>
            </a:r>
            <a:br>
              <a:rPr lang="en-US" sz="1400" dirty="0"/>
            </a:br>
            <a:br>
              <a:rPr lang="en-US" sz="1050" dirty="0"/>
            </a:br>
            <a:r>
              <a:rPr lang="en-US" sz="1000" b="0" dirty="0">
                <a:latin typeface="Consolas" panose="020B0609020204030204" pitchFamily="49" charset="0"/>
              </a:rPr>
              <a:t>epochs = 30</a:t>
            </a:r>
            <a:br>
              <a:rPr lang="en-US" sz="1000" b="0" dirty="0">
                <a:latin typeface="Consolas" panose="020B0609020204030204" pitchFamily="49" charset="0"/>
              </a:rPr>
            </a:br>
            <a:r>
              <a:rPr lang="en-US" sz="1000" b="0" dirty="0" err="1">
                <a:latin typeface="Consolas" panose="020B0609020204030204" pitchFamily="49" charset="0"/>
              </a:rPr>
              <a:t>lr</a:t>
            </a:r>
            <a:r>
              <a:rPr lang="en-US" sz="1000" b="0" dirty="0">
                <a:latin typeface="Consolas" panose="020B0609020204030204" pitchFamily="49" charset="0"/>
              </a:rPr>
              <a:t> = 1e-3</a:t>
            </a:r>
            <a:endParaRPr lang="el-GR" sz="1000" b="1" dirty="0"/>
          </a:p>
        </p:txBody>
      </p:sp>
      <p:sp>
        <p:nvSpPr>
          <p:cNvPr id="3" name="Footer Placeholder 2">
            <a:extLst>
              <a:ext uri="{FF2B5EF4-FFF2-40B4-BE49-F238E27FC236}">
                <a16:creationId xmlns:a16="http://schemas.microsoft.com/office/drawing/2014/main" id="{08ABE6FC-4486-FDCB-C82E-7F85F850C802}"/>
              </a:ext>
            </a:extLst>
          </p:cNvPr>
          <p:cNvSpPr>
            <a:spLocks noGrp="1"/>
          </p:cNvSpPr>
          <p:nvPr>
            <p:ph type="ftr" sz="quarter" idx="11"/>
          </p:nvPr>
        </p:nvSpPr>
        <p:spPr/>
        <p:txBody>
          <a:bodyPr/>
          <a:lstStyle/>
          <a:p>
            <a:r>
              <a:rPr lang="en-US"/>
              <a:t>MSc Artificial Intelligence &amp; Deep Learning</a:t>
            </a:r>
          </a:p>
        </p:txBody>
      </p:sp>
      <p:sp>
        <p:nvSpPr>
          <p:cNvPr id="4" name="Slide Number Placeholder 3">
            <a:extLst>
              <a:ext uri="{FF2B5EF4-FFF2-40B4-BE49-F238E27FC236}">
                <a16:creationId xmlns:a16="http://schemas.microsoft.com/office/drawing/2014/main" id="{84524397-1F5A-C47F-F2FB-64636AD01CC4}"/>
              </a:ext>
            </a:extLst>
          </p:cNvPr>
          <p:cNvSpPr>
            <a:spLocks noGrp="1"/>
          </p:cNvSpPr>
          <p:nvPr>
            <p:ph type="sldNum" sz="quarter" idx="12"/>
          </p:nvPr>
        </p:nvSpPr>
        <p:spPr/>
        <p:txBody>
          <a:bodyPr/>
          <a:lstStyle/>
          <a:p>
            <a:fld id="{148CC95F-0247-41B6-91CF-DC97C76A7088}" type="slidenum">
              <a:rPr lang="en-US" smtClean="0"/>
              <a:t>11</a:t>
            </a:fld>
            <a:endParaRPr lang="en-US"/>
          </a:p>
        </p:txBody>
      </p:sp>
      <p:sp>
        <p:nvSpPr>
          <p:cNvPr id="5" name="TextBox 4">
            <a:extLst>
              <a:ext uri="{FF2B5EF4-FFF2-40B4-BE49-F238E27FC236}">
                <a16:creationId xmlns:a16="http://schemas.microsoft.com/office/drawing/2014/main" id="{C7C4A173-1C7C-338D-09D6-306D6A7341B5}"/>
              </a:ext>
            </a:extLst>
          </p:cNvPr>
          <p:cNvSpPr txBox="1"/>
          <p:nvPr/>
        </p:nvSpPr>
        <p:spPr>
          <a:xfrm>
            <a:off x="4809393" y="793742"/>
            <a:ext cx="1387752" cy="307777"/>
          </a:xfrm>
          <a:prstGeom prst="rect">
            <a:avLst/>
          </a:prstGeom>
          <a:noFill/>
        </p:spPr>
        <p:txBody>
          <a:bodyPr wrap="none" rtlCol="0">
            <a:spAutoFit/>
          </a:bodyPr>
          <a:lstStyle/>
          <a:p>
            <a:r>
              <a:rPr lang="en-US" sz="1400" dirty="0"/>
              <a:t>Configuration A</a:t>
            </a:r>
            <a:endParaRPr lang="el-GR" sz="1400" dirty="0"/>
          </a:p>
        </p:txBody>
      </p:sp>
      <p:sp>
        <p:nvSpPr>
          <p:cNvPr id="6" name="TextBox 5">
            <a:extLst>
              <a:ext uri="{FF2B5EF4-FFF2-40B4-BE49-F238E27FC236}">
                <a16:creationId xmlns:a16="http://schemas.microsoft.com/office/drawing/2014/main" id="{E84274E3-0460-486D-5658-1E5FCA9226A4}"/>
              </a:ext>
            </a:extLst>
          </p:cNvPr>
          <p:cNvSpPr txBox="1"/>
          <p:nvPr/>
        </p:nvSpPr>
        <p:spPr>
          <a:xfrm>
            <a:off x="4961793" y="3328855"/>
            <a:ext cx="1390958" cy="307777"/>
          </a:xfrm>
          <a:prstGeom prst="rect">
            <a:avLst/>
          </a:prstGeom>
          <a:noFill/>
        </p:spPr>
        <p:txBody>
          <a:bodyPr wrap="none" rtlCol="0">
            <a:spAutoFit/>
          </a:bodyPr>
          <a:lstStyle/>
          <a:p>
            <a:r>
              <a:rPr lang="en-US" sz="1400" dirty="0"/>
              <a:t>Configuration B</a:t>
            </a:r>
          </a:p>
        </p:txBody>
      </p:sp>
      <p:pic>
        <p:nvPicPr>
          <p:cNvPr id="7" name="Picture 6">
            <a:extLst>
              <a:ext uri="{FF2B5EF4-FFF2-40B4-BE49-F238E27FC236}">
                <a16:creationId xmlns:a16="http://schemas.microsoft.com/office/drawing/2014/main" id="{BC2856EB-95F0-6B18-6CCD-EF222DB3654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21000" y="1163074"/>
            <a:ext cx="2631266" cy="2038765"/>
          </a:xfrm>
          <a:prstGeom prst="rect">
            <a:avLst/>
          </a:prstGeom>
          <a:noFill/>
          <a:ln>
            <a:noFill/>
          </a:ln>
        </p:spPr>
      </p:pic>
      <p:pic>
        <p:nvPicPr>
          <p:cNvPr id="8" name="Picture 7">
            <a:extLst>
              <a:ext uri="{FF2B5EF4-FFF2-40B4-BE49-F238E27FC236}">
                <a16:creationId xmlns:a16="http://schemas.microsoft.com/office/drawing/2014/main" id="{A208B585-71EB-61C0-21B1-CDAEA2CA943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72738" y="1163074"/>
            <a:ext cx="4794149" cy="1974803"/>
          </a:xfrm>
          <a:prstGeom prst="rect">
            <a:avLst/>
          </a:prstGeom>
          <a:noFill/>
          <a:ln>
            <a:noFill/>
          </a:ln>
        </p:spPr>
      </p:pic>
      <p:sp>
        <p:nvSpPr>
          <p:cNvPr id="9" name="Title 1">
            <a:extLst>
              <a:ext uri="{FF2B5EF4-FFF2-40B4-BE49-F238E27FC236}">
                <a16:creationId xmlns:a16="http://schemas.microsoft.com/office/drawing/2014/main" id="{5C2E0486-0E46-552F-BBAF-C33AB7A3267F}"/>
              </a:ext>
            </a:extLst>
          </p:cNvPr>
          <p:cNvSpPr txBox="1">
            <a:spLocks/>
          </p:cNvSpPr>
          <p:nvPr/>
        </p:nvSpPr>
        <p:spPr>
          <a:xfrm>
            <a:off x="521208" y="3904789"/>
            <a:ext cx="1791168" cy="1974803"/>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200" b="0" dirty="0"/>
              <a:t>Accuracy : 0.733</a:t>
            </a:r>
            <a:br>
              <a:rPr lang="en-US" sz="1200" b="0" dirty="0"/>
            </a:br>
            <a:r>
              <a:rPr lang="en-US" sz="1200" b="0" dirty="0"/>
              <a:t>F1 Score : 0.731</a:t>
            </a:r>
            <a:br>
              <a:rPr lang="en-US" sz="1200" b="0" dirty="0"/>
            </a:br>
            <a:r>
              <a:rPr lang="en-US" sz="1200" b="0" dirty="0"/>
              <a:t>Precision: 0.736</a:t>
            </a:r>
            <a:br>
              <a:rPr lang="en-US" sz="1200" b="0" dirty="0"/>
            </a:br>
            <a:r>
              <a:rPr lang="en-US" sz="1200" b="0" dirty="0"/>
              <a:t>Recall   : 0.733</a:t>
            </a:r>
            <a:br>
              <a:rPr lang="en-US" sz="1400" dirty="0"/>
            </a:br>
            <a:endParaRPr lang="el-GR" sz="1000" dirty="0"/>
          </a:p>
        </p:txBody>
      </p:sp>
      <p:pic>
        <p:nvPicPr>
          <p:cNvPr id="10" name="Picture 9">
            <a:extLst>
              <a:ext uri="{FF2B5EF4-FFF2-40B4-BE49-F238E27FC236}">
                <a16:creationId xmlns:a16="http://schemas.microsoft.com/office/drawing/2014/main" id="{0B565B2B-F0A8-C8B8-2789-AA43A84F7AD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79190" y="3904788"/>
            <a:ext cx="2636204" cy="2038765"/>
          </a:xfrm>
          <a:prstGeom prst="rect">
            <a:avLst/>
          </a:prstGeom>
          <a:noFill/>
          <a:ln>
            <a:noFill/>
          </a:ln>
        </p:spPr>
      </p:pic>
      <p:pic>
        <p:nvPicPr>
          <p:cNvPr id="11" name="Picture 10">
            <a:extLst>
              <a:ext uri="{FF2B5EF4-FFF2-40B4-BE49-F238E27FC236}">
                <a16:creationId xmlns:a16="http://schemas.microsoft.com/office/drawing/2014/main" id="{8A79B6BF-47DF-951B-36B8-47E616B5BE9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672738" y="3820267"/>
            <a:ext cx="4794149" cy="1959179"/>
          </a:xfrm>
          <a:prstGeom prst="rect">
            <a:avLst/>
          </a:prstGeom>
          <a:noFill/>
          <a:ln>
            <a:noFill/>
          </a:ln>
        </p:spPr>
      </p:pic>
    </p:spTree>
    <p:extLst>
      <p:ext uri="{BB962C8B-B14F-4D97-AF65-F5344CB8AC3E}">
        <p14:creationId xmlns:p14="http://schemas.microsoft.com/office/powerpoint/2010/main" val="1780841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521208" y="793742"/>
            <a:ext cx="2186823" cy="1907389"/>
          </a:xfrm>
        </p:spPr>
        <p:txBody>
          <a:bodyPr anchor="t">
            <a:noAutofit/>
          </a:bodyPr>
          <a:lstStyle/>
          <a:p>
            <a:pPr>
              <a:lnSpc>
                <a:spcPct val="90000"/>
              </a:lnSpc>
            </a:pPr>
            <a:r>
              <a:rPr lang="en-US" sz="1200" dirty="0"/>
              <a:t>VGG16 Augmented</a:t>
            </a:r>
            <a:br>
              <a:rPr lang="en-US" sz="1200" b="1" dirty="0"/>
            </a:br>
            <a:br>
              <a:rPr lang="en-US" sz="1200" dirty="0"/>
            </a:br>
            <a:r>
              <a:rPr lang="en-US" sz="1200" b="0" dirty="0"/>
              <a:t>Accuracy : 0.915</a:t>
            </a:r>
            <a:br>
              <a:rPr lang="en-US" sz="1200" b="0" dirty="0"/>
            </a:br>
            <a:r>
              <a:rPr lang="en-US" sz="1200" b="0" dirty="0"/>
              <a:t>F1 Score : 0.914</a:t>
            </a:r>
            <a:br>
              <a:rPr lang="en-US" sz="1200" b="0" dirty="0"/>
            </a:br>
            <a:r>
              <a:rPr lang="en-US" sz="1200" b="0" dirty="0"/>
              <a:t>Precision: 0.916</a:t>
            </a:r>
            <a:br>
              <a:rPr lang="en-US" sz="1200" b="0" dirty="0"/>
            </a:br>
            <a:r>
              <a:rPr lang="en-US" sz="1200" b="0" dirty="0"/>
              <a:t>Recall   : 0.915</a:t>
            </a:r>
            <a:br>
              <a:rPr lang="en-US" sz="1400" dirty="0"/>
            </a:br>
            <a:br>
              <a:rPr lang="en-US" sz="1400" dirty="0"/>
            </a:br>
            <a:r>
              <a:rPr lang="en-US" sz="900" b="0" dirty="0">
                <a:latin typeface="Consolas" panose="020B0609020204030204" pitchFamily="49" charset="0"/>
              </a:rPr>
              <a:t>epochs = 20</a:t>
            </a:r>
            <a:br>
              <a:rPr lang="en-US" sz="900" b="0" dirty="0">
                <a:latin typeface="Consolas" panose="020B0609020204030204" pitchFamily="49" charset="0"/>
              </a:rPr>
            </a:br>
            <a:r>
              <a:rPr lang="en-US" sz="900" b="0" dirty="0" err="1">
                <a:latin typeface="Consolas" panose="020B0609020204030204" pitchFamily="49" charset="0"/>
              </a:rPr>
              <a:t>lr</a:t>
            </a:r>
            <a:r>
              <a:rPr lang="en-US" sz="900" b="0" dirty="0">
                <a:latin typeface="Consolas" panose="020B0609020204030204" pitchFamily="49" charset="0"/>
              </a:rPr>
              <a:t> = 1e-4</a:t>
            </a:r>
            <a:endParaRPr lang="el-GR" sz="900" b="1" dirty="0"/>
          </a:p>
        </p:txBody>
      </p:sp>
      <p:sp>
        <p:nvSpPr>
          <p:cNvPr id="3" name="Footer Placeholder 2">
            <a:extLst>
              <a:ext uri="{FF2B5EF4-FFF2-40B4-BE49-F238E27FC236}">
                <a16:creationId xmlns:a16="http://schemas.microsoft.com/office/drawing/2014/main" id="{62B900F2-DA1D-BEC8-541D-ECA5D5CE7BBC}"/>
              </a:ext>
            </a:extLst>
          </p:cNvPr>
          <p:cNvSpPr>
            <a:spLocks noGrp="1"/>
          </p:cNvSpPr>
          <p:nvPr>
            <p:ph type="ftr" sz="quarter" idx="11"/>
          </p:nvPr>
        </p:nvSpPr>
        <p:spPr/>
        <p:txBody>
          <a:bodyPr/>
          <a:lstStyle/>
          <a:p>
            <a:r>
              <a:rPr lang="en-US"/>
              <a:t>MSc Artificial Intelligence &amp; Deep Learning</a:t>
            </a:r>
          </a:p>
        </p:txBody>
      </p:sp>
      <p:sp>
        <p:nvSpPr>
          <p:cNvPr id="4" name="Slide Number Placeholder 3">
            <a:extLst>
              <a:ext uri="{FF2B5EF4-FFF2-40B4-BE49-F238E27FC236}">
                <a16:creationId xmlns:a16="http://schemas.microsoft.com/office/drawing/2014/main" id="{069D7CF4-DD0C-F65C-EB6F-31CD1EF18862}"/>
              </a:ext>
            </a:extLst>
          </p:cNvPr>
          <p:cNvSpPr>
            <a:spLocks noGrp="1"/>
          </p:cNvSpPr>
          <p:nvPr>
            <p:ph type="sldNum" sz="quarter" idx="12"/>
          </p:nvPr>
        </p:nvSpPr>
        <p:spPr/>
        <p:txBody>
          <a:bodyPr/>
          <a:lstStyle/>
          <a:p>
            <a:fld id="{148CC95F-0247-41B6-91CF-DC97C76A7088}" type="slidenum">
              <a:rPr lang="en-US" smtClean="0"/>
              <a:t>12</a:t>
            </a:fld>
            <a:endParaRPr lang="en-US"/>
          </a:p>
        </p:txBody>
      </p:sp>
      <p:sp>
        <p:nvSpPr>
          <p:cNvPr id="5" name="TextBox 4">
            <a:extLst>
              <a:ext uri="{FF2B5EF4-FFF2-40B4-BE49-F238E27FC236}">
                <a16:creationId xmlns:a16="http://schemas.microsoft.com/office/drawing/2014/main" id="{75391858-BE7F-3DE2-5263-54AC7305BCF7}"/>
              </a:ext>
            </a:extLst>
          </p:cNvPr>
          <p:cNvSpPr txBox="1"/>
          <p:nvPr/>
        </p:nvSpPr>
        <p:spPr>
          <a:xfrm>
            <a:off x="5249008" y="793742"/>
            <a:ext cx="1387752" cy="307777"/>
          </a:xfrm>
          <a:prstGeom prst="rect">
            <a:avLst/>
          </a:prstGeom>
          <a:noFill/>
        </p:spPr>
        <p:txBody>
          <a:bodyPr wrap="none" rtlCol="0">
            <a:spAutoFit/>
          </a:bodyPr>
          <a:lstStyle/>
          <a:p>
            <a:r>
              <a:rPr lang="en-US" sz="1400" dirty="0"/>
              <a:t>Configuration A</a:t>
            </a:r>
            <a:endParaRPr lang="el-GR" sz="1400" dirty="0"/>
          </a:p>
        </p:txBody>
      </p:sp>
      <p:sp>
        <p:nvSpPr>
          <p:cNvPr id="6" name="TextBox 5">
            <a:extLst>
              <a:ext uri="{FF2B5EF4-FFF2-40B4-BE49-F238E27FC236}">
                <a16:creationId xmlns:a16="http://schemas.microsoft.com/office/drawing/2014/main" id="{5535D7B3-51D2-6676-CA12-0B1FD501322E}"/>
              </a:ext>
            </a:extLst>
          </p:cNvPr>
          <p:cNvSpPr txBox="1"/>
          <p:nvPr/>
        </p:nvSpPr>
        <p:spPr>
          <a:xfrm>
            <a:off x="5401408" y="3328855"/>
            <a:ext cx="1390958" cy="307777"/>
          </a:xfrm>
          <a:prstGeom prst="rect">
            <a:avLst/>
          </a:prstGeom>
          <a:noFill/>
        </p:spPr>
        <p:txBody>
          <a:bodyPr wrap="none" rtlCol="0">
            <a:spAutoFit/>
          </a:bodyPr>
          <a:lstStyle/>
          <a:p>
            <a:r>
              <a:rPr lang="en-US" sz="1400" dirty="0"/>
              <a:t>Configuration B</a:t>
            </a:r>
          </a:p>
        </p:txBody>
      </p:sp>
      <p:sp>
        <p:nvSpPr>
          <p:cNvPr id="7" name="Title 1">
            <a:extLst>
              <a:ext uri="{FF2B5EF4-FFF2-40B4-BE49-F238E27FC236}">
                <a16:creationId xmlns:a16="http://schemas.microsoft.com/office/drawing/2014/main" id="{AEC77A27-6D47-A8F2-5C97-D2C5EEDCCC9E}"/>
              </a:ext>
            </a:extLst>
          </p:cNvPr>
          <p:cNvSpPr txBox="1">
            <a:spLocks/>
          </p:cNvSpPr>
          <p:nvPr/>
        </p:nvSpPr>
        <p:spPr>
          <a:xfrm>
            <a:off x="521208" y="3636632"/>
            <a:ext cx="2186823" cy="190738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200" b="0" dirty="0"/>
              <a:t>Accuracy : 0.910</a:t>
            </a:r>
            <a:br>
              <a:rPr lang="en-US" sz="1200" b="0" dirty="0"/>
            </a:br>
            <a:r>
              <a:rPr lang="en-US" sz="1200" b="0" dirty="0"/>
              <a:t>F1 Score : 0.910</a:t>
            </a:r>
            <a:br>
              <a:rPr lang="en-US" sz="1200" b="0" dirty="0"/>
            </a:br>
            <a:r>
              <a:rPr lang="en-US" sz="1200" b="0" dirty="0"/>
              <a:t>Precision: 0.911</a:t>
            </a:r>
            <a:br>
              <a:rPr lang="en-US" sz="1200" b="0" dirty="0"/>
            </a:br>
            <a:r>
              <a:rPr lang="en-US" sz="1200" b="0" dirty="0"/>
              <a:t>Recall   : 0.910</a:t>
            </a:r>
            <a:br>
              <a:rPr lang="en-US" sz="1400" dirty="0"/>
            </a:br>
            <a:endParaRPr lang="el-GR" sz="900" dirty="0"/>
          </a:p>
        </p:txBody>
      </p:sp>
      <p:pic>
        <p:nvPicPr>
          <p:cNvPr id="8" name="Picture 7">
            <a:extLst>
              <a:ext uri="{FF2B5EF4-FFF2-40B4-BE49-F238E27FC236}">
                <a16:creationId xmlns:a16="http://schemas.microsoft.com/office/drawing/2014/main" id="{5E699092-CB8A-B05D-C48D-CE6012665AC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83408" y="1101519"/>
            <a:ext cx="2765218" cy="2142554"/>
          </a:xfrm>
          <a:prstGeom prst="rect">
            <a:avLst/>
          </a:prstGeom>
          <a:noFill/>
          <a:ln>
            <a:noFill/>
          </a:ln>
        </p:spPr>
      </p:pic>
      <p:pic>
        <p:nvPicPr>
          <p:cNvPr id="9" name="Picture 8">
            <a:extLst>
              <a:ext uri="{FF2B5EF4-FFF2-40B4-BE49-F238E27FC236}">
                <a16:creationId xmlns:a16="http://schemas.microsoft.com/office/drawing/2014/main" id="{56737494-44B3-C9A5-6D1A-B7ACB53FE1B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24003" y="1105843"/>
            <a:ext cx="5190895" cy="2138230"/>
          </a:xfrm>
          <a:prstGeom prst="rect">
            <a:avLst/>
          </a:prstGeom>
          <a:noFill/>
          <a:ln>
            <a:noFill/>
          </a:ln>
        </p:spPr>
      </p:pic>
      <p:pic>
        <p:nvPicPr>
          <p:cNvPr id="10" name="Picture 9">
            <a:extLst>
              <a:ext uri="{FF2B5EF4-FFF2-40B4-BE49-F238E27FC236}">
                <a16:creationId xmlns:a16="http://schemas.microsoft.com/office/drawing/2014/main" id="{894AA64F-63EF-788A-8E03-ECF51BC85C3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883408" y="3618251"/>
            <a:ext cx="2764818" cy="2138230"/>
          </a:xfrm>
          <a:prstGeom prst="rect">
            <a:avLst/>
          </a:prstGeom>
          <a:noFill/>
          <a:ln>
            <a:noFill/>
          </a:ln>
        </p:spPr>
      </p:pic>
      <p:pic>
        <p:nvPicPr>
          <p:cNvPr id="11" name="Picture 10">
            <a:extLst>
              <a:ext uri="{FF2B5EF4-FFF2-40B4-BE49-F238E27FC236}">
                <a16:creationId xmlns:a16="http://schemas.microsoft.com/office/drawing/2014/main" id="{11AEF2FB-3023-3328-2EA8-DAF2549B16E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942884" y="3613232"/>
            <a:ext cx="5190895" cy="2138925"/>
          </a:xfrm>
          <a:prstGeom prst="rect">
            <a:avLst/>
          </a:prstGeom>
          <a:noFill/>
          <a:ln>
            <a:noFill/>
          </a:ln>
        </p:spPr>
      </p:pic>
    </p:spTree>
    <p:extLst>
      <p:ext uri="{BB962C8B-B14F-4D97-AF65-F5344CB8AC3E}">
        <p14:creationId xmlns:p14="http://schemas.microsoft.com/office/powerpoint/2010/main" val="685168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521208" y="793742"/>
            <a:ext cx="2054937" cy="1782377"/>
          </a:xfrm>
        </p:spPr>
        <p:txBody>
          <a:bodyPr anchor="t">
            <a:normAutofit/>
          </a:bodyPr>
          <a:lstStyle/>
          <a:p>
            <a:pPr>
              <a:lnSpc>
                <a:spcPct val="90000"/>
              </a:lnSpc>
            </a:pPr>
            <a:r>
              <a:rPr lang="en-US" sz="1200" dirty="0"/>
              <a:t>ResNet-50 Augmented</a:t>
            </a:r>
            <a:br>
              <a:rPr lang="en-US" sz="1200" b="1" dirty="0"/>
            </a:br>
            <a:br>
              <a:rPr lang="en-US" sz="1200" dirty="0"/>
            </a:br>
            <a:r>
              <a:rPr lang="en-US" sz="1200" b="0" dirty="0"/>
              <a:t>Accuracy : 0.656</a:t>
            </a:r>
            <a:br>
              <a:rPr lang="en-US" sz="1200" b="0" dirty="0"/>
            </a:br>
            <a:r>
              <a:rPr lang="en-US" sz="1200" b="0" dirty="0"/>
              <a:t>F1 Score : 0.658</a:t>
            </a:r>
            <a:br>
              <a:rPr lang="en-US" sz="1200" b="0" dirty="0"/>
            </a:br>
            <a:r>
              <a:rPr lang="en-US" sz="1200" b="0" dirty="0"/>
              <a:t>Precision: 0.666</a:t>
            </a:r>
            <a:br>
              <a:rPr lang="en-US" sz="1200" b="0" dirty="0"/>
            </a:br>
            <a:r>
              <a:rPr lang="en-US" sz="1200" b="0" dirty="0"/>
              <a:t>Recall   : 0.656</a:t>
            </a:r>
            <a:br>
              <a:rPr lang="en-US" sz="1400" dirty="0"/>
            </a:br>
            <a:br>
              <a:rPr lang="en-US" sz="1400" dirty="0"/>
            </a:br>
            <a:r>
              <a:rPr lang="en-US" sz="1000" b="0" dirty="0">
                <a:latin typeface="Consolas" panose="020B0609020204030204" pitchFamily="49" charset="0"/>
              </a:rPr>
              <a:t>epochs = 20</a:t>
            </a:r>
            <a:br>
              <a:rPr lang="en-US" sz="1000" b="0" dirty="0">
                <a:latin typeface="Consolas" panose="020B0609020204030204" pitchFamily="49" charset="0"/>
              </a:rPr>
            </a:br>
            <a:r>
              <a:rPr lang="en-US" sz="1000" b="0" dirty="0" err="1">
                <a:latin typeface="Consolas" panose="020B0609020204030204" pitchFamily="49" charset="0"/>
              </a:rPr>
              <a:t>lr</a:t>
            </a:r>
            <a:r>
              <a:rPr lang="en-US" sz="1000" b="0" dirty="0">
                <a:latin typeface="Consolas" panose="020B0609020204030204" pitchFamily="49" charset="0"/>
              </a:rPr>
              <a:t> = 1e-4</a:t>
            </a:r>
            <a:endParaRPr lang="el-GR" sz="1000" b="1" dirty="0"/>
          </a:p>
        </p:txBody>
      </p:sp>
      <p:sp>
        <p:nvSpPr>
          <p:cNvPr id="3" name="Footer Placeholder 2">
            <a:extLst>
              <a:ext uri="{FF2B5EF4-FFF2-40B4-BE49-F238E27FC236}">
                <a16:creationId xmlns:a16="http://schemas.microsoft.com/office/drawing/2014/main" id="{24B8BAA1-4E75-0924-8F44-DBC4B9E57338}"/>
              </a:ext>
            </a:extLst>
          </p:cNvPr>
          <p:cNvSpPr>
            <a:spLocks noGrp="1"/>
          </p:cNvSpPr>
          <p:nvPr>
            <p:ph type="ftr" sz="quarter" idx="11"/>
          </p:nvPr>
        </p:nvSpPr>
        <p:spPr/>
        <p:txBody>
          <a:bodyPr/>
          <a:lstStyle/>
          <a:p>
            <a:r>
              <a:rPr lang="en-US"/>
              <a:t>MSc Artificial Intelligence &amp; Deep Learning</a:t>
            </a:r>
          </a:p>
        </p:txBody>
      </p:sp>
      <p:sp>
        <p:nvSpPr>
          <p:cNvPr id="4" name="Slide Number Placeholder 3">
            <a:extLst>
              <a:ext uri="{FF2B5EF4-FFF2-40B4-BE49-F238E27FC236}">
                <a16:creationId xmlns:a16="http://schemas.microsoft.com/office/drawing/2014/main" id="{2CF5FE82-C269-54F9-DBDD-3974D446BB25}"/>
              </a:ext>
            </a:extLst>
          </p:cNvPr>
          <p:cNvSpPr>
            <a:spLocks noGrp="1"/>
          </p:cNvSpPr>
          <p:nvPr>
            <p:ph type="sldNum" sz="quarter" idx="12"/>
          </p:nvPr>
        </p:nvSpPr>
        <p:spPr/>
        <p:txBody>
          <a:bodyPr/>
          <a:lstStyle/>
          <a:p>
            <a:fld id="{148CC95F-0247-41B6-91CF-DC97C76A7088}" type="slidenum">
              <a:rPr lang="en-US" smtClean="0"/>
              <a:t>13</a:t>
            </a:fld>
            <a:endParaRPr lang="en-US"/>
          </a:p>
        </p:txBody>
      </p:sp>
      <p:sp>
        <p:nvSpPr>
          <p:cNvPr id="5" name="TextBox 4">
            <a:extLst>
              <a:ext uri="{FF2B5EF4-FFF2-40B4-BE49-F238E27FC236}">
                <a16:creationId xmlns:a16="http://schemas.microsoft.com/office/drawing/2014/main" id="{F7FB9B0C-8F1E-2A90-D49E-7E7F34B19C22}"/>
              </a:ext>
            </a:extLst>
          </p:cNvPr>
          <p:cNvSpPr txBox="1"/>
          <p:nvPr/>
        </p:nvSpPr>
        <p:spPr>
          <a:xfrm>
            <a:off x="5328139" y="793742"/>
            <a:ext cx="1387752" cy="307777"/>
          </a:xfrm>
          <a:prstGeom prst="rect">
            <a:avLst/>
          </a:prstGeom>
          <a:noFill/>
        </p:spPr>
        <p:txBody>
          <a:bodyPr wrap="none" rtlCol="0">
            <a:spAutoFit/>
          </a:bodyPr>
          <a:lstStyle/>
          <a:p>
            <a:r>
              <a:rPr lang="en-US" sz="1400" dirty="0"/>
              <a:t>Configuration A</a:t>
            </a:r>
            <a:endParaRPr lang="el-GR" sz="1400" dirty="0"/>
          </a:p>
        </p:txBody>
      </p:sp>
      <p:sp>
        <p:nvSpPr>
          <p:cNvPr id="6" name="TextBox 5">
            <a:extLst>
              <a:ext uri="{FF2B5EF4-FFF2-40B4-BE49-F238E27FC236}">
                <a16:creationId xmlns:a16="http://schemas.microsoft.com/office/drawing/2014/main" id="{F7820319-5E4F-C8BA-A6D9-E0752EE7BC76}"/>
              </a:ext>
            </a:extLst>
          </p:cNvPr>
          <p:cNvSpPr txBox="1"/>
          <p:nvPr/>
        </p:nvSpPr>
        <p:spPr>
          <a:xfrm>
            <a:off x="5480539" y="3328855"/>
            <a:ext cx="1390958" cy="307777"/>
          </a:xfrm>
          <a:prstGeom prst="rect">
            <a:avLst/>
          </a:prstGeom>
          <a:noFill/>
        </p:spPr>
        <p:txBody>
          <a:bodyPr wrap="none" rtlCol="0">
            <a:spAutoFit/>
          </a:bodyPr>
          <a:lstStyle/>
          <a:p>
            <a:r>
              <a:rPr lang="en-US" sz="1400" dirty="0"/>
              <a:t>Configuration B</a:t>
            </a:r>
          </a:p>
        </p:txBody>
      </p:sp>
      <p:sp>
        <p:nvSpPr>
          <p:cNvPr id="7" name="Title 1">
            <a:extLst>
              <a:ext uri="{FF2B5EF4-FFF2-40B4-BE49-F238E27FC236}">
                <a16:creationId xmlns:a16="http://schemas.microsoft.com/office/drawing/2014/main" id="{E3881F95-CEE1-6E25-290A-A5602C28EAFF}"/>
              </a:ext>
            </a:extLst>
          </p:cNvPr>
          <p:cNvSpPr txBox="1">
            <a:spLocks/>
          </p:cNvSpPr>
          <p:nvPr/>
        </p:nvSpPr>
        <p:spPr>
          <a:xfrm>
            <a:off x="521208" y="3636632"/>
            <a:ext cx="2054937" cy="178237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200" b="0" dirty="0"/>
              <a:t>Accuracy : 0.643</a:t>
            </a:r>
            <a:br>
              <a:rPr lang="en-US" sz="1200" b="0" dirty="0"/>
            </a:br>
            <a:r>
              <a:rPr lang="en-US" sz="1200" b="0" dirty="0"/>
              <a:t>F1 Score : 0.642</a:t>
            </a:r>
            <a:br>
              <a:rPr lang="en-US" sz="1200" b="0" dirty="0"/>
            </a:br>
            <a:r>
              <a:rPr lang="en-US" sz="1200" b="0" dirty="0"/>
              <a:t>Precision: 0.650</a:t>
            </a:r>
            <a:br>
              <a:rPr lang="en-US" sz="1200" b="0" dirty="0"/>
            </a:br>
            <a:r>
              <a:rPr lang="en-US" sz="1200" b="0" dirty="0"/>
              <a:t>Recall   : 0.643</a:t>
            </a:r>
            <a:br>
              <a:rPr lang="en-US" sz="1400" dirty="0"/>
            </a:br>
            <a:endParaRPr lang="el-GR" sz="1000" dirty="0"/>
          </a:p>
        </p:txBody>
      </p:sp>
      <p:pic>
        <p:nvPicPr>
          <p:cNvPr id="8" name="Picture 7">
            <a:extLst>
              <a:ext uri="{FF2B5EF4-FFF2-40B4-BE49-F238E27FC236}">
                <a16:creationId xmlns:a16="http://schemas.microsoft.com/office/drawing/2014/main" id="{0573BA2F-6E5F-4FAC-95F6-1B98A653826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79750" y="1174580"/>
            <a:ext cx="2686051" cy="2081213"/>
          </a:xfrm>
          <a:prstGeom prst="rect">
            <a:avLst/>
          </a:prstGeom>
          <a:noFill/>
          <a:ln>
            <a:noFill/>
          </a:ln>
        </p:spPr>
      </p:pic>
      <p:pic>
        <p:nvPicPr>
          <p:cNvPr id="9" name="Picture 8">
            <a:extLst>
              <a:ext uri="{FF2B5EF4-FFF2-40B4-BE49-F238E27FC236}">
                <a16:creationId xmlns:a16="http://schemas.microsoft.com/office/drawing/2014/main" id="{D065D3DB-E1E3-C0ED-9A09-460111AF67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4045" y="1174580"/>
            <a:ext cx="4729163" cy="1948034"/>
          </a:xfrm>
          <a:prstGeom prst="rect">
            <a:avLst/>
          </a:prstGeom>
          <a:noFill/>
          <a:ln>
            <a:noFill/>
          </a:ln>
        </p:spPr>
      </p:pic>
      <p:pic>
        <p:nvPicPr>
          <p:cNvPr id="10" name="Picture 9">
            <a:extLst>
              <a:ext uri="{FF2B5EF4-FFF2-40B4-BE49-F238E27FC236}">
                <a16:creationId xmlns:a16="http://schemas.microsoft.com/office/drawing/2014/main" id="{FB2C2A0E-B2AD-2A4F-4E2C-DE9F1A70D8B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079750" y="3636632"/>
            <a:ext cx="2686050" cy="2081212"/>
          </a:xfrm>
          <a:prstGeom prst="rect">
            <a:avLst/>
          </a:prstGeom>
          <a:noFill/>
          <a:ln>
            <a:noFill/>
          </a:ln>
        </p:spPr>
      </p:pic>
      <p:pic>
        <p:nvPicPr>
          <p:cNvPr id="11" name="Picture 10">
            <a:extLst>
              <a:ext uri="{FF2B5EF4-FFF2-40B4-BE49-F238E27FC236}">
                <a16:creationId xmlns:a16="http://schemas.microsoft.com/office/drawing/2014/main" id="{FEA2ECBE-06BD-7F0A-9B77-A1D161131BD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94045" y="3636632"/>
            <a:ext cx="4729163" cy="1948034"/>
          </a:xfrm>
          <a:prstGeom prst="rect">
            <a:avLst/>
          </a:prstGeom>
          <a:noFill/>
          <a:ln>
            <a:noFill/>
          </a:ln>
        </p:spPr>
      </p:pic>
    </p:spTree>
    <p:extLst>
      <p:ext uri="{BB962C8B-B14F-4D97-AF65-F5344CB8AC3E}">
        <p14:creationId xmlns:p14="http://schemas.microsoft.com/office/powerpoint/2010/main" val="453901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162EA-5CCA-D6B3-FC19-AAB56D79BA15}"/>
              </a:ext>
            </a:extLst>
          </p:cNvPr>
          <p:cNvSpPr>
            <a:spLocks noGrp="1"/>
          </p:cNvSpPr>
          <p:nvPr>
            <p:ph type="ctrTitle"/>
          </p:nvPr>
        </p:nvSpPr>
        <p:spPr>
          <a:xfrm>
            <a:off x="521208" y="793742"/>
            <a:ext cx="2081314" cy="1791780"/>
          </a:xfrm>
        </p:spPr>
        <p:txBody>
          <a:bodyPr anchor="t">
            <a:normAutofit/>
          </a:bodyPr>
          <a:lstStyle/>
          <a:p>
            <a:pPr>
              <a:lnSpc>
                <a:spcPct val="90000"/>
              </a:lnSpc>
            </a:pPr>
            <a:r>
              <a:rPr lang="en-US" sz="1200" dirty="0"/>
              <a:t>InceptionV3 Augmented</a:t>
            </a:r>
            <a:br>
              <a:rPr lang="en-US" sz="1200" b="1" dirty="0"/>
            </a:br>
            <a:br>
              <a:rPr lang="en-US" sz="1200" dirty="0"/>
            </a:br>
            <a:r>
              <a:rPr lang="en-US" sz="1200" b="0" dirty="0"/>
              <a:t>Accuracy : 0.939</a:t>
            </a:r>
            <a:br>
              <a:rPr lang="en-US" sz="1200" b="0" dirty="0"/>
            </a:br>
            <a:r>
              <a:rPr lang="en-US" sz="1200" b="0" dirty="0"/>
              <a:t>F1 Score : 0.939</a:t>
            </a:r>
            <a:br>
              <a:rPr lang="en-US" sz="1200" b="0" dirty="0"/>
            </a:br>
            <a:r>
              <a:rPr lang="en-US" sz="1200" b="0" dirty="0"/>
              <a:t>Precision: 0.941</a:t>
            </a:r>
            <a:br>
              <a:rPr lang="en-US" sz="1200" b="0" dirty="0"/>
            </a:br>
            <a:r>
              <a:rPr lang="en-US" sz="1200" b="0" dirty="0"/>
              <a:t>Recall   : 0.939</a:t>
            </a:r>
            <a:br>
              <a:rPr lang="en-US" sz="1600" dirty="0"/>
            </a:br>
            <a:br>
              <a:rPr lang="en-US" sz="1600" dirty="0"/>
            </a:br>
            <a:r>
              <a:rPr lang="en-US" sz="1050" b="0" dirty="0">
                <a:latin typeface="Consolas" panose="020B0609020204030204" pitchFamily="49" charset="0"/>
              </a:rPr>
              <a:t>epochs = 20</a:t>
            </a:r>
            <a:br>
              <a:rPr lang="en-US" sz="1050" b="0" dirty="0">
                <a:latin typeface="Consolas" panose="020B0609020204030204" pitchFamily="49" charset="0"/>
              </a:rPr>
            </a:br>
            <a:r>
              <a:rPr lang="en-US" sz="1050" b="0" dirty="0" err="1">
                <a:latin typeface="Consolas" panose="020B0609020204030204" pitchFamily="49" charset="0"/>
              </a:rPr>
              <a:t>lr</a:t>
            </a:r>
            <a:r>
              <a:rPr lang="en-US" sz="1050" b="0" dirty="0">
                <a:latin typeface="Consolas" panose="020B0609020204030204" pitchFamily="49" charset="0"/>
              </a:rPr>
              <a:t> = 1e-4</a:t>
            </a:r>
            <a:endParaRPr lang="el-GR" sz="1600" b="1" dirty="0"/>
          </a:p>
        </p:txBody>
      </p:sp>
      <p:sp>
        <p:nvSpPr>
          <p:cNvPr id="3" name="Footer Placeholder 2">
            <a:extLst>
              <a:ext uri="{FF2B5EF4-FFF2-40B4-BE49-F238E27FC236}">
                <a16:creationId xmlns:a16="http://schemas.microsoft.com/office/drawing/2014/main" id="{40633E93-E125-1CD3-75F7-87DFE646834B}"/>
              </a:ext>
            </a:extLst>
          </p:cNvPr>
          <p:cNvSpPr>
            <a:spLocks noGrp="1"/>
          </p:cNvSpPr>
          <p:nvPr>
            <p:ph type="ftr" sz="quarter" idx="11"/>
          </p:nvPr>
        </p:nvSpPr>
        <p:spPr/>
        <p:txBody>
          <a:bodyPr/>
          <a:lstStyle/>
          <a:p>
            <a:r>
              <a:rPr lang="en-US"/>
              <a:t>MSc Artificial Intelligence &amp; Deep Learning</a:t>
            </a:r>
          </a:p>
        </p:txBody>
      </p:sp>
      <p:sp>
        <p:nvSpPr>
          <p:cNvPr id="4" name="Slide Number Placeholder 3">
            <a:extLst>
              <a:ext uri="{FF2B5EF4-FFF2-40B4-BE49-F238E27FC236}">
                <a16:creationId xmlns:a16="http://schemas.microsoft.com/office/drawing/2014/main" id="{8F4BB0A4-862A-4487-65E4-15B6470C1100}"/>
              </a:ext>
            </a:extLst>
          </p:cNvPr>
          <p:cNvSpPr>
            <a:spLocks noGrp="1"/>
          </p:cNvSpPr>
          <p:nvPr>
            <p:ph type="sldNum" sz="quarter" idx="12"/>
          </p:nvPr>
        </p:nvSpPr>
        <p:spPr/>
        <p:txBody>
          <a:bodyPr/>
          <a:lstStyle/>
          <a:p>
            <a:fld id="{148CC95F-0247-41B6-91CF-DC97C76A7088}" type="slidenum">
              <a:rPr lang="en-US" smtClean="0"/>
              <a:t>14</a:t>
            </a:fld>
            <a:endParaRPr lang="en-US"/>
          </a:p>
        </p:txBody>
      </p:sp>
      <p:sp>
        <p:nvSpPr>
          <p:cNvPr id="5" name="TextBox 4">
            <a:extLst>
              <a:ext uri="{FF2B5EF4-FFF2-40B4-BE49-F238E27FC236}">
                <a16:creationId xmlns:a16="http://schemas.microsoft.com/office/drawing/2014/main" id="{24DAC98E-69A8-B9E5-5468-4BE552CDD9EE}"/>
              </a:ext>
            </a:extLst>
          </p:cNvPr>
          <p:cNvSpPr txBox="1"/>
          <p:nvPr/>
        </p:nvSpPr>
        <p:spPr>
          <a:xfrm>
            <a:off x="5328139" y="793742"/>
            <a:ext cx="1387752" cy="307777"/>
          </a:xfrm>
          <a:prstGeom prst="rect">
            <a:avLst/>
          </a:prstGeom>
          <a:noFill/>
        </p:spPr>
        <p:txBody>
          <a:bodyPr wrap="none" rtlCol="0">
            <a:spAutoFit/>
          </a:bodyPr>
          <a:lstStyle/>
          <a:p>
            <a:r>
              <a:rPr lang="en-US" sz="1400" dirty="0"/>
              <a:t>Configuration A</a:t>
            </a:r>
            <a:endParaRPr lang="el-GR" sz="1400" dirty="0"/>
          </a:p>
        </p:txBody>
      </p:sp>
      <p:sp>
        <p:nvSpPr>
          <p:cNvPr id="6" name="TextBox 5">
            <a:extLst>
              <a:ext uri="{FF2B5EF4-FFF2-40B4-BE49-F238E27FC236}">
                <a16:creationId xmlns:a16="http://schemas.microsoft.com/office/drawing/2014/main" id="{8C1A3CA3-9126-1118-85E2-44410DD18877}"/>
              </a:ext>
            </a:extLst>
          </p:cNvPr>
          <p:cNvSpPr txBox="1"/>
          <p:nvPr/>
        </p:nvSpPr>
        <p:spPr>
          <a:xfrm>
            <a:off x="5480539" y="3328855"/>
            <a:ext cx="1390958" cy="307777"/>
          </a:xfrm>
          <a:prstGeom prst="rect">
            <a:avLst/>
          </a:prstGeom>
          <a:noFill/>
        </p:spPr>
        <p:txBody>
          <a:bodyPr wrap="none" rtlCol="0">
            <a:spAutoFit/>
          </a:bodyPr>
          <a:lstStyle/>
          <a:p>
            <a:r>
              <a:rPr lang="en-US" sz="1400" dirty="0"/>
              <a:t>Configuration B</a:t>
            </a:r>
          </a:p>
        </p:txBody>
      </p:sp>
      <p:sp>
        <p:nvSpPr>
          <p:cNvPr id="7" name="Title 1">
            <a:extLst>
              <a:ext uri="{FF2B5EF4-FFF2-40B4-BE49-F238E27FC236}">
                <a16:creationId xmlns:a16="http://schemas.microsoft.com/office/drawing/2014/main" id="{74295A14-C337-1E2D-C49E-CD335AAB8C3D}"/>
              </a:ext>
            </a:extLst>
          </p:cNvPr>
          <p:cNvSpPr txBox="1">
            <a:spLocks/>
          </p:cNvSpPr>
          <p:nvPr/>
        </p:nvSpPr>
        <p:spPr>
          <a:xfrm>
            <a:off x="521208" y="3636632"/>
            <a:ext cx="2081314" cy="1791780"/>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pPr>
              <a:lnSpc>
                <a:spcPct val="90000"/>
              </a:lnSpc>
            </a:pPr>
            <a:r>
              <a:rPr lang="en-US" sz="1200" b="0" dirty="0"/>
              <a:t>Accuracy : 0.847</a:t>
            </a:r>
            <a:br>
              <a:rPr lang="en-US" sz="1200" b="0" dirty="0"/>
            </a:br>
            <a:r>
              <a:rPr lang="en-US" sz="1200" b="0" dirty="0"/>
              <a:t>F1 Score : 0.843</a:t>
            </a:r>
            <a:br>
              <a:rPr lang="en-US" sz="1200" b="0" dirty="0"/>
            </a:br>
            <a:r>
              <a:rPr lang="en-US" sz="1200" b="0" dirty="0"/>
              <a:t>Precision: 0.849</a:t>
            </a:r>
            <a:br>
              <a:rPr lang="en-US" sz="1200" b="0" dirty="0"/>
            </a:br>
            <a:r>
              <a:rPr lang="en-US" sz="1200" b="0" dirty="0"/>
              <a:t>Recall   : 0.847</a:t>
            </a:r>
            <a:br>
              <a:rPr lang="en-US" sz="1600" dirty="0"/>
            </a:br>
            <a:endParaRPr lang="el-GR" sz="1600" dirty="0"/>
          </a:p>
        </p:txBody>
      </p:sp>
      <p:pic>
        <p:nvPicPr>
          <p:cNvPr id="8" name="Picture 7">
            <a:extLst>
              <a:ext uri="{FF2B5EF4-FFF2-40B4-BE49-F238E27FC236}">
                <a16:creationId xmlns:a16="http://schemas.microsoft.com/office/drawing/2014/main" id="{5EE0E6A8-781E-267F-293C-BAE6EF8FDF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77297" y="1101519"/>
            <a:ext cx="2676005" cy="2073429"/>
          </a:xfrm>
          <a:prstGeom prst="rect">
            <a:avLst/>
          </a:prstGeom>
          <a:noFill/>
          <a:ln>
            <a:noFill/>
          </a:ln>
        </p:spPr>
      </p:pic>
      <p:pic>
        <p:nvPicPr>
          <p:cNvPr id="9" name="Picture 8">
            <a:extLst>
              <a:ext uri="{FF2B5EF4-FFF2-40B4-BE49-F238E27FC236}">
                <a16:creationId xmlns:a16="http://schemas.microsoft.com/office/drawing/2014/main" id="{34FADEB1-DBB6-9160-C759-79FD373DA72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01519"/>
            <a:ext cx="4938713" cy="2034352"/>
          </a:xfrm>
          <a:prstGeom prst="rect">
            <a:avLst/>
          </a:prstGeom>
          <a:noFill/>
          <a:ln>
            <a:noFill/>
          </a:ln>
        </p:spPr>
      </p:pic>
      <p:pic>
        <p:nvPicPr>
          <p:cNvPr id="10" name="Picture 9">
            <a:extLst>
              <a:ext uri="{FF2B5EF4-FFF2-40B4-BE49-F238E27FC236}">
                <a16:creationId xmlns:a16="http://schemas.microsoft.com/office/drawing/2014/main" id="{88F6304C-CBE5-A59B-36F7-78470DCC5940}"/>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77296" y="3636632"/>
            <a:ext cx="2676005" cy="2073429"/>
          </a:xfrm>
          <a:prstGeom prst="rect">
            <a:avLst/>
          </a:prstGeom>
          <a:noFill/>
          <a:ln>
            <a:noFill/>
          </a:ln>
        </p:spPr>
      </p:pic>
      <p:pic>
        <p:nvPicPr>
          <p:cNvPr id="11" name="Picture 10">
            <a:extLst>
              <a:ext uri="{FF2B5EF4-FFF2-40B4-BE49-F238E27FC236}">
                <a16:creationId xmlns:a16="http://schemas.microsoft.com/office/drawing/2014/main" id="{68853A27-B56E-7580-C633-37F419E7B4F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3636632"/>
            <a:ext cx="4938714" cy="2034352"/>
          </a:xfrm>
          <a:prstGeom prst="rect">
            <a:avLst/>
          </a:prstGeom>
          <a:noFill/>
          <a:ln>
            <a:noFill/>
          </a:ln>
        </p:spPr>
      </p:pic>
    </p:spTree>
    <p:extLst>
      <p:ext uri="{BB962C8B-B14F-4D97-AF65-F5344CB8AC3E}">
        <p14:creationId xmlns:p14="http://schemas.microsoft.com/office/powerpoint/2010/main" val="948050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621AB-4289-1FD8-1C1D-C725AF40DDF1}"/>
              </a:ext>
            </a:extLst>
          </p:cNvPr>
          <p:cNvSpPr>
            <a:spLocks noGrp="1"/>
          </p:cNvSpPr>
          <p:nvPr>
            <p:ph type="title"/>
          </p:nvPr>
        </p:nvSpPr>
        <p:spPr>
          <a:xfrm>
            <a:off x="518160" y="767393"/>
            <a:ext cx="11155680" cy="3281288"/>
          </a:xfrm>
        </p:spPr>
        <p:txBody>
          <a:bodyPr>
            <a:normAutofit fontScale="90000"/>
          </a:bodyPr>
          <a:lstStyle/>
          <a:p>
            <a:r>
              <a:rPr lang="en-US" sz="2000" dirty="0">
                <a:latin typeface="Calibri" panose="020F0502020204030204" pitchFamily="34" charset="0"/>
                <a:ea typeface="Calibri" panose="020F0502020204030204" pitchFamily="34" charset="0"/>
                <a:cs typeface="Calibri" panose="020F0502020204030204" pitchFamily="34" charset="0"/>
              </a:rPr>
              <a:t>Conclusion</a:t>
            </a:r>
            <a:br>
              <a:rPr lang="en-US" sz="110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In this project, we implemented and compared multiple custom CNN architectures and transfer learning models for brain tumor classification using MRI scans.</a:t>
            </a: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The results demonstrate that:</a:t>
            </a:r>
            <a:br>
              <a:rPr lang="en-US" sz="1100" b="0" dirty="0">
                <a:latin typeface="Calibri" panose="020F0502020204030204" pitchFamily="34" charset="0"/>
                <a:ea typeface="Calibri" panose="020F0502020204030204" pitchFamily="34" charset="0"/>
                <a:cs typeface="Calibri" panose="020F0502020204030204" pitchFamily="34" charset="0"/>
              </a:rPr>
            </a:b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Transfer learning outperforms most custom CNNs, with InceptionV3 achieving the highest performance (9</a:t>
            </a:r>
            <a:r>
              <a:rPr lang="el-GR" sz="1100" b="0" dirty="0">
                <a:latin typeface="Calibri" panose="020F0502020204030204" pitchFamily="34" charset="0"/>
                <a:ea typeface="Calibri" panose="020F0502020204030204" pitchFamily="34" charset="0"/>
                <a:cs typeface="Calibri" panose="020F0502020204030204" pitchFamily="34" charset="0"/>
              </a:rPr>
              <a:t>6</a:t>
            </a:r>
            <a:r>
              <a:rPr lang="en-US" sz="1100" b="0" dirty="0">
                <a:latin typeface="Calibri" panose="020F0502020204030204" pitchFamily="34" charset="0"/>
                <a:ea typeface="Calibri" panose="020F0502020204030204" pitchFamily="34" charset="0"/>
                <a:cs typeface="Calibri" panose="020F0502020204030204" pitchFamily="34" charset="0"/>
              </a:rPr>
              <a:t>% accuracy) even without augmentation. Moreover, transfer learning models have more stable train/</a:t>
            </a:r>
            <a:r>
              <a:rPr lang="en-US" sz="1100" b="0" dirty="0" err="1">
                <a:latin typeface="Calibri" panose="020F0502020204030204" pitchFamily="34" charset="0"/>
                <a:ea typeface="Calibri" panose="020F0502020204030204" pitchFamily="34" charset="0"/>
                <a:cs typeface="Calibri" panose="020F0502020204030204" pitchFamily="34" charset="0"/>
              </a:rPr>
              <a:t>val</a:t>
            </a:r>
            <a:r>
              <a:rPr lang="en-US" sz="1100" b="0" dirty="0">
                <a:latin typeface="Calibri" panose="020F0502020204030204" pitchFamily="34" charset="0"/>
                <a:ea typeface="Calibri" panose="020F0502020204030204" pitchFamily="34" charset="0"/>
                <a:cs typeface="Calibri" panose="020F0502020204030204" pitchFamily="34" charset="0"/>
              </a:rPr>
              <a:t> loss diagram, which results to better generalization. From the custom models </a:t>
            </a:r>
            <a:r>
              <a:rPr lang="en-US" sz="1100" b="0" dirty="0" err="1">
                <a:latin typeface="Calibri" panose="020F0502020204030204" pitchFamily="34" charset="0"/>
                <a:ea typeface="Calibri" panose="020F0502020204030204" pitchFamily="34" charset="0"/>
                <a:cs typeface="Calibri" panose="020F0502020204030204" pitchFamily="34" charset="0"/>
              </a:rPr>
              <a:t>multibranch_cnn</a:t>
            </a:r>
            <a:r>
              <a:rPr lang="en-US" sz="1100" b="0" dirty="0">
                <a:latin typeface="Calibri" panose="020F0502020204030204" pitchFamily="34" charset="0"/>
                <a:ea typeface="Calibri" panose="020F0502020204030204" pitchFamily="34" charset="0"/>
                <a:cs typeface="Calibri" panose="020F0502020204030204" pitchFamily="34" charset="0"/>
              </a:rPr>
              <a:t> and </a:t>
            </a:r>
            <a:r>
              <a:rPr lang="en-US" sz="1100" b="0" dirty="0" err="1">
                <a:latin typeface="Calibri" panose="020F0502020204030204" pitchFamily="34" charset="0"/>
                <a:ea typeface="Calibri" panose="020F0502020204030204" pitchFamily="34" charset="0"/>
                <a:cs typeface="Calibri" panose="020F0502020204030204" pitchFamily="34" charset="0"/>
              </a:rPr>
              <a:t>multiscale_cnn</a:t>
            </a:r>
            <a:r>
              <a:rPr lang="en-US" sz="1100" b="0" dirty="0">
                <a:latin typeface="Calibri" panose="020F0502020204030204" pitchFamily="34" charset="0"/>
                <a:ea typeface="Calibri" panose="020F0502020204030204" pitchFamily="34" charset="0"/>
                <a:cs typeface="Calibri" panose="020F0502020204030204" pitchFamily="34" charset="0"/>
              </a:rPr>
              <a:t> have also stable train/</a:t>
            </a:r>
            <a:r>
              <a:rPr lang="en-US" sz="1100" b="0" dirty="0" err="1">
                <a:latin typeface="Calibri" panose="020F0502020204030204" pitchFamily="34" charset="0"/>
                <a:ea typeface="Calibri" panose="020F0502020204030204" pitchFamily="34" charset="0"/>
                <a:cs typeface="Calibri" panose="020F0502020204030204" pitchFamily="34" charset="0"/>
              </a:rPr>
              <a:t>val</a:t>
            </a:r>
            <a:r>
              <a:rPr lang="en-US" sz="1100" b="0" dirty="0">
                <a:latin typeface="Calibri" panose="020F0502020204030204" pitchFamily="34" charset="0"/>
                <a:ea typeface="Calibri" panose="020F0502020204030204" pitchFamily="34" charset="0"/>
                <a:cs typeface="Calibri" panose="020F0502020204030204" pitchFamily="34" charset="0"/>
              </a:rPr>
              <a:t> loss diagrams. VGG16 performed well overall (90%), while ResNet-50 underperformed both in original and augmented versions, suggesting that this transfer model is not a good choice for this dataset or requires further fine-tuning.</a:t>
            </a:r>
            <a:br>
              <a:rPr lang="en-US" sz="1100" b="0" dirty="0">
                <a:latin typeface="Calibri" panose="020F0502020204030204" pitchFamily="34" charset="0"/>
                <a:ea typeface="Calibri" panose="020F0502020204030204" pitchFamily="34" charset="0"/>
                <a:cs typeface="Calibri" panose="020F0502020204030204" pitchFamily="34" charset="0"/>
              </a:rPr>
            </a:b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Among the custom models, CNN6, achieved good results (92.4% accuracy) and improved with data augmentation (93.7%). In the majority of the custom models we see a minor overfitting issue (the “gap” in the accuracy plot), which means worst performance on unseen data.</a:t>
            </a:r>
            <a:br>
              <a:rPr lang="en-US" sz="1100" b="0" dirty="0">
                <a:latin typeface="Calibri" panose="020F0502020204030204" pitchFamily="34" charset="0"/>
                <a:ea typeface="Calibri" panose="020F0502020204030204" pitchFamily="34" charset="0"/>
                <a:cs typeface="Calibri" panose="020F0502020204030204" pitchFamily="34" charset="0"/>
              </a:rPr>
            </a:b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Data augmentation techniques were expected to improve the results. Although the metrics remained high, they were slightly lower in comparison with the run on the initial data, with the exception of custom model CNN6. Moreover, due to the nature of the data, we can see that different data augmentation techniques affect the performance of the models. For example, with Configuration B all models have Training </a:t>
            </a:r>
            <a:r>
              <a:rPr lang="en-US" sz="1100" b="0">
                <a:latin typeface="Calibri" panose="020F0502020204030204" pitchFamily="34" charset="0"/>
                <a:ea typeface="Calibri" panose="020F0502020204030204" pitchFamily="34" charset="0"/>
                <a:cs typeface="Calibri" panose="020F0502020204030204" pitchFamily="34" charset="0"/>
              </a:rPr>
              <a:t>loss much </a:t>
            </a:r>
            <a:r>
              <a:rPr lang="en-US" sz="1100" b="0" dirty="0">
                <a:latin typeface="Calibri" panose="020F0502020204030204" pitchFamily="34" charset="0"/>
                <a:ea typeface="Calibri" panose="020F0502020204030204" pitchFamily="34" charset="0"/>
                <a:cs typeface="Calibri" panose="020F0502020204030204" pitchFamily="34" charset="0"/>
              </a:rPr>
              <a:t>higher than Validation loss which means that the models don’t learn from the training data.</a:t>
            </a:r>
            <a:br>
              <a:rPr lang="en-US" sz="1100" b="0" dirty="0">
                <a:latin typeface="Calibri" panose="020F0502020204030204" pitchFamily="34" charset="0"/>
                <a:ea typeface="Calibri" panose="020F0502020204030204" pitchFamily="34" charset="0"/>
                <a:cs typeface="Calibri" panose="020F0502020204030204" pitchFamily="34" charset="0"/>
              </a:rPr>
            </a:b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The class that most models had difficulty to predict was </a:t>
            </a:r>
            <a:r>
              <a:rPr lang="en-US" sz="1100" b="0" dirty="0" err="1">
                <a:latin typeface="Calibri" panose="020F0502020204030204" pitchFamily="34" charset="0"/>
                <a:ea typeface="Calibri" panose="020F0502020204030204" pitchFamily="34" charset="0"/>
                <a:cs typeface="Calibri" panose="020F0502020204030204" pitchFamily="34" charset="0"/>
              </a:rPr>
              <a:t>brain_menin</a:t>
            </a:r>
            <a:r>
              <a:rPr lang="en-US" sz="1100" b="0" dirty="0">
                <a:latin typeface="Calibri" panose="020F0502020204030204" pitchFamily="34" charset="0"/>
                <a:ea typeface="Calibri" panose="020F0502020204030204" pitchFamily="34" charset="0"/>
                <a:cs typeface="Calibri" panose="020F0502020204030204" pitchFamily="34" charset="0"/>
              </a:rPr>
              <a:t> and the easiest was </a:t>
            </a:r>
            <a:r>
              <a:rPr lang="en-US" sz="1100" b="0" dirty="0" err="1">
                <a:latin typeface="Calibri" panose="020F0502020204030204" pitchFamily="34" charset="0"/>
                <a:ea typeface="Calibri" panose="020F0502020204030204" pitchFamily="34" charset="0"/>
                <a:cs typeface="Calibri" panose="020F0502020204030204" pitchFamily="34" charset="0"/>
              </a:rPr>
              <a:t>brain_tumor</a:t>
            </a:r>
            <a:r>
              <a:rPr lang="en-US" sz="1100" b="0" dirty="0">
                <a:latin typeface="Calibri" panose="020F0502020204030204" pitchFamily="34" charset="0"/>
                <a:ea typeface="Calibri" panose="020F0502020204030204" pitchFamily="34" charset="0"/>
                <a:cs typeface="Calibri" panose="020F0502020204030204" pitchFamily="34" charset="0"/>
              </a:rPr>
              <a:t> (based on confusion matrices).</a:t>
            </a:r>
            <a:br>
              <a:rPr lang="en-US" sz="1100" b="0" dirty="0">
                <a:latin typeface="Calibri" panose="020F0502020204030204" pitchFamily="34" charset="0"/>
                <a:ea typeface="Calibri" panose="020F0502020204030204" pitchFamily="34" charset="0"/>
                <a:cs typeface="Calibri" panose="020F0502020204030204" pitchFamily="34" charset="0"/>
              </a:rPr>
            </a:br>
            <a:br>
              <a:rPr lang="en-US" sz="1100" b="0" dirty="0">
                <a:latin typeface="Calibri" panose="020F0502020204030204" pitchFamily="34" charset="0"/>
                <a:ea typeface="Calibri" panose="020F0502020204030204" pitchFamily="34" charset="0"/>
                <a:cs typeface="Calibri" panose="020F0502020204030204" pitchFamily="34" charset="0"/>
              </a:rPr>
            </a:br>
            <a:r>
              <a:rPr lang="en-US" sz="1100" b="0" dirty="0">
                <a:latin typeface="Calibri" panose="020F0502020204030204" pitchFamily="34" charset="0"/>
                <a:ea typeface="Calibri" panose="020F0502020204030204" pitchFamily="34" charset="0"/>
                <a:cs typeface="Calibri" panose="020F0502020204030204" pitchFamily="34" charset="0"/>
              </a:rPr>
              <a:t>When selecting a model for production usage several factors have to be taken into account, one of them is the model size. We might select a model with slightly “worse” metrics but with a significant smaller size. In our case InceptionV3 and CNN 6, which have similar metrics and confusion matrix results, but the size difference is huge.</a:t>
            </a:r>
            <a:br>
              <a:rPr lang="en-US" sz="1100" b="0" dirty="0">
                <a:latin typeface="Calibri" panose="020F0502020204030204" pitchFamily="34" charset="0"/>
                <a:ea typeface="Calibri" panose="020F0502020204030204" pitchFamily="34" charset="0"/>
                <a:cs typeface="Calibri" panose="020F0502020204030204" pitchFamily="34" charset="0"/>
              </a:rPr>
            </a:br>
            <a:br>
              <a:rPr lang="en-US" sz="1100" b="0" dirty="0">
                <a:latin typeface="Calibri" panose="020F0502020204030204" pitchFamily="34" charset="0"/>
                <a:ea typeface="Calibri" panose="020F0502020204030204" pitchFamily="34" charset="0"/>
                <a:cs typeface="Calibri" panose="020F0502020204030204" pitchFamily="34" charset="0"/>
              </a:rPr>
            </a:br>
            <a:br>
              <a:rPr lang="el-GR" sz="1100" b="0" dirty="0">
                <a:latin typeface="Calibri" panose="020F0502020204030204" pitchFamily="34" charset="0"/>
                <a:ea typeface="Calibri" panose="020F0502020204030204" pitchFamily="34" charset="0"/>
                <a:cs typeface="Calibri" panose="020F0502020204030204" pitchFamily="34" charset="0"/>
              </a:rPr>
            </a:br>
            <a:endParaRPr lang="el-GR" sz="2400" b="0" dirty="0">
              <a:latin typeface="Calibri" panose="020F0502020204030204" pitchFamily="34" charset="0"/>
              <a:ea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56EDA912-2FA4-BB99-1888-3C282305EF1F}"/>
              </a:ext>
            </a:extLst>
          </p:cNvPr>
          <p:cNvSpPr>
            <a:spLocks noGrp="1"/>
          </p:cNvSpPr>
          <p:nvPr>
            <p:ph type="ftr" sz="quarter" idx="11"/>
          </p:nvPr>
        </p:nvSpPr>
        <p:spPr/>
        <p:txBody>
          <a:bodyPr/>
          <a:lstStyle/>
          <a:p>
            <a:r>
              <a:rPr lang="en-US"/>
              <a:t>MSc Artificial Intelligence &amp; Deep Learning</a:t>
            </a:r>
          </a:p>
        </p:txBody>
      </p:sp>
      <p:sp>
        <p:nvSpPr>
          <p:cNvPr id="7" name="Slide Number Placeholder 6">
            <a:extLst>
              <a:ext uri="{FF2B5EF4-FFF2-40B4-BE49-F238E27FC236}">
                <a16:creationId xmlns:a16="http://schemas.microsoft.com/office/drawing/2014/main" id="{2708672D-0A26-DB50-3E2D-5F049FEEBAC9}"/>
              </a:ext>
            </a:extLst>
          </p:cNvPr>
          <p:cNvSpPr>
            <a:spLocks noGrp="1"/>
          </p:cNvSpPr>
          <p:nvPr>
            <p:ph type="sldNum" sz="quarter" idx="12"/>
          </p:nvPr>
        </p:nvSpPr>
        <p:spPr/>
        <p:txBody>
          <a:bodyPr/>
          <a:lstStyle/>
          <a:p>
            <a:fld id="{148CC95F-0247-41B6-91CF-DC97C76A7088}" type="slidenum">
              <a:rPr lang="en-US" smtClean="0"/>
              <a:t>15</a:t>
            </a:fld>
            <a:endParaRPr lang="en-US"/>
          </a:p>
        </p:txBody>
      </p:sp>
      <p:graphicFrame>
        <p:nvGraphicFramePr>
          <p:cNvPr id="8" name="Table 7">
            <a:extLst>
              <a:ext uri="{FF2B5EF4-FFF2-40B4-BE49-F238E27FC236}">
                <a16:creationId xmlns:a16="http://schemas.microsoft.com/office/drawing/2014/main" id="{DB97550B-04A0-FB43-151D-1D7C97252B20}"/>
              </a:ext>
            </a:extLst>
          </p:cNvPr>
          <p:cNvGraphicFramePr>
            <a:graphicFrameLocks noGrp="1"/>
          </p:cNvGraphicFramePr>
          <p:nvPr>
            <p:extLst>
              <p:ext uri="{D42A27DB-BD31-4B8C-83A1-F6EECF244321}">
                <p14:modId xmlns:p14="http://schemas.microsoft.com/office/powerpoint/2010/main" val="3951575118"/>
              </p:ext>
            </p:extLst>
          </p:nvPr>
        </p:nvGraphicFramePr>
        <p:xfrm>
          <a:off x="518160" y="4125150"/>
          <a:ext cx="9118600" cy="2476500"/>
        </p:xfrm>
        <a:graphic>
          <a:graphicData uri="http://schemas.openxmlformats.org/drawingml/2006/table">
            <a:tbl>
              <a:tblPr>
                <a:tableStyleId>{21E4AEA4-8DFA-4A89-87EB-49C32662AFE0}</a:tableStyleId>
              </a:tblPr>
              <a:tblGrid>
                <a:gridCol w="1092200">
                  <a:extLst>
                    <a:ext uri="{9D8B030D-6E8A-4147-A177-3AD203B41FA5}">
                      <a16:colId xmlns:a16="http://schemas.microsoft.com/office/drawing/2014/main" val="638141500"/>
                    </a:ext>
                  </a:extLst>
                </a:gridCol>
                <a:gridCol w="711200">
                  <a:extLst>
                    <a:ext uri="{9D8B030D-6E8A-4147-A177-3AD203B41FA5}">
                      <a16:colId xmlns:a16="http://schemas.microsoft.com/office/drawing/2014/main" val="1964208348"/>
                    </a:ext>
                  </a:extLst>
                </a:gridCol>
                <a:gridCol w="609600">
                  <a:extLst>
                    <a:ext uri="{9D8B030D-6E8A-4147-A177-3AD203B41FA5}">
                      <a16:colId xmlns:a16="http://schemas.microsoft.com/office/drawing/2014/main" val="3098533875"/>
                    </a:ext>
                  </a:extLst>
                </a:gridCol>
                <a:gridCol w="609600">
                  <a:extLst>
                    <a:ext uri="{9D8B030D-6E8A-4147-A177-3AD203B41FA5}">
                      <a16:colId xmlns:a16="http://schemas.microsoft.com/office/drawing/2014/main" val="592730563"/>
                    </a:ext>
                  </a:extLst>
                </a:gridCol>
                <a:gridCol w="609600">
                  <a:extLst>
                    <a:ext uri="{9D8B030D-6E8A-4147-A177-3AD203B41FA5}">
                      <a16:colId xmlns:a16="http://schemas.microsoft.com/office/drawing/2014/main" val="4274630571"/>
                    </a:ext>
                  </a:extLst>
                </a:gridCol>
                <a:gridCol w="609600">
                  <a:extLst>
                    <a:ext uri="{9D8B030D-6E8A-4147-A177-3AD203B41FA5}">
                      <a16:colId xmlns:a16="http://schemas.microsoft.com/office/drawing/2014/main" val="322159369"/>
                    </a:ext>
                  </a:extLst>
                </a:gridCol>
                <a:gridCol w="609600">
                  <a:extLst>
                    <a:ext uri="{9D8B030D-6E8A-4147-A177-3AD203B41FA5}">
                      <a16:colId xmlns:a16="http://schemas.microsoft.com/office/drawing/2014/main" val="2498776568"/>
                    </a:ext>
                  </a:extLst>
                </a:gridCol>
                <a:gridCol w="609600">
                  <a:extLst>
                    <a:ext uri="{9D8B030D-6E8A-4147-A177-3AD203B41FA5}">
                      <a16:colId xmlns:a16="http://schemas.microsoft.com/office/drawing/2014/main" val="1052729130"/>
                    </a:ext>
                  </a:extLst>
                </a:gridCol>
                <a:gridCol w="609600">
                  <a:extLst>
                    <a:ext uri="{9D8B030D-6E8A-4147-A177-3AD203B41FA5}">
                      <a16:colId xmlns:a16="http://schemas.microsoft.com/office/drawing/2014/main" val="3596164019"/>
                    </a:ext>
                  </a:extLst>
                </a:gridCol>
                <a:gridCol w="609600">
                  <a:extLst>
                    <a:ext uri="{9D8B030D-6E8A-4147-A177-3AD203B41FA5}">
                      <a16:colId xmlns:a16="http://schemas.microsoft.com/office/drawing/2014/main" val="2119117660"/>
                    </a:ext>
                  </a:extLst>
                </a:gridCol>
                <a:gridCol w="609600">
                  <a:extLst>
                    <a:ext uri="{9D8B030D-6E8A-4147-A177-3AD203B41FA5}">
                      <a16:colId xmlns:a16="http://schemas.microsoft.com/office/drawing/2014/main" val="1483972833"/>
                    </a:ext>
                  </a:extLst>
                </a:gridCol>
                <a:gridCol w="609600">
                  <a:extLst>
                    <a:ext uri="{9D8B030D-6E8A-4147-A177-3AD203B41FA5}">
                      <a16:colId xmlns:a16="http://schemas.microsoft.com/office/drawing/2014/main" val="1475162586"/>
                    </a:ext>
                  </a:extLst>
                </a:gridCol>
                <a:gridCol w="609600">
                  <a:extLst>
                    <a:ext uri="{9D8B030D-6E8A-4147-A177-3AD203B41FA5}">
                      <a16:colId xmlns:a16="http://schemas.microsoft.com/office/drawing/2014/main" val="2697160097"/>
                    </a:ext>
                  </a:extLst>
                </a:gridCol>
                <a:gridCol w="609600">
                  <a:extLst>
                    <a:ext uri="{9D8B030D-6E8A-4147-A177-3AD203B41FA5}">
                      <a16:colId xmlns:a16="http://schemas.microsoft.com/office/drawing/2014/main" val="4273506782"/>
                    </a:ext>
                  </a:extLst>
                </a:gridCol>
              </a:tblGrid>
              <a:tr h="190500">
                <a:tc>
                  <a:txBody>
                    <a:bodyPr/>
                    <a:lstStyle/>
                    <a:p>
                      <a:pPr algn="l" fontAlgn="b"/>
                      <a:r>
                        <a:rPr lang="el-GR" sz="1000" u="none" strike="noStrike">
                          <a:effectLst/>
                        </a:rPr>
                        <a:t> </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r>
                        <a:rPr lang="el-GR" sz="1000" b="1" u="none" strike="noStrike" dirty="0">
                          <a:effectLst/>
                        </a:rPr>
                        <a:t> </a:t>
                      </a:r>
                      <a:endParaRPr lang="el-GR" sz="1000" b="1" i="0" u="none" strike="noStrike" dirty="0">
                        <a:solidFill>
                          <a:srgbClr val="000000"/>
                        </a:solidFill>
                        <a:effectLst/>
                        <a:latin typeface="Calibri" panose="020F0502020204030204" pitchFamily="34" charset="0"/>
                      </a:endParaRPr>
                    </a:p>
                  </a:txBody>
                  <a:tcPr marL="7620" marR="7620" marT="7620" marB="0" anchor="b"/>
                </a:tc>
                <a:tc gridSpan="4">
                  <a:txBody>
                    <a:bodyPr/>
                    <a:lstStyle/>
                    <a:p>
                      <a:pPr algn="ctr" rtl="0" fontAlgn="b"/>
                      <a:r>
                        <a:rPr lang="en-US" sz="1000" b="1" u="none" strike="noStrike" dirty="0">
                          <a:effectLst/>
                        </a:rPr>
                        <a:t>Initial Data</a:t>
                      </a:r>
                      <a:endParaRPr lang="en-US" sz="1000" b="1"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l-GR"/>
                    </a:p>
                  </a:txBody>
                  <a:tcPr/>
                </a:tc>
                <a:tc hMerge="1">
                  <a:txBody>
                    <a:bodyPr/>
                    <a:lstStyle/>
                    <a:p>
                      <a:endParaRPr lang="el-GR"/>
                    </a:p>
                  </a:txBody>
                  <a:tcPr/>
                </a:tc>
                <a:tc hMerge="1">
                  <a:txBody>
                    <a:bodyPr/>
                    <a:lstStyle/>
                    <a:p>
                      <a:endParaRPr lang="el-GR"/>
                    </a:p>
                  </a:txBody>
                  <a:tcPr/>
                </a:tc>
                <a:tc gridSpan="4">
                  <a:txBody>
                    <a:bodyPr/>
                    <a:lstStyle/>
                    <a:p>
                      <a:pPr algn="ctr" rtl="0" fontAlgn="b"/>
                      <a:r>
                        <a:rPr lang="en-US" sz="1000" b="1" u="none" strike="noStrike" dirty="0">
                          <a:effectLst/>
                        </a:rPr>
                        <a:t>Augmented Data (Configuration A)</a:t>
                      </a:r>
                      <a:endParaRPr lang="en-US" sz="1000" b="1"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l-GR"/>
                    </a:p>
                  </a:txBody>
                  <a:tcPr/>
                </a:tc>
                <a:tc hMerge="1">
                  <a:txBody>
                    <a:bodyPr/>
                    <a:lstStyle/>
                    <a:p>
                      <a:endParaRPr lang="el-GR"/>
                    </a:p>
                  </a:txBody>
                  <a:tcPr/>
                </a:tc>
                <a:tc hMerge="1">
                  <a:txBody>
                    <a:bodyPr/>
                    <a:lstStyle/>
                    <a:p>
                      <a:endParaRPr lang="el-GR"/>
                    </a:p>
                  </a:txBody>
                  <a:tcPr/>
                </a:tc>
                <a:tc gridSpan="4">
                  <a:txBody>
                    <a:bodyPr/>
                    <a:lstStyle/>
                    <a:p>
                      <a:pPr algn="ctr" rtl="0" fontAlgn="b"/>
                      <a:r>
                        <a:rPr lang="en-US" sz="1000" b="1" u="none" strike="noStrike" dirty="0">
                          <a:effectLst/>
                        </a:rPr>
                        <a:t>Augmented Data (Configuration B)</a:t>
                      </a:r>
                      <a:endParaRPr lang="en-US" sz="1000" b="1" i="0" u="none" strike="noStrike" dirty="0">
                        <a:solidFill>
                          <a:srgbClr val="000000"/>
                        </a:solidFill>
                        <a:effectLst/>
                        <a:latin typeface="Calibri" panose="020F0502020204030204" pitchFamily="34" charset="0"/>
                      </a:endParaRPr>
                    </a:p>
                  </a:txBody>
                  <a:tcPr marL="7620" marR="7620" marT="7620" marB="0" anchor="b"/>
                </a:tc>
                <a:tc hMerge="1">
                  <a:txBody>
                    <a:bodyPr/>
                    <a:lstStyle/>
                    <a:p>
                      <a:endParaRPr lang="el-GR"/>
                    </a:p>
                  </a:txBody>
                  <a:tcPr/>
                </a:tc>
                <a:tc hMerge="1">
                  <a:txBody>
                    <a:bodyPr/>
                    <a:lstStyle/>
                    <a:p>
                      <a:endParaRPr lang="el-GR"/>
                    </a:p>
                  </a:txBody>
                  <a:tcPr/>
                </a:tc>
                <a:tc hMerge="1">
                  <a:txBody>
                    <a:bodyPr/>
                    <a:lstStyle/>
                    <a:p>
                      <a:endParaRPr lang="el-GR"/>
                    </a:p>
                  </a:txBody>
                  <a:tcPr/>
                </a:tc>
                <a:extLst>
                  <a:ext uri="{0D108BD9-81ED-4DB2-BD59-A6C34878D82A}">
                    <a16:rowId xmlns:a16="http://schemas.microsoft.com/office/drawing/2014/main" val="2841219075"/>
                  </a:ext>
                </a:extLst>
              </a:tr>
              <a:tr h="190500">
                <a:tc>
                  <a:txBody>
                    <a:bodyPr/>
                    <a:lstStyle/>
                    <a:p>
                      <a:pPr algn="l" fontAlgn="b"/>
                      <a:r>
                        <a:rPr lang="el-GR" sz="1000" u="none" strike="noStrike">
                          <a:effectLst/>
                        </a:rPr>
                        <a:t> </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Model Size</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Accuracy</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F1</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Precision</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Recall</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Accuracy</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F1</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Precision</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Recall</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Accuracy</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F1</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a:effectLst/>
                        </a:rPr>
                        <a:t>Precision</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b="1" u="none" strike="noStrike" dirty="0">
                          <a:effectLst/>
                        </a:rPr>
                        <a:t>Recall</a:t>
                      </a:r>
                      <a:endParaRPr lang="en-US" sz="10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344516966"/>
                  </a:ext>
                </a:extLst>
              </a:tr>
              <a:tr h="190500">
                <a:tc>
                  <a:txBody>
                    <a:bodyPr/>
                    <a:lstStyle/>
                    <a:p>
                      <a:pPr algn="l" rtl="0" fontAlgn="b"/>
                      <a:r>
                        <a:rPr lang="en-US" sz="1000" b="1" u="none" strike="noStrike">
                          <a:effectLst/>
                        </a:rPr>
                        <a:t>CNN 1</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294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0,895</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0,896</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0,896</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0,895</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2521177814"/>
                  </a:ext>
                </a:extLst>
              </a:tr>
              <a:tr h="190500">
                <a:tc>
                  <a:txBody>
                    <a:bodyPr/>
                    <a:lstStyle/>
                    <a:p>
                      <a:pPr algn="l" rtl="0" fontAlgn="b"/>
                      <a:r>
                        <a:rPr lang="en-US" sz="1000" b="1" u="none" strike="noStrike">
                          <a:effectLst/>
                        </a:rPr>
                        <a:t>CNN 2</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589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0,677</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0,655</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0,681</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0,677</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3389632660"/>
                  </a:ext>
                </a:extLst>
              </a:tr>
              <a:tr h="190500">
                <a:tc>
                  <a:txBody>
                    <a:bodyPr/>
                    <a:lstStyle/>
                    <a:p>
                      <a:pPr algn="l" rtl="0" fontAlgn="b"/>
                      <a:r>
                        <a:rPr lang="en-US" sz="1000" b="1" u="none" strike="noStrike">
                          <a:effectLst/>
                        </a:rPr>
                        <a:t>CNN 3</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dirty="0">
                          <a:effectLst/>
                        </a:rPr>
                        <a:t>1,9 MB</a:t>
                      </a:r>
                      <a:endParaRPr lang="en-US"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0,796</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0,779</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0,836</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0,796</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3586145281"/>
                  </a:ext>
                </a:extLst>
              </a:tr>
              <a:tr h="190500">
                <a:tc>
                  <a:txBody>
                    <a:bodyPr/>
                    <a:lstStyle/>
                    <a:p>
                      <a:pPr algn="l" rtl="0" fontAlgn="b"/>
                      <a:r>
                        <a:rPr lang="en-US" sz="1000" b="1" u="none" strike="noStrike">
                          <a:effectLst/>
                        </a:rPr>
                        <a:t>CNN 4</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294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0,83</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0,83</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0,83</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0,83</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4072254260"/>
                  </a:ext>
                </a:extLst>
              </a:tr>
              <a:tr h="190500">
                <a:tc>
                  <a:txBody>
                    <a:bodyPr/>
                    <a:lstStyle/>
                    <a:p>
                      <a:pPr algn="l" rtl="0" fontAlgn="b"/>
                      <a:r>
                        <a:rPr lang="en-US" sz="1000" b="1" u="none" strike="noStrike">
                          <a:effectLst/>
                        </a:rPr>
                        <a:t>CNN 5</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294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0,859</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0,856</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0,861</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0,859</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1075008718"/>
                  </a:ext>
                </a:extLst>
              </a:tr>
              <a:tr h="190500">
                <a:tc>
                  <a:txBody>
                    <a:bodyPr/>
                    <a:lstStyle/>
                    <a:p>
                      <a:pPr algn="l" rtl="0" fontAlgn="b"/>
                      <a:r>
                        <a:rPr lang="en-US" sz="1000" b="1" u="none" strike="noStrike">
                          <a:effectLst/>
                        </a:rPr>
                        <a:t>CNN 6</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2,31 GB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0,924</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0,924</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a:effectLst/>
                        </a:rPr>
                        <a:t>0,925</a:t>
                      </a:r>
                      <a:endParaRPr lang="el-GR"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0,924</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0,937</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0,936</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0,939</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0,937</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0,733</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0,731</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0,736</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0,733</a:t>
                      </a:r>
                      <a:endParaRPr lang="el-GR" sz="1000" u="none" strike="noStrike" kern="1200" dirty="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1602640938"/>
                  </a:ext>
                </a:extLst>
              </a:tr>
              <a:tr h="1905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1" u="none" strike="noStrike" dirty="0">
                          <a:effectLst/>
                        </a:rPr>
                        <a:t>Multibranch CNN</a:t>
                      </a:r>
                      <a:endParaRPr lang="en-US" sz="1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3,2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0,775</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0,776</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0,780</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0,775</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rtl="0"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2527709045"/>
                  </a:ext>
                </a:extLst>
              </a:tr>
              <a:tr h="1905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1" u="none" strike="noStrike" dirty="0">
                          <a:effectLst/>
                        </a:rPr>
                        <a:t>Multiscale CNN</a:t>
                      </a:r>
                      <a:endParaRPr lang="en-US" sz="1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2,7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0,837</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0,836</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0,837</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0,837</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l" fontAlgn="b"/>
                      <a:endParaRPr lang="el-GR" sz="1000" u="none" strike="noStrike" kern="1200">
                        <a:solidFill>
                          <a:schemeClr val="dk1"/>
                        </a:solidFill>
                        <a:effectLst/>
                        <a:latin typeface="+mn-lt"/>
                        <a:ea typeface="+mn-ea"/>
                        <a:cs typeface="+mn-cs"/>
                      </a:endParaRPr>
                    </a:p>
                  </a:txBody>
                  <a:tcPr marL="7620" marR="7620" marT="7620" marB="0" anchor="b"/>
                </a:tc>
                <a:tc>
                  <a:txBody>
                    <a:bodyPr/>
                    <a:lstStyle/>
                    <a:p>
                      <a:pPr algn="l" rtl="0" fontAlgn="b"/>
                      <a:endParaRPr lang="el-GR" sz="1000" u="none" strike="noStrike" kern="120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4153547070"/>
                  </a:ext>
                </a:extLst>
              </a:tr>
              <a:tr h="190500">
                <a:tc>
                  <a:txBody>
                    <a:bodyPr/>
                    <a:lstStyle/>
                    <a:p>
                      <a:pPr algn="l" rtl="0" fontAlgn="b"/>
                      <a:r>
                        <a:rPr lang="en-US" sz="1000" b="1" u="none" strike="noStrike">
                          <a:effectLst/>
                        </a:rPr>
                        <a:t>VGG16</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57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0,90</a:t>
                      </a:r>
                      <a:r>
                        <a:rPr lang="en-US" sz="1000" u="none" strike="noStrike" dirty="0">
                          <a:effectLst/>
                        </a:rPr>
                        <a:t>6</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0,90</a:t>
                      </a:r>
                      <a:r>
                        <a:rPr lang="en-US" sz="1000" u="none" strike="noStrike" dirty="0">
                          <a:effectLst/>
                        </a:rPr>
                        <a:t>6</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0,90</a:t>
                      </a:r>
                      <a:r>
                        <a:rPr lang="en-US" sz="1000" u="none" strike="noStrike" dirty="0">
                          <a:effectLst/>
                        </a:rPr>
                        <a:t>7</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0,90</a:t>
                      </a:r>
                      <a:r>
                        <a:rPr lang="en-US" sz="1000" u="none" strike="noStrike" dirty="0">
                          <a:effectLst/>
                        </a:rPr>
                        <a:t>6</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0,916</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0,914</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0,916</a:t>
                      </a: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0,915</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0,910</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0,910</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0,911</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0,910</a:t>
                      </a:r>
                      <a:endParaRPr lang="el-GR" sz="1000" u="none" strike="noStrike" kern="1200" dirty="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2567374424"/>
                  </a:ext>
                </a:extLst>
              </a:tr>
              <a:tr h="190500">
                <a:tc>
                  <a:txBody>
                    <a:bodyPr/>
                    <a:lstStyle/>
                    <a:p>
                      <a:pPr algn="l" rtl="0" fontAlgn="b"/>
                      <a:r>
                        <a:rPr lang="en-US" sz="1000" b="1" u="none" strike="noStrike">
                          <a:effectLst/>
                        </a:rPr>
                        <a:t>ResNet-50</a:t>
                      </a:r>
                      <a:endParaRPr lang="en-US" sz="1000" b="1" i="0" u="none" strike="noStrike">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96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a:t>
                      </a:r>
                      <a:r>
                        <a:rPr lang="en-US" sz="1000" u="none" strike="noStrike" dirty="0">
                          <a:effectLst/>
                        </a:rPr>
                        <a:t>745</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a:t>
                      </a:r>
                      <a:r>
                        <a:rPr lang="en-US" sz="1000" u="none" strike="noStrike" dirty="0">
                          <a:effectLst/>
                        </a:rPr>
                        <a:t>745</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a:t>
                      </a:r>
                      <a:r>
                        <a:rPr lang="en-US" sz="1000" u="none" strike="noStrike" dirty="0">
                          <a:effectLst/>
                        </a:rPr>
                        <a:t>745</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a:t>
                      </a:r>
                      <a:r>
                        <a:rPr lang="en-US" sz="1000" u="none" strike="noStrike" dirty="0">
                          <a:effectLst/>
                        </a:rPr>
                        <a:t>745</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0,656</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0,658</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0,666</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0,656</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0,643</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0,642</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0,650</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0,643</a:t>
                      </a:r>
                      <a:endParaRPr lang="el-GR" sz="1000" u="none" strike="noStrike" kern="1200" dirty="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2497426550"/>
                  </a:ext>
                </a:extLst>
              </a:tr>
              <a:tr h="190500">
                <a:tc>
                  <a:txBody>
                    <a:bodyPr/>
                    <a:lstStyle/>
                    <a:p>
                      <a:pPr algn="l" rtl="0" fontAlgn="b"/>
                      <a:r>
                        <a:rPr lang="en-US" sz="1000" b="1" u="none" strike="noStrike" dirty="0">
                          <a:effectLst/>
                        </a:rPr>
                        <a:t>InceptionV3</a:t>
                      </a:r>
                      <a:endParaRPr lang="en-US" sz="10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rtl="0" fontAlgn="b"/>
                      <a:r>
                        <a:rPr lang="en-US" sz="1000" u="none" strike="noStrike">
                          <a:effectLst/>
                        </a:rPr>
                        <a:t>86 MB</a:t>
                      </a:r>
                      <a:endParaRPr lang="en-US" sz="1000" b="0" i="0" u="none" strike="noStrike">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a:t>
                      </a:r>
                      <a:r>
                        <a:rPr lang="en-US" sz="1000" u="none" strike="noStrike" dirty="0">
                          <a:effectLst/>
                        </a:rPr>
                        <a:t>968</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a:t>
                      </a:r>
                      <a:r>
                        <a:rPr lang="en-US" sz="1000" u="none" strike="noStrike" dirty="0">
                          <a:effectLst/>
                        </a:rPr>
                        <a:t>68</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a:t>
                      </a:r>
                      <a:r>
                        <a:rPr lang="en-US" sz="1000" u="none" strike="noStrike" dirty="0">
                          <a:effectLst/>
                        </a:rPr>
                        <a:t>68</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l-GR" sz="1000" u="none" strike="noStrike" dirty="0">
                          <a:effectLst/>
                        </a:rPr>
                        <a:t>0,9</a:t>
                      </a:r>
                      <a:r>
                        <a:rPr lang="en-US" sz="1000" u="none" strike="noStrike" dirty="0">
                          <a:effectLst/>
                        </a:rPr>
                        <a:t>68</a:t>
                      </a:r>
                      <a:endParaRPr lang="el-GR" sz="1000" b="0" i="0" u="none" strike="noStrike" dirty="0">
                        <a:solidFill>
                          <a:srgbClr val="000000"/>
                        </a:solidFill>
                        <a:effectLst/>
                        <a:latin typeface="Calibri" panose="020F0502020204030204" pitchFamily="34" charset="0"/>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0,939</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0,939</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0,941</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0,939</a:t>
                      </a: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0,847</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0,843</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0,849</a:t>
                      </a:r>
                      <a:endParaRPr lang="el-GR" sz="1000" u="none" strike="noStrike" kern="1200" dirty="0">
                        <a:solidFill>
                          <a:schemeClr val="dk1"/>
                        </a:solidFill>
                        <a:effectLst/>
                        <a:latin typeface="+mn-lt"/>
                        <a:ea typeface="+mn-ea"/>
                        <a:cs typeface="+mn-cs"/>
                      </a:endParaRPr>
                    </a:p>
                  </a:txBody>
                  <a:tcPr marL="7620" marR="7620" marT="7620" marB="0" anchor="b"/>
                </a:tc>
                <a:tc>
                  <a:txBody>
                    <a:bodyPr/>
                    <a:lstStyle/>
                    <a:p>
                      <a:pPr algn="r" rtl="0" fontAlgn="b"/>
                      <a:r>
                        <a:rPr lang="en-US" sz="1000" u="none" strike="noStrike" kern="1200" dirty="0">
                          <a:solidFill>
                            <a:schemeClr val="dk1"/>
                          </a:solidFill>
                          <a:effectLst/>
                          <a:latin typeface="+mn-lt"/>
                          <a:ea typeface="+mn-ea"/>
                          <a:cs typeface="+mn-cs"/>
                        </a:rPr>
                        <a:t>0,847</a:t>
                      </a:r>
                      <a:endParaRPr lang="el-GR" sz="1000" u="none" strike="noStrike" kern="1200" dirty="0">
                        <a:solidFill>
                          <a:schemeClr val="dk1"/>
                        </a:solidFill>
                        <a:effectLst/>
                        <a:latin typeface="+mn-lt"/>
                        <a:ea typeface="+mn-ea"/>
                        <a:cs typeface="+mn-cs"/>
                      </a:endParaRPr>
                    </a:p>
                  </a:txBody>
                  <a:tcPr marL="7620" marR="7620" marT="7620" marB="0" anchor="b"/>
                </a:tc>
                <a:extLst>
                  <a:ext uri="{0D108BD9-81ED-4DB2-BD59-A6C34878D82A}">
                    <a16:rowId xmlns:a16="http://schemas.microsoft.com/office/drawing/2014/main" val="3557173493"/>
                  </a:ext>
                </a:extLst>
              </a:tr>
            </a:tbl>
          </a:graphicData>
        </a:graphic>
      </p:graphicFrame>
    </p:spTree>
    <p:extLst>
      <p:ext uri="{BB962C8B-B14F-4D97-AF65-F5344CB8AC3E}">
        <p14:creationId xmlns:p14="http://schemas.microsoft.com/office/powerpoint/2010/main" val="1452265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Graphic 6" descr="Help">
            <a:extLst>
              <a:ext uri="{FF2B5EF4-FFF2-40B4-BE49-F238E27FC236}">
                <a16:creationId xmlns:a16="http://schemas.microsoft.com/office/drawing/2014/main" id="{EA79FB38-D1A1-3371-BAAE-40F23CCEDAB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734217" y="2652107"/>
            <a:ext cx="1553785" cy="1553785"/>
          </a:xfrm>
          <a:prstGeom prst="rect">
            <a:avLst/>
          </a:prstGeom>
        </p:spPr>
      </p:pic>
      <p:sp>
        <p:nvSpPr>
          <p:cNvPr id="3" name="Content Placeholder 2">
            <a:extLst>
              <a:ext uri="{FF2B5EF4-FFF2-40B4-BE49-F238E27FC236}">
                <a16:creationId xmlns:a16="http://schemas.microsoft.com/office/drawing/2014/main" id="{3DA8BE34-BAEA-3750-2F00-C60ADE403396}"/>
              </a:ext>
            </a:extLst>
          </p:cNvPr>
          <p:cNvSpPr>
            <a:spLocks noGrp="1"/>
          </p:cNvSpPr>
          <p:nvPr>
            <p:ph idx="1"/>
          </p:nvPr>
        </p:nvSpPr>
        <p:spPr>
          <a:xfrm>
            <a:off x="4926221" y="1707701"/>
            <a:ext cx="1169779" cy="532892"/>
          </a:xfrm>
        </p:spPr>
        <p:txBody>
          <a:bodyPr>
            <a:noAutofit/>
          </a:bodyPr>
          <a:lstStyle/>
          <a:p>
            <a:pPr marL="0" indent="0">
              <a:buNone/>
            </a:pPr>
            <a:r>
              <a:rPr lang="en-US" sz="2800" b="1" dirty="0">
                <a:latin typeface="Calibri" panose="020F0502020204030204" pitchFamily="34" charset="0"/>
                <a:ea typeface="Calibri" panose="020F0502020204030204" pitchFamily="34" charset="0"/>
                <a:cs typeface="Calibri" panose="020F0502020204030204" pitchFamily="34" charset="0"/>
              </a:rPr>
              <a:t>Q &amp; A</a:t>
            </a:r>
            <a:endParaRPr lang="el-GR" sz="2800" b="1" dirty="0">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F94331BF-C6FE-7A77-F0A5-1DBF573812F7}"/>
              </a:ext>
            </a:extLst>
          </p:cNvPr>
          <p:cNvSpPr txBox="1"/>
          <p:nvPr/>
        </p:nvSpPr>
        <p:spPr>
          <a:xfrm>
            <a:off x="4438650" y="1029199"/>
            <a:ext cx="2374900" cy="584775"/>
          </a:xfrm>
          <a:prstGeom prst="rect">
            <a:avLst/>
          </a:prstGeom>
          <a:noFill/>
        </p:spPr>
        <p:txBody>
          <a:bodyPr wrap="square" rtlCol="0">
            <a:spAutoFit/>
          </a:bodyPr>
          <a:lstStyle/>
          <a:p>
            <a:r>
              <a:rPr lang="en-US" sz="3200" b="1" dirty="0">
                <a:latin typeface="Calibri" panose="020F0502020204030204" pitchFamily="34" charset="0"/>
                <a:ea typeface="Calibri" panose="020F0502020204030204" pitchFamily="34" charset="0"/>
                <a:cs typeface="Calibri" panose="020F0502020204030204" pitchFamily="34" charset="0"/>
              </a:rPr>
              <a:t>Thank You!</a:t>
            </a:r>
            <a:endParaRPr lang="el-GR" sz="3200" b="1" dirty="0">
              <a:latin typeface="Calibri" panose="020F0502020204030204" pitchFamily="34" charset="0"/>
              <a:ea typeface="Calibri" panose="020F0502020204030204" pitchFamily="34" charset="0"/>
              <a:cs typeface="Calibri" panose="020F0502020204030204" pitchFamily="34" charset="0"/>
            </a:endParaRPr>
          </a:p>
        </p:txBody>
      </p:sp>
      <p:sp>
        <p:nvSpPr>
          <p:cNvPr id="4" name="Footer Placeholder 3">
            <a:extLst>
              <a:ext uri="{FF2B5EF4-FFF2-40B4-BE49-F238E27FC236}">
                <a16:creationId xmlns:a16="http://schemas.microsoft.com/office/drawing/2014/main" id="{BD4AA722-7468-8563-65BE-6248FE0AAA17}"/>
              </a:ext>
            </a:extLst>
          </p:cNvPr>
          <p:cNvSpPr>
            <a:spLocks noGrp="1"/>
          </p:cNvSpPr>
          <p:nvPr>
            <p:ph type="ftr" sz="quarter" idx="11"/>
          </p:nvPr>
        </p:nvSpPr>
        <p:spPr/>
        <p:txBody>
          <a:bodyPr/>
          <a:lstStyle/>
          <a:p>
            <a:r>
              <a:rPr lang="en-US">
                <a:latin typeface="Calibri" panose="020F0502020204030204" pitchFamily="34" charset="0"/>
                <a:ea typeface="Calibri" panose="020F0502020204030204" pitchFamily="34" charset="0"/>
                <a:cs typeface="Calibri" panose="020F0502020204030204" pitchFamily="34" charset="0"/>
              </a:rPr>
              <a:t>MSc Artificial Intelligence &amp; Deep Learning</a:t>
            </a:r>
          </a:p>
        </p:txBody>
      </p:sp>
      <p:sp>
        <p:nvSpPr>
          <p:cNvPr id="5" name="Slide Number Placeholder 4">
            <a:extLst>
              <a:ext uri="{FF2B5EF4-FFF2-40B4-BE49-F238E27FC236}">
                <a16:creationId xmlns:a16="http://schemas.microsoft.com/office/drawing/2014/main" id="{9FD42705-6282-39A6-2FC8-DC4819E7027F}"/>
              </a:ext>
            </a:extLst>
          </p:cNvPr>
          <p:cNvSpPr>
            <a:spLocks noGrp="1"/>
          </p:cNvSpPr>
          <p:nvPr>
            <p:ph type="sldNum" sz="quarter" idx="12"/>
          </p:nvPr>
        </p:nvSpPr>
        <p:spPr/>
        <p:txBody>
          <a:bodyPr/>
          <a:lstStyle/>
          <a:p>
            <a:fld id="{148CC95F-0247-41B6-91CF-DC97C76A7088}" type="slidenum">
              <a:rPr lang="en-US" smtClean="0">
                <a:latin typeface="Calibri" panose="020F0502020204030204" pitchFamily="34" charset="0"/>
                <a:ea typeface="Calibri" panose="020F0502020204030204" pitchFamily="34" charset="0"/>
                <a:cs typeface="Calibri" panose="020F0502020204030204" pitchFamily="34" charset="0"/>
              </a:rPr>
              <a:t>16</a:t>
            </a:fld>
            <a:endParaRPr lang="en-US">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1557641"/>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4250</TotalTime>
  <Words>1971</Words>
  <Application>Microsoft Office PowerPoint</Application>
  <PresentationFormat>Widescreen</PresentationFormat>
  <Paragraphs>205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Bierstadt</vt:lpstr>
      <vt:lpstr>Calibri</vt:lpstr>
      <vt:lpstr>Consolas</vt:lpstr>
      <vt:lpstr>GestaltVTI</vt:lpstr>
      <vt:lpstr> Brain Cancer MRI classification  Thodoris Charos mscaidl-0077    AIDL_A_02 - Neural Networks and Deep Learning   </vt:lpstr>
      <vt:lpstr>Dataset details   Dataset comes from Kaggle and is free to use https://www.kaggle.com/datasets/orvile/brain-cancer-mri-dataset  It includes 6056 images, with size 512*512 pixels and it consists of 3 classes distributed as shown below:  brain_glioma 2004 (33,1%) brain_menin 2004 (33,1%) brain_tumor 2048 (33,8%)        Dataset owner Rahman, Md Mizanur (2024), “Brain Cancer - MRI dataset”, Mendeley Data, V1, doi: 10.17632/mk56jw9rns.1</vt:lpstr>
      <vt:lpstr>Data pre-processing  The dataset is split to Training (0.7)/Validation (0.15)/Testing (0.15) datasets respecting the initial class  distribution  Images are resized to 224*224 for faster training and less resource consumption  Pixel normalization is performed (from [0,255] to [0,1]  stable training, faster convergence), expect for transfer learning models that require [0,255] and I applied keras.applications.inception_v3.preprocess_input, keras.applications.vgg16.preprocess_input,  which scales to the expected input  Shuffle train/val datasets on loading for better training</vt:lpstr>
      <vt:lpstr>CNN1 (294 MB) Accuracy : 0.895 F1 Score : 0.896 Precision: 0.896 Recall   : 0.895  epochs = 30 lr = 1e-4  early_stop_cb = callbacks.EarlyStopping(monitor="val_accuracy", patience=5,         mode="max",         restore_best_weights=True)  reduce_lr_cb = callbacks.ReduceLROnPlateau(monitor='val_loss',factor=0.5,         patience=3,         min_lr=1e-6,         verbose=1) </vt:lpstr>
      <vt:lpstr>CNN6 (2,31 GB) Accuracy : 0.967 F1 Score : 0.967 Precision: 0.968 Recall   : 0.967  epochs = 30 lr = 1e-3  early_stop_cb = callbacks.EarlyStopping(monitor="val_accuracy",         patience=5, mode="max",         restore_best_weights=True)  reduce_lr_cb = callbacks.ReduceLROnPlateau(monitor='val_loss',         factor=0.5, patience=3,         min_lr=1e-6,         verbose=1) </vt:lpstr>
      <vt:lpstr>PowerPoint Presentation</vt:lpstr>
      <vt:lpstr>multiscale_cnn (3,2 MB)  Accuracy : 0.837 F1 Score : 0.836 Precision: 0.837 Recall   : 0.837  epochs = 20 lr = 1e-4  </vt:lpstr>
      <vt:lpstr>Transfer Learning Models</vt:lpstr>
      <vt:lpstr>VGG16 (57 MB)  Accuracy : 0.906 F1 Score : 0.906 Precision: 0.907 Recall   : 0.906  epochs = 20 lr = 1e-4</vt:lpstr>
      <vt:lpstr>Data Augmentation</vt:lpstr>
      <vt:lpstr>CNN6 Augmented  Accuracy : 0.937 F1 Score : 0.936 Precision: 0.939 Recall   : 0.937  epochs = 30 lr = 1e-3</vt:lpstr>
      <vt:lpstr>VGG16 Augmented  Accuracy : 0.915 F1 Score : 0.914 Precision: 0.916 Recall   : 0.915  epochs = 20 lr = 1e-4</vt:lpstr>
      <vt:lpstr>ResNet-50 Augmented  Accuracy : 0.656 F1 Score : 0.658 Precision: 0.666 Recall   : 0.656  epochs = 20 lr = 1e-4</vt:lpstr>
      <vt:lpstr>InceptionV3 Augmented  Accuracy : 0.939 F1 Score : 0.939 Precision: 0.941 Recall   : 0.939  epochs = 20 lr = 1e-4</vt:lpstr>
      <vt:lpstr>Conclusion In this project, we implemented and compared multiple custom CNN architectures and transfer learning models for brain tumor classification using MRI scans. The results demonstrate that:  Transfer learning outperforms most custom CNNs, with InceptionV3 achieving the highest performance (96% accuracy) even without augmentation. Moreover, transfer learning models have more stable train/val loss diagram, which results to better generalization. From the custom models multibranch_cnn and multiscale_cnn have also stable train/val loss diagrams. VGG16 performed well overall (90%), while ResNet-50 underperformed both in original and augmented versions, suggesting that this transfer model is not a good choice for this dataset or requires further fine-tuning.  Among the custom models, CNN6, achieved good results (92.4% accuracy) and improved with data augmentation (93.7%). In the majority of the custom models we see a minor overfitting issue (the “gap” in the accuracy plot), which means worst performance on unseen data.  Data augmentation techniques were expected to improve the results. Although the metrics remained high, they were slightly lower in comparison with the run on the initial data, with the exception of custom model CNN6. Moreover, due to the nature of the data, we can see that different data augmentation techniques affect the performance of the models. For example, with Configuration B all models have Training loss much higher than Validation loss which means that the models don’t learn from the training data.  The class that most models had difficulty to predict was brain_menin and the easiest was brain_tumor (based on confusion matrices).  When selecting a model for production usage several factors have to be taken into account, one of them is the model size. We might select a model with slightly “worse” metrics but with a significant smaller size. In our case InceptionV3 and CNN 6, which have similar metrics and confusion matrix results, but the size difference is huge.   </vt:lpstr>
      <vt:lpstr>PowerPoint Presentation</vt:lpstr>
    </vt:vector>
  </TitlesOfParts>
  <Company>OTE-COSMOTE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CNN1  </dc:title>
  <dc:creator>Charos Thodoris</dc:creator>
  <cp:lastModifiedBy>Charos Thodoris</cp:lastModifiedBy>
  <cp:revision>155</cp:revision>
  <dcterms:created xsi:type="dcterms:W3CDTF">2025-07-28T06:24:18Z</dcterms:created>
  <dcterms:modified xsi:type="dcterms:W3CDTF">2025-09-15T07:14:38Z</dcterms:modified>
</cp:coreProperties>
</file>