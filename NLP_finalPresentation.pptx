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
  </p:notesMasterIdLst>
  <p:handoutMasterIdLst>
    <p:handoutMasterId r:id="rId16"/>
  </p:handoutMasterIdLst>
  <p:sldIdLst>
    <p:sldId id="266" r:id="rId2"/>
    <p:sldId id="267" r:id="rId3"/>
    <p:sldId id="281" r:id="rId4"/>
    <p:sldId id="277" r:id="rId5"/>
    <p:sldId id="282" r:id="rId6"/>
    <p:sldId id="283" r:id="rId7"/>
    <p:sldId id="284" r:id="rId8"/>
    <p:sldId id="278" r:id="rId9"/>
    <p:sldId id="279" r:id="rId10"/>
    <p:sldId id="280" r:id="rId11"/>
    <p:sldId id="285" r:id="rId12"/>
    <p:sldId id="286" r:id="rId13"/>
    <p:sldId id="276" r:id="rId14"/>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F32047E5-66FF-4ED5-B921-DC1BEB7A9EB5}">
          <p14:sldIdLst>
            <p14:sldId id="266"/>
            <p14:sldId id="267"/>
            <p14:sldId id="281"/>
            <p14:sldId id="277"/>
            <p14:sldId id="282"/>
            <p14:sldId id="283"/>
            <p14:sldId id="284"/>
            <p14:sldId id="278"/>
            <p14:sldId id="279"/>
            <p14:sldId id="280"/>
            <p14:sldId id="285"/>
            <p14:sldId id="286"/>
            <p14:sldId id="27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notesView">
  <p:normalViewPr horzBarState="maximized">
    <p:restoredLeft sz="15266" autoAdjust="0"/>
    <p:restoredTop sz="94660" autoAdjust="0"/>
  </p:normalViewPr>
  <p:slideViewPr>
    <p:cSldViewPr snapToGrid="0">
      <p:cViewPr varScale="1">
        <p:scale>
          <a:sx n="109" d="100"/>
          <a:sy n="109" d="100"/>
        </p:scale>
        <p:origin x="576" y="108"/>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p:scale>
          <a:sx n="400" d="100"/>
          <a:sy n="400" d="100"/>
        </p:scale>
        <p:origin x="-3012" y="-702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EBC7C8E-6930-4EC6-0349-F4E1AD7318D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MSc Artificial Intelligence &amp; Deep Learning</a:t>
            </a:r>
            <a:endParaRPr lang="el-GR"/>
          </a:p>
        </p:txBody>
      </p:sp>
      <p:sp>
        <p:nvSpPr>
          <p:cNvPr id="3" name="Date Placeholder 2">
            <a:extLst>
              <a:ext uri="{FF2B5EF4-FFF2-40B4-BE49-F238E27FC236}">
                <a16:creationId xmlns:a16="http://schemas.microsoft.com/office/drawing/2014/main" id="{3594F36B-F8D4-20C2-0AA4-0A980DEEAE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AF42606-CFC7-4350-BF7D-F79705CBB3DF}" type="datetimeFigureOut">
              <a:rPr lang="el-GR" smtClean="0"/>
              <a:t>19/2/2026</a:t>
            </a:fld>
            <a:endParaRPr lang="el-GR"/>
          </a:p>
        </p:txBody>
      </p:sp>
      <p:sp>
        <p:nvSpPr>
          <p:cNvPr id="4" name="Footer Placeholder 3">
            <a:extLst>
              <a:ext uri="{FF2B5EF4-FFF2-40B4-BE49-F238E27FC236}">
                <a16:creationId xmlns:a16="http://schemas.microsoft.com/office/drawing/2014/main" id="{76D241F7-77E7-FBF1-D3F6-31151152B87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MSc Artificial Intelligence &amp; Deep Learning</a:t>
            </a:r>
            <a:endParaRPr lang="el-GR"/>
          </a:p>
        </p:txBody>
      </p:sp>
      <p:sp>
        <p:nvSpPr>
          <p:cNvPr id="5" name="Slide Number Placeholder 4">
            <a:extLst>
              <a:ext uri="{FF2B5EF4-FFF2-40B4-BE49-F238E27FC236}">
                <a16:creationId xmlns:a16="http://schemas.microsoft.com/office/drawing/2014/main" id="{18E5B911-6782-34D2-79C2-1971B69248C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0C228F3-D31F-40E4-8BF6-6669F66BD45C}" type="slidenum">
              <a:rPr lang="el-GR" smtClean="0"/>
              <a:t>‹#›</a:t>
            </a:fld>
            <a:endParaRPr lang="el-GR"/>
          </a:p>
        </p:txBody>
      </p:sp>
    </p:spTree>
    <p:extLst>
      <p:ext uri="{BB962C8B-B14F-4D97-AF65-F5344CB8AC3E}">
        <p14:creationId xmlns:p14="http://schemas.microsoft.com/office/powerpoint/2010/main" val="3206881408"/>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MSc Artificial Intelligence &amp; Deep Learning</a:t>
            </a:r>
            <a:endParaRPr lang="el-G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7D7115-7C26-4374-AB2C-A3EA9DC26E87}" type="datetimeFigureOut">
              <a:rPr lang="el-GR" smtClean="0"/>
              <a:t>19/2/2026</a:t>
            </a:fld>
            <a:endParaRPr lang="el-G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l-G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l-G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MSc Artificial Intelligence &amp; Deep Learning</a:t>
            </a:r>
            <a:endParaRPr lang="el-G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BA513B-9453-4206-8508-2E27295AE2EE}" type="slidenum">
              <a:rPr lang="el-GR" smtClean="0"/>
              <a:t>‹#›</a:t>
            </a:fld>
            <a:endParaRPr lang="el-GR"/>
          </a:p>
        </p:txBody>
      </p:sp>
    </p:spTree>
    <p:extLst>
      <p:ext uri="{BB962C8B-B14F-4D97-AF65-F5344CB8AC3E}">
        <p14:creationId xmlns:p14="http://schemas.microsoft.com/office/powerpoint/2010/main" val="2131194261"/>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l-GR"/>
          </a:p>
        </p:txBody>
      </p:sp>
    </p:spTree>
    <p:extLst>
      <p:ext uri="{BB962C8B-B14F-4D97-AF65-F5344CB8AC3E}">
        <p14:creationId xmlns:p14="http://schemas.microsoft.com/office/powerpoint/2010/main" val="10650213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800"/>
              </a:spcBef>
              <a:spcAft>
                <a:spcPts val="300"/>
              </a:spcAft>
            </a:pPr>
            <a:r>
              <a:rPr lang="el-GR" sz="1050" b="1" dirty="0" err="1">
                <a:solidFill>
                  <a:srgbClr val="404040"/>
                </a:solidFill>
                <a:effectLst/>
                <a:latin typeface="Arial" panose="020B0604020202020204" pitchFamily="34" charset="0"/>
              </a:rPr>
              <a:t>Text</a:t>
            </a:r>
            <a:r>
              <a:rPr lang="el-GR" sz="1050" b="1" dirty="0">
                <a:solidFill>
                  <a:srgbClr val="404040"/>
                </a:solidFill>
                <a:effectLst/>
                <a:latin typeface="Arial" panose="020B0604020202020204" pitchFamily="34" charset="0"/>
              </a:rPr>
              <a:t> </a:t>
            </a:r>
            <a:r>
              <a:rPr lang="el-GR" sz="1050" b="1" dirty="0" err="1">
                <a:solidFill>
                  <a:srgbClr val="404040"/>
                </a:solidFill>
                <a:effectLst/>
                <a:latin typeface="Arial" panose="020B0604020202020204" pitchFamily="34" charset="0"/>
              </a:rPr>
              <a:t>Preprocessing</a:t>
            </a:r>
            <a:endParaRPr lang="el-GR" sz="1050" b="1" dirty="0">
              <a:solidFill>
                <a:srgbClr val="404040"/>
              </a:solidFill>
              <a:effectLst/>
              <a:latin typeface="Arial" panose="020B0604020202020204" pitchFamily="34" charset="0"/>
            </a:endParaRPr>
          </a:p>
          <a:p>
            <a:pPr marL="342900" lvl="0" indent="-342900">
              <a:buFont typeface="Arial" panose="020B0604020202020204" pitchFamily="34" charset="0"/>
              <a:buChar char="•"/>
            </a:pPr>
            <a:r>
              <a:rPr lang="en-US" sz="1050" dirty="0">
                <a:effectLst/>
                <a:latin typeface="Arial" panose="020B0604020202020204" pitchFamily="34" charset="0"/>
                <a:ea typeface="Arial" panose="020B0604020202020204" pitchFamily="34" charset="0"/>
              </a:rPr>
              <a:t>Limits vocabulary to the top 10,000 most frequent words to minimize the parameters (10.000*100 = 1.000.000 parameters)</a:t>
            </a:r>
            <a:endParaRPr lang="el-GR" sz="1050" dirty="0">
              <a:effectLst/>
              <a:latin typeface="Arial" panose="020B0604020202020204" pitchFamily="34" charset="0"/>
              <a:ea typeface="Arial" panose="020B0604020202020204" pitchFamily="34" charset="0"/>
            </a:endParaRPr>
          </a:p>
          <a:p>
            <a:pPr marL="342900" lvl="0" indent="-342900">
              <a:buFont typeface="Arial" panose="020B0604020202020204" pitchFamily="34" charset="0"/>
              <a:buChar char="•"/>
            </a:pPr>
            <a:r>
              <a:rPr lang="en-US" sz="1050" dirty="0">
                <a:effectLst/>
                <a:latin typeface="Arial" panose="020B0604020202020204" pitchFamily="34" charset="0"/>
                <a:ea typeface="Arial" panose="020B0604020202020204" pitchFamily="34" charset="0"/>
              </a:rPr>
              <a:t>Tokenizes each sentence — converting words to integer IDs</a:t>
            </a:r>
          </a:p>
          <a:p>
            <a:pPr lvl="0"/>
            <a:r>
              <a:rPr lang="en-US" sz="1050" i="1" dirty="0">
                <a:effectLst/>
                <a:latin typeface="Arial" panose="020B0604020202020204" pitchFamily="34" charset="0"/>
                <a:ea typeface="Arial" panose="020B0604020202020204" pitchFamily="34" charset="0"/>
              </a:rPr>
              <a:t>They act as a lookup index. When the model sees the integer 42, it uses that as an index to retrieve row 42 from the embedding matrix</a:t>
            </a:r>
            <a:endParaRPr lang="el-GR" sz="1050" i="1" dirty="0">
              <a:effectLst/>
              <a:latin typeface="Arial" panose="020B0604020202020204" pitchFamily="34" charset="0"/>
              <a:ea typeface="Arial" panose="020B0604020202020204" pitchFamily="34" charset="0"/>
            </a:endParaRPr>
          </a:p>
          <a:p>
            <a:pPr marL="342900" lvl="0" indent="-342900">
              <a:buFont typeface="Arial" panose="020B0604020202020204" pitchFamily="34" charset="0"/>
              <a:buChar char="•"/>
            </a:pPr>
            <a:r>
              <a:rPr lang="en-US" sz="1050" dirty="0">
                <a:effectLst/>
                <a:latin typeface="Arial" panose="020B0604020202020204" pitchFamily="34" charset="0"/>
                <a:ea typeface="Arial" panose="020B0604020202020204" pitchFamily="34" charset="0"/>
              </a:rPr>
              <a:t>Pads or truncates every sequence to exactly 60 tokens so all inputs are the same length</a:t>
            </a:r>
          </a:p>
          <a:p>
            <a:pPr marL="342900" lvl="0" indent="-342900">
              <a:buFont typeface="Arial" panose="020B0604020202020204" pitchFamily="34" charset="0"/>
              <a:buChar char="•"/>
            </a:pPr>
            <a:endParaRPr lang="en-US" sz="1050" dirty="0">
              <a:latin typeface="Arial" panose="020B0604020202020204" pitchFamily="34" charset="0"/>
            </a:endParaRPr>
          </a:p>
          <a:p>
            <a:pPr lvl="0"/>
            <a:r>
              <a:rPr lang="en-US" sz="1050" dirty="0" err="1"/>
              <a:t>oov_token</a:t>
            </a:r>
            <a:r>
              <a:rPr lang="en-US" sz="1050" dirty="0"/>
              <a:t>="&lt;OOV&gt;" means any word not in the top 10,000 gets replaced with a special &lt;OOV&gt;</a:t>
            </a:r>
          </a:p>
          <a:p>
            <a:pPr lvl="0"/>
            <a:endParaRPr lang="en-US" sz="1050" dirty="0"/>
          </a:p>
          <a:p>
            <a:r>
              <a:rPr lang="el-GR" b="1" dirty="0" err="1">
                <a:solidFill>
                  <a:srgbClr val="000000"/>
                </a:solidFill>
                <a:effectLst/>
                <a:latin typeface="Arial" panose="020B0604020202020204" pitchFamily="34" charset="0"/>
                <a:ea typeface="Arial" panose="020B0604020202020204" pitchFamily="34" charset="0"/>
              </a:rPr>
              <a:t>Actual</a:t>
            </a:r>
            <a:r>
              <a:rPr lang="el-GR" b="1" dirty="0">
                <a:solidFill>
                  <a:srgbClr val="000000"/>
                </a:solidFill>
                <a:effectLst/>
                <a:latin typeface="Arial" panose="020B0604020202020204" pitchFamily="34" charset="0"/>
                <a:ea typeface="Arial" panose="020B0604020202020204" pitchFamily="34" charset="0"/>
              </a:rPr>
              <a:t>: </a:t>
            </a:r>
            <a:r>
              <a:rPr lang="el-GR" b="1" dirty="0" err="1">
                <a:solidFill>
                  <a:srgbClr val="000000"/>
                </a:solidFill>
                <a:effectLst/>
                <a:latin typeface="Arial" panose="020B0604020202020204" pitchFamily="34" charset="0"/>
                <a:ea typeface="Arial" panose="020B0604020202020204" pitchFamily="34" charset="0"/>
              </a:rPr>
              <a:t>Clean</a:t>
            </a:r>
            <a:endParaRPr lang="el-GR" dirty="0">
              <a:effectLst/>
              <a:latin typeface="Arial" panose="020B0604020202020204" pitchFamily="34" charset="0"/>
              <a:ea typeface="Arial" panose="020B0604020202020204" pitchFamily="34" charset="0"/>
            </a:endParaRPr>
          </a:p>
          <a:p>
            <a:r>
              <a:rPr lang="en-US" dirty="0">
                <a:solidFill>
                  <a:srgbClr val="000000"/>
                </a:solidFill>
                <a:effectLst/>
                <a:latin typeface="Arial" panose="020B0604020202020204" pitchFamily="34" charset="0"/>
                <a:ea typeface="Arial" panose="020B0604020202020204" pitchFamily="34" charset="0"/>
              </a:rPr>
              <a:t>True Negative (TN)</a:t>
            </a:r>
            <a:r>
              <a:rPr lang="en-US" dirty="0">
                <a:solidFill>
                  <a:srgbClr val="2E7D32"/>
                </a:solidFill>
                <a:effectLst/>
                <a:latin typeface="Arial" panose="020B0604020202020204" pitchFamily="34" charset="0"/>
                <a:ea typeface="Arial" panose="020B0604020202020204" pitchFamily="34" charset="0"/>
              </a:rPr>
              <a:t> Correctly said clean (1791)</a:t>
            </a:r>
            <a:endParaRPr lang="el-GR" dirty="0">
              <a:effectLst/>
              <a:latin typeface="Arial" panose="020B0604020202020204" pitchFamily="34" charset="0"/>
              <a:ea typeface="Arial" panose="020B0604020202020204" pitchFamily="34" charset="0"/>
            </a:endParaRPr>
          </a:p>
          <a:p>
            <a:r>
              <a:rPr lang="en-US" dirty="0">
                <a:solidFill>
                  <a:srgbClr val="000000"/>
                </a:solidFill>
                <a:effectLst/>
                <a:latin typeface="Arial" panose="020B0604020202020204" pitchFamily="34" charset="0"/>
                <a:ea typeface="Arial" panose="020B0604020202020204" pitchFamily="34" charset="0"/>
              </a:rPr>
              <a:t>False Positive (FP)</a:t>
            </a:r>
            <a:r>
              <a:rPr lang="en-US" dirty="0">
                <a:solidFill>
                  <a:srgbClr val="C62828"/>
                </a:solidFill>
                <a:effectLst/>
                <a:latin typeface="Arial" panose="020B0604020202020204" pitchFamily="34" charset="0"/>
                <a:ea typeface="Arial" panose="020B0604020202020204" pitchFamily="34" charset="0"/>
              </a:rPr>
              <a:t> Wrongly flagged as toxic (117)</a:t>
            </a:r>
            <a:endParaRPr lang="el-GR" dirty="0">
              <a:effectLst/>
              <a:latin typeface="Arial" panose="020B0604020202020204" pitchFamily="34" charset="0"/>
              <a:ea typeface="Arial" panose="020B0604020202020204" pitchFamily="34" charset="0"/>
            </a:endParaRPr>
          </a:p>
          <a:p>
            <a:r>
              <a:rPr lang="el-GR" b="1" dirty="0" err="1">
                <a:solidFill>
                  <a:srgbClr val="000000"/>
                </a:solidFill>
                <a:effectLst/>
                <a:latin typeface="Arial" panose="020B0604020202020204" pitchFamily="34" charset="0"/>
                <a:ea typeface="Arial" panose="020B0604020202020204" pitchFamily="34" charset="0"/>
              </a:rPr>
              <a:t>Actual</a:t>
            </a:r>
            <a:r>
              <a:rPr lang="el-GR" b="1" dirty="0">
                <a:solidFill>
                  <a:srgbClr val="000000"/>
                </a:solidFill>
                <a:effectLst/>
                <a:latin typeface="Arial" panose="020B0604020202020204" pitchFamily="34" charset="0"/>
                <a:ea typeface="Arial" panose="020B0604020202020204" pitchFamily="34" charset="0"/>
              </a:rPr>
              <a:t>: </a:t>
            </a:r>
            <a:r>
              <a:rPr lang="el-GR" b="1" dirty="0" err="1">
                <a:solidFill>
                  <a:srgbClr val="000000"/>
                </a:solidFill>
                <a:effectLst/>
                <a:latin typeface="Arial" panose="020B0604020202020204" pitchFamily="34" charset="0"/>
                <a:ea typeface="Arial" panose="020B0604020202020204" pitchFamily="34" charset="0"/>
              </a:rPr>
              <a:t>Toxic</a:t>
            </a:r>
            <a:endParaRPr lang="el-GR" dirty="0">
              <a:effectLst/>
              <a:latin typeface="Arial" panose="020B0604020202020204" pitchFamily="34" charset="0"/>
              <a:ea typeface="Arial" panose="020B0604020202020204" pitchFamily="34" charset="0"/>
            </a:endParaRPr>
          </a:p>
          <a:p>
            <a:r>
              <a:rPr lang="en-US" dirty="0">
                <a:solidFill>
                  <a:srgbClr val="000000"/>
                </a:solidFill>
                <a:effectLst/>
                <a:latin typeface="Arial" panose="020B0604020202020204" pitchFamily="34" charset="0"/>
                <a:ea typeface="Arial" panose="020B0604020202020204" pitchFamily="34" charset="0"/>
              </a:rPr>
              <a:t>False Negative (FN)</a:t>
            </a:r>
            <a:r>
              <a:rPr lang="en-US" dirty="0">
                <a:solidFill>
                  <a:srgbClr val="C62828"/>
                </a:solidFill>
                <a:effectLst/>
                <a:latin typeface="Arial" panose="020B0604020202020204" pitchFamily="34" charset="0"/>
                <a:ea typeface="Arial" panose="020B0604020202020204" pitchFamily="34" charset="0"/>
              </a:rPr>
              <a:t> Missed a toxic utterance (116)</a:t>
            </a:r>
            <a:endParaRPr lang="el-GR" dirty="0">
              <a:effectLst/>
              <a:latin typeface="Arial" panose="020B0604020202020204" pitchFamily="34" charset="0"/>
              <a:ea typeface="Arial" panose="020B0604020202020204" pitchFamily="34" charset="0"/>
            </a:endParaRPr>
          </a:p>
          <a:p>
            <a:r>
              <a:rPr lang="en-US" dirty="0">
                <a:solidFill>
                  <a:srgbClr val="000000"/>
                </a:solidFill>
                <a:effectLst/>
                <a:latin typeface="Arial" panose="020B0604020202020204" pitchFamily="34" charset="0"/>
                <a:ea typeface="Arial" panose="020B0604020202020204" pitchFamily="34" charset="0"/>
              </a:rPr>
              <a:t>True Positive (TP)</a:t>
            </a:r>
            <a:r>
              <a:rPr lang="en-US" dirty="0">
                <a:solidFill>
                  <a:srgbClr val="2E7D32"/>
                </a:solidFill>
                <a:effectLst/>
                <a:latin typeface="Arial" panose="020B0604020202020204" pitchFamily="34" charset="0"/>
                <a:ea typeface="Arial" panose="020B0604020202020204" pitchFamily="34" charset="0"/>
              </a:rPr>
              <a:t> Correctly caught as toxic (526)</a:t>
            </a:r>
            <a:endParaRPr lang="el-GR" sz="1800" dirty="0">
              <a:effectLst/>
              <a:latin typeface="Arial" panose="020B0604020202020204" pitchFamily="34" charset="0"/>
              <a:ea typeface="Arial" panose="020B0604020202020204" pitchFamily="34" charset="0"/>
            </a:endParaRPr>
          </a:p>
          <a:p>
            <a:pPr lvl="0"/>
            <a:endParaRPr lang="el-GR" sz="800" dirty="0"/>
          </a:p>
        </p:txBody>
      </p:sp>
    </p:spTree>
    <p:extLst>
      <p:ext uri="{BB962C8B-B14F-4D97-AF65-F5344CB8AC3E}">
        <p14:creationId xmlns:p14="http://schemas.microsoft.com/office/powerpoint/2010/main" val="42440087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sz="1200" dirty="0" err="1"/>
              <a:t>GloVe</a:t>
            </a:r>
            <a:r>
              <a:rPr lang="en-US" sz="1200" dirty="0"/>
              <a:t> embeddings are frozen during training</a:t>
            </a:r>
          </a:p>
          <a:p>
            <a:pPr lvl="0"/>
            <a:endParaRPr lang="en-US" dirty="0"/>
          </a:p>
          <a:p>
            <a:pPr lvl="0"/>
            <a:r>
              <a:rPr lang="en-US" sz="1200" dirty="0"/>
              <a:t>Probably the small change in F1 is due to the presence of slang, informal speech in the dataset, but </a:t>
            </a:r>
            <a:r>
              <a:rPr lang="en-US" sz="1200" dirty="0" err="1"/>
              <a:t>GloVe</a:t>
            </a:r>
            <a:r>
              <a:rPr lang="en-US" sz="1200" dirty="0"/>
              <a:t> was trained on more formal text.</a:t>
            </a:r>
          </a:p>
          <a:p>
            <a:pPr lvl="0"/>
            <a:endParaRPr lang="en-US" sz="1200" dirty="0"/>
          </a:p>
          <a:p>
            <a:r>
              <a:rPr lang="el-GR" b="1" dirty="0" err="1">
                <a:solidFill>
                  <a:srgbClr val="000000"/>
                </a:solidFill>
                <a:effectLst/>
                <a:latin typeface="Arial" panose="020B0604020202020204" pitchFamily="34" charset="0"/>
                <a:ea typeface="Arial" panose="020B0604020202020204" pitchFamily="34" charset="0"/>
              </a:rPr>
              <a:t>Actual</a:t>
            </a:r>
            <a:r>
              <a:rPr lang="el-GR" b="1" dirty="0">
                <a:solidFill>
                  <a:srgbClr val="000000"/>
                </a:solidFill>
                <a:effectLst/>
                <a:latin typeface="Arial" panose="020B0604020202020204" pitchFamily="34" charset="0"/>
                <a:ea typeface="Arial" panose="020B0604020202020204" pitchFamily="34" charset="0"/>
              </a:rPr>
              <a:t>: </a:t>
            </a:r>
            <a:r>
              <a:rPr lang="el-GR" b="1" dirty="0" err="1">
                <a:solidFill>
                  <a:srgbClr val="000000"/>
                </a:solidFill>
                <a:effectLst/>
                <a:latin typeface="Arial" panose="020B0604020202020204" pitchFamily="34" charset="0"/>
                <a:ea typeface="Arial" panose="020B0604020202020204" pitchFamily="34" charset="0"/>
              </a:rPr>
              <a:t>Clean</a:t>
            </a:r>
            <a:endParaRPr lang="el-GR" dirty="0">
              <a:effectLst/>
              <a:latin typeface="Arial" panose="020B0604020202020204" pitchFamily="34" charset="0"/>
              <a:ea typeface="Arial" panose="020B0604020202020204" pitchFamily="34" charset="0"/>
            </a:endParaRPr>
          </a:p>
          <a:p>
            <a:r>
              <a:rPr lang="en-US" dirty="0">
                <a:solidFill>
                  <a:srgbClr val="000000"/>
                </a:solidFill>
                <a:effectLst/>
                <a:latin typeface="Arial" panose="020B0604020202020204" pitchFamily="34" charset="0"/>
                <a:ea typeface="Arial" panose="020B0604020202020204" pitchFamily="34" charset="0"/>
              </a:rPr>
              <a:t>True Negative (TN)</a:t>
            </a:r>
            <a:r>
              <a:rPr lang="en-US" dirty="0">
                <a:solidFill>
                  <a:srgbClr val="2E7D32"/>
                </a:solidFill>
                <a:effectLst/>
                <a:latin typeface="Arial" panose="020B0604020202020204" pitchFamily="34" charset="0"/>
                <a:ea typeface="Arial" panose="020B0604020202020204" pitchFamily="34" charset="0"/>
              </a:rPr>
              <a:t> Correctly said clean (1826)</a:t>
            </a:r>
            <a:endParaRPr lang="el-GR" dirty="0">
              <a:effectLst/>
              <a:latin typeface="Arial" panose="020B0604020202020204" pitchFamily="34" charset="0"/>
              <a:ea typeface="Arial" panose="020B0604020202020204" pitchFamily="34" charset="0"/>
            </a:endParaRPr>
          </a:p>
          <a:p>
            <a:r>
              <a:rPr lang="en-US" dirty="0">
                <a:solidFill>
                  <a:srgbClr val="000000"/>
                </a:solidFill>
                <a:effectLst/>
                <a:latin typeface="Arial" panose="020B0604020202020204" pitchFamily="34" charset="0"/>
                <a:ea typeface="Arial" panose="020B0604020202020204" pitchFamily="34" charset="0"/>
              </a:rPr>
              <a:t>False Positive (FP)</a:t>
            </a:r>
            <a:r>
              <a:rPr lang="en-US" dirty="0">
                <a:solidFill>
                  <a:srgbClr val="C62828"/>
                </a:solidFill>
                <a:effectLst/>
                <a:latin typeface="Arial" panose="020B0604020202020204" pitchFamily="34" charset="0"/>
                <a:ea typeface="Arial" panose="020B0604020202020204" pitchFamily="34" charset="0"/>
              </a:rPr>
              <a:t> Wrongly flagged as toxic (82)</a:t>
            </a:r>
            <a:endParaRPr lang="el-GR" dirty="0">
              <a:effectLst/>
              <a:latin typeface="Arial" panose="020B0604020202020204" pitchFamily="34" charset="0"/>
              <a:ea typeface="Arial" panose="020B0604020202020204" pitchFamily="34" charset="0"/>
            </a:endParaRPr>
          </a:p>
          <a:p>
            <a:r>
              <a:rPr lang="el-GR" b="1" dirty="0" err="1">
                <a:solidFill>
                  <a:srgbClr val="000000"/>
                </a:solidFill>
                <a:effectLst/>
                <a:latin typeface="Arial" panose="020B0604020202020204" pitchFamily="34" charset="0"/>
                <a:ea typeface="Arial" panose="020B0604020202020204" pitchFamily="34" charset="0"/>
              </a:rPr>
              <a:t>Actual</a:t>
            </a:r>
            <a:r>
              <a:rPr lang="el-GR" b="1" dirty="0">
                <a:solidFill>
                  <a:srgbClr val="000000"/>
                </a:solidFill>
                <a:effectLst/>
                <a:latin typeface="Arial" panose="020B0604020202020204" pitchFamily="34" charset="0"/>
                <a:ea typeface="Arial" panose="020B0604020202020204" pitchFamily="34" charset="0"/>
              </a:rPr>
              <a:t>: </a:t>
            </a:r>
            <a:r>
              <a:rPr lang="el-GR" b="1" dirty="0" err="1">
                <a:solidFill>
                  <a:srgbClr val="000000"/>
                </a:solidFill>
                <a:effectLst/>
                <a:latin typeface="Arial" panose="020B0604020202020204" pitchFamily="34" charset="0"/>
                <a:ea typeface="Arial" panose="020B0604020202020204" pitchFamily="34" charset="0"/>
              </a:rPr>
              <a:t>Toxic</a:t>
            </a:r>
            <a:endParaRPr lang="el-GR" dirty="0">
              <a:effectLst/>
              <a:latin typeface="Arial" panose="020B0604020202020204" pitchFamily="34" charset="0"/>
              <a:ea typeface="Arial" panose="020B0604020202020204" pitchFamily="34" charset="0"/>
            </a:endParaRPr>
          </a:p>
          <a:p>
            <a:r>
              <a:rPr lang="en-US" dirty="0">
                <a:solidFill>
                  <a:srgbClr val="000000"/>
                </a:solidFill>
                <a:effectLst/>
                <a:latin typeface="Arial" panose="020B0604020202020204" pitchFamily="34" charset="0"/>
                <a:ea typeface="Arial" panose="020B0604020202020204" pitchFamily="34" charset="0"/>
              </a:rPr>
              <a:t>False Negative (FN)</a:t>
            </a:r>
            <a:r>
              <a:rPr lang="en-US" dirty="0">
                <a:solidFill>
                  <a:srgbClr val="C62828"/>
                </a:solidFill>
                <a:effectLst/>
                <a:latin typeface="Arial" panose="020B0604020202020204" pitchFamily="34" charset="0"/>
                <a:ea typeface="Arial" panose="020B0604020202020204" pitchFamily="34" charset="0"/>
              </a:rPr>
              <a:t> Missed a toxic utterance (136)</a:t>
            </a:r>
            <a:endParaRPr lang="el-GR" dirty="0">
              <a:effectLst/>
              <a:latin typeface="Arial" panose="020B0604020202020204" pitchFamily="34" charset="0"/>
              <a:ea typeface="Arial" panose="020B0604020202020204" pitchFamily="34" charset="0"/>
            </a:endParaRPr>
          </a:p>
          <a:p>
            <a:r>
              <a:rPr lang="en-US" dirty="0">
                <a:solidFill>
                  <a:srgbClr val="000000"/>
                </a:solidFill>
                <a:effectLst/>
                <a:latin typeface="Arial" panose="020B0604020202020204" pitchFamily="34" charset="0"/>
                <a:ea typeface="Arial" panose="020B0604020202020204" pitchFamily="34" charset="0"/>
              </a:rPr>
              <a:t>True Positive (TP)</a:t>
            </a:r>
            <a:r>
              <a:rPr lang="en-US" dirty="0">
                <a:solidFill>
                  <a:srgbClr val="2E7D32"/>
                </a:solidFill>
                <a:effectLst/>
                <a:latin typeface="Arial" panose="020B0604020202020204" pitchFamily="34" charset="0"/>
                <a:ea typeface="Arial" panose="020B0604020202020204" pitchFamily="34" charset="0"/>
              </a:rPr>
              <a:t> Correctly caught as toxic (506)</a:t>
            </a:r>
            <a:endParaRPr lang="el-GR" sz="2400" dirty="0">
              <a:effectLst/>
              <a:latin typeface="Arial" panose="020B0604020202020204" pitchFamily="34" charset="0"/>
              <a:ea typeface="Arial" panose="020B0604020202020204" pitchFamily="34" charset="0"/>
            </a:endParaRPr>
          </a:p>
          <a:p>
            <a:pPr lvl="0"/>
            <a:endParaRPr lang="el-GR" sz="1000" dirty="0"/>
          </a:p>
          <a:p>
            <a:endParaRPr lang="el-GR" dirty="0"/>
          </a:p>
        </p:txBody>
      </p:sp>
    </p:spTree>
    <p:extLst>
      <p:ext uri="{BB962C8B-B14F-4D97-AF65-F5344CB8AC3E}">
        <p14:creationId xmlns:p14="http://schemas.microsoft.com/office/powerpoint/2010/main" val="31663632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sz="800" dirty="0"/>
              <a:t>Preprocess the raw dataset to give pair of sentences to BERTs expected format, auto format is </a:t>
            </a:r>
            <a:r>
              <a:rPr lang="fr-FR" sz="800" i="1" dirty="0">
                <a:solidFill>
                  <a:srgbClr val="D3D7DE"/>
                </a:solidFill>
                <a:effectLst/>
              </a:rPr>
              <a:t>[</a:t>
            </a:r>
            <a:r>
              <a:rPr lang="fr-FR" sz="800" i="1" dirty="0"/>
              <a:t>CLS</a:t>
            </a:r>
            <a:r>
              <a:rPr lang="fr-FR" sz="800" i="1" dirty="0">
                <a:solidFill>
                  <a:srgbClr val="D3D7DE"/>
                </a:solidFill>
                <a:effectLst/>
              </a:rPr>
              <a:t>]</a:t>
            </a:r>
            <a:r>
              <a:rPr lang="fr-FR" sz="800" i="1" dirty="0"/>
              <a:t> sentence1 </a:t>
            </a:r>
            <a:r>
              <a:rPr lang="fr-FR" sz="800" i="1" dirty="0" err="1"/>
              <a:t>tokens</a:t>
            </a:r>
            <a:r>
              <a:rPr lang="fr-FR" sz="800" i="1" dirty="0"/>
              <a:t> </a:t>
            </a:r>
            <a:r>
              <a:rPr lang="fr-FR" sz="800" i="1" dirty="0">
                <a:solidFill>
                  <a:srgbClr val="D3D7DE"/>
                </a:solidFill>
                <a:effectLst/>
              </a:rPr>
              <a:t>[</a:t>
            </a:r>
            <a:r>
              <a:rPr lang="fr-FR" sz="800" i="1" dirty="0"/>
              <a:t>SEP</a:t>
            </a:r>
            <a:r>
              <a:rPr lang="fr-FR" sz="800" i="1" dirty="0">
                <a:solidFill>
                  <a:srgbClr val="D3D7DE"/>
                </a:solidFill>
                <a:effectLst/>
              </a:rPr>
              <a:t>]</a:t>
            </a:r>
            <a:r>
              <a:rPr lang="fr-FR" sz="800" i="1" dirty="0"/>
              <a:t> sentence2 </a:t>
            </a:r>
            <a:r>
              <a:rPr lang="fr-FR" sz="800" i="1" dirty="0" err="1"/>
              <a:t>tokens</a:t>
            </a:r>
            <a:r>
              <a:rPr lang="fr-FR" sz="800" i="1" dirty="0"/>
              <a:t> </a:t>
            </a:r>
            <a:r>
              <a:rPr lang="fr-FR" sz="800" i="1" dirty="0">
                <a:solidFill>
                  <a:srgbClr val="D3D7DE"/>
                </a:solidFill>
                <a:effectLst/>
              </a:rPr>
              <a:t>[</a:t>
            </a:r>
            <a:r>
              <a:rPr lang="fr-FR" sz="800" i="1" dirty="0"/>
              <a:t>SEP</a:t>
            </a:r>
            <a:r>
              <a:rPr lang="fr-FR" sz="800" i="1" dirty="0">
                <a:solidFill>
                  <a:srgbClr val="D3D7DE"/>
                </a:solidFill>
                <a:effectLst/>
              </a:rPr>
              <a:t>]</a:t>
            </a:r>
          </a:p>
          <a:p>
            <a:pPr marL="171450" indent="-171450">
              <a:buFont typeface="Arial" panose="020B0604020202020204" pitchFamily="34" charset="0"/>
              <a:buChar char="•"/>
            </a:pPr>
            <a:endParaRPr lang="fr-FR" sz="800" i="1" dirty="0">
              <a:solidFill>
                <a:srgbClr val="D3D7DE"/>
              </a:solidFill>
              <a:effectLst/>
            </a:endParaRPr>
          </a:p>
          <a:p>
            <a:r>
              <a:rPr lang="en-US" sz="800" i="1" dirty="0"/>
              <a:t>[CLS] at the start, signaling the beginning and “summary” position of the sentence.</a:t>
            </a:r>
          </a:p>
          <a:p>
            <a:r>
              <a:rPr lang="en-US" sz="800" i="1" dirty="0"/>
              <a:t>[SEP] to indicate the end of a single sentence or to separate two sentences in a pair.</a:t>
            </a:r>
          </a:p>
          <a:p>
            <a:endParaRPr lang="en-US" sz="800" i="1" dirty="0"/>
          </a:p>
          <a:p>
            <a:pPr marL="171450" indent="-171450">
              <a:buFont typeface="Arial" panose="020B0604020202020204" pitchFamily="34" charset="0"/>
              <a:buChar char="•"/>
            </a:pPr>
            <a:r>
              <a:rPr lang="en-US" sz="800" dirty="0"/>
              <a:t>We don’t train the model, we fine-tune them</a:t>
            </a:r>
          </a:p>
          <a:p>
            <a:pPr marL="171450" indent="-171450">
              <a:buFont typeface="Arial" panose="020B0604020202020204" pitchFamily="34" charset="0"/>
              <a:buChar char="•"/>
            </a:pPr>
            <a:r>
              <a:rPr lang="en-US" sz="800" dirty="0"/>
              <a:t>We use Pearson &amp; Spearman correlation because it is a continuous output task</a:t>
            </a:r>
          </a:p>
          <a:p>
            <a:r>
              <a:rPr lang="en-US" sz="800" i="1" dirty="0" err="1"/>
              <a:t>num_labels</a:t>
            </a:r>
            <a:r>
              <a:rPr lang="en-US" sz="800" i="1" dirty="0"/>
              <a:t>=1 is what tells it this is regression (one continuous output), not classification</a:t>
            </a:r>
          </a:p>
          <a:p>
            <a:pPr marL="171450" indent="-171450">
              <a:buFont typeface="Arial" panose="020B0604020202020204" pitchFamily="34" charset="0"/>
              <a:buChar char="•"/>
            </a:pPr>
            <a:endParaRPr lang="en-US" sz="800" dirty="0"/>
          </a:p>
          <a:p>
            <a:r>
              <a:rPr lang="en-US" sz="800" b="1" dirty="0"/>
              <a:t>Pearson</a:t>
            </a:r>
            <a:r>
              <a:rPr lang="en-US" sz="800" dirty="0"/>
              <a:t> — asks "are your predicted numbers close to the real numbers?"</a:t>
            </a:r>
          </a:p>
          <a:p>
            <a:r>
              <a:rPr lang="en-US" sz="800" dirty="0"/>
              <a:t>If the true score is 4.2 and you predict 4.1, that's great. If you predict 1.5, that's bad. Pearson cares about the actual values being accurate.</a:t>
            </a:r>
          </a:p>
          <a:p>
            <a:r>
              <a:rPr lang="en-US" sz="800" b="1" dirty="0"/>
              <a:t>Spearman</a:t>
            </a:r>
            <a:r>
              <a:rPr lang="en-US" sz="800" dirty="0"/>
              <a:t> — asks "even if your numbers are off, did you at least get the order right?"</a:t>
            </a:r>
          </a:p>
          <a:p>
            <a:r>
              <a:rPr lang="en-US" sz="800" dirty="0"/>
              <a:t>Imagine 3 sentence pairs with true scores 1.0, 3.0, 5.0 and you predict 1.5, 3.8, 4.9. Your numbers aren't perfect but you correctly identified that pair 3 is most similar, pair 2 is middle, pair 1 is least similar. Spearman would give you a high score for that.</a:t>
            </a:r>
          </a:p>
          <a:p>
            <a:r>
              <a:rPr lang="en-US" sz="800" b="1" dirty="0"/>
              <a:t>Why STS-B uses both:</a:t>
            </a:r>
            <a:r>
              <a:rPr lang="en-US" sz="800" dirty="0"/>
              <a:t> because sometimes you care about the exact score (is this pair a 4.5 or a 2.0?) and sometimes you just care about ranking (which pairs are most similar?). Both perspectives are valid, so reporting both gives a fuller picture of model quality.</a:t>
            </a:r>
          </a:p>
          <a:p>
            <a:endParaRPr lang="en-US" sz="1000" dirty="0"/>
          </a:p>
          <a:p>
            <a:r>
              <a:rPr lang="en-US" sz="900" dirty="0"/>
              <a:t>So the axes are not 'Toxic / Clean' but rather the rounded similarity score bins</a:t>
            </a:r>
          </a:p>
          <a:p>
            <a:r>
              <a:rPr lang="en-US" sz="900" dirty="0"/>
              <a:t>Diagonal </a:t>
            </a:r>
            <a:r>
              <a:rPr lang="en-US" sz="900" dirty="0">
                <a:sym typeface="Wingdings" panose="05000000000000000000" pitchFamily="2" charset="2"/>
              </a:rPr>
              <a:t> Correct predictions</a:t>
            </a:r>
          </a:p>
          <a:p>
            <a:r>
              <a:rPr lang="en-US" sz="900" dirty="0"/>
              <a:t>True Positive = 134 (predicted 2, actually 2) cell</a:t>
            </a:r>
          </a:p>
          <a:p>
            <a:r>
              <a:rPr lang="en-US" sz="900" dirty="0"/>
              <a:t>False Positive =7+67+69+15= (predicted 2, NOT 2) column</a:t>
            </a:r>
          </a:p>
          <a:p>
            <a:r>
              <a:rPr lang="en-US" sz="900" dirty="0"/>
              <a:t>False Negative = 5+46+67+18+3 (predicted NOT 2, actually 2) row</a:t>
            </a:r>
          </a:p>
          <a:p>
            <a:r>
              <a:rPr lang="en-US" sz="900" dirty="0"/>
              <a:t>True Negative = (everything else)</a:t>
            </a:r>
            <a:endParaRPr lang="el-GR" sz="900" dirty="0"/>
          </a:p>
          <a:p>
            <a:endParaRPr lang="el-GR" sz="1000" dirty="0"/>
          </a:p>
        </p:txBody>
      </p:sp>
    </p:spTree>
    <p:extLst>
      <p:ext uri="{BB962C8B-B14F-4D97-AF65-F5344CB8AC3E}">
        <p14:creationId xmlns:p14="http://schemas.microsoft.com/office/powerpoint/2010/main" val="28630179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sz="900" dirty="0"/>
              <a:t>Preprocess the raw dataset to give pair of sentences to BERTs expected format, auto format is </a:t>
            </a:r>
            <a:r>
              <a:rPr lang="fr-FR" sz="900" i="1" dirty="0">
                <a:solidFill>
                  <a:srgbClr val="D3D7DE"/>
                </a:solidFill>
                <a:effectLst/>
              </a:rPr>
              <a:t>[</a:t>
            </a:r>
            <a:r>
              <a:rPr lang="fr-FR" sz="900" i="1" dirty="0"/>
              <a:t>CLS</a:t>
            </a:r>
            <a:r>
              <a:rPr lang="fr-FR" sz="900" i="1" dirty="0">
                <a:solidFill>
                  <a:srgbClr val="D3D7DE"/>
                </a:solidFill>
                <a:effectLst/>
              </a:rPr>
              <a:t>]</a:t>
            </a:r>
            <a:r>
              <a:rPr lang="fr-FR" sz="900" i="1" dirty="0"/>
              <a:t> sentence1 </a:t>
            </a:r>
            <a:r>
              <a:rPr lang="fr-FR" sz="900" i="1" dirty="0" err="1"/>
              <a:t>tokens</a:t>
            </a:r>
            <a:r>
              <a:rPr lang="fr-FR" sz="900" i="1" dirty="0"/>
              <a:t> </a:t>
            </a:r>
            <a:r>
              <a:rPr lang="fr-FR" sz="900" i="1" dirty="0">
                <a:solidFill>
                  <a:srgbClr val="D3D7DE"/>
                </a:solidFill>
                <a:effectLst/>
              </a:rPr>
              <a:t>[</a:t>
            </a:r>
            <a:r>
              <a:rPr lang="fr-FR" sz="900" i="1" dirty="0"/>
              <a:t>SEP</a:t>
            </a:r>
            <a:r>
              <a:rPr lang="fr-FR" sz="900" i="1" dirty="0">
                <a:solidFill>
                  <a:srgbClr val="D3D7DE"/>
                </a:solidFill>
                <a:effectLst/>
              </a:rPr>
              <a:t>]</a:t>
            </a:r>
            <a:r>
              <a:rPr lang="fr-FR" sz="900" i="1" dirty="0"/>
              <a:t> sentence2 </a:t>
            </a:r>
            <a:r>
              <a:rPr lang="fr-FR" sz="900" i="1" dirty="0" err="1"/>
              <a:t>tokens</a:t>
            </a:r>
            <a:r>
              <a:rPr lang="fr-FR" sz="900" i="1" dirty="0"/>
              <a:t> </a:t>
            </a:r>
            <a:r>
              <a:rPr lang="fr-FR" sz="900" i="1" dirty="0">
                <a:solidFill>
                  <a:srgbClr val="D3D7DE"/>
                </a:solidFill>
                <a:effectLst/>
              </a:rPr>
              <a:t>[</a:t>
            </a:r>
            <a:r>
              <a:rPr lang="fr-FR" sz="900" i="1" dirty="0"/>
              <a:t>SEP</a:t>
            </a:r>
            <a:r>
              <a:rPr lang="fr-FR" sz="900" i="1" dirty="0">
                <a:solidFill>
                  <a:srgbClr val="D3D7DE"/>
                </a:solidFill>
                <a:effectLst/>
              </a:rPr>
              <a:t>]</a:t>
            </a:r>
          </a:p>
          <a:p>
            <a:pPr marL="171450" indent="-171450">
              <a:buFont typeface="Arial" panose="020B0604020202020204" pitchFamily="34" charset="0"/>
              <a:buChar char="•"/>
            </a:pPr>
            <a:r>
              <a:rPr lang="en-US" sz="900" dirty="0"/>
              <a:t>We don’t train the model, we fine-tune them</a:t>
            </a:r>
          </a:p>
          <a:p>
            <a:pPr marL="171450" indent="-171450">
              <a:buFont typeface="Arial" panose="020B0604020202020204" pitchFamily="34" charset="0"/>
              <a:buChar char="•"/>
            </a:pPr>
            <a:r>
              <a:rPr lang="en-US" sz="900" dirty="0"/>
              <a:t>We use Pearson &amp; Spearman correlation because it is a continuous output task</a:t>
            </a:r>
          </a:p>
          <a:p>
            <a:r>
              <a:rPr lang="en-US" sz="900" i="1" dirty="0" err="1"/>
              <a:t>num_labels</a:t>
            </a:r>
            <a:r>
              <a:rPr lang="en-US" sz="900" i="1" dirty="0"/>
              <a:t>=1 is what tells it this is regression (one continuous output), not classification</a:t>
            </a:r>
          </a:p>
          <a:p>
            <a:endParaRPr lang="en-US" sz="900" i="1" dirty="0"/>
          </a:p>
          <a:p>
            <a:r>
              <a:rPr lang="en-US" sz="900" b="1" dirty="0"/>
              <a:t>Pearson</a:t>
            </a:r>
            <a:r>
              <a:rPr lang="en-US" sz="900" dirty="0"/>
              <a:t> — asks "are your predicted numbers close to the real numbers?"</a:t>
            </a:r>
          </a:p>
          <a:p>
            <a:r>
              <a:rPr lang="en-US" sz="900" dirty="0"/>
              <a:t>If the true score is 4.2 and you predict 4.1, that's great. If you predict 1.5, that's bad. Pearson cares about the actual values being accurate.</a:t>
            </a:r>
          </a:p>
          <a:p>
            <a:r>
              <a:rPr lang="en-US" sz="900" b="1" dirty="0"/>
              <a:t>Spearman</a:t>
            </a:r>
            <a:r>
              <a:rPr lang="en-US" sz="900" dirty="0"/>
              <a:t> — asks "even if your numbers are off, did you at least get the order right?"</a:t>
            </a:r>
          </a:p>
          <a:p>
            <a:r>
              <a:rPr lang="en-US" sz="900" dirty="0"/>
              <a:t>Imagine 3 sentence pairs with true scores 1.0, 3.0, 5.0 and you predict 1.5, 3.8, 4.9. Your numbers aren't perfect but you correctly identified that pair 3 is most similar, pair 2 is middle, pair 1 is least similar. Spearman would give you a high score for that.</a:t>
            </a:r>
          </a:p>
          <a:p>
            <a:r>
              <a:rPr lang="en-US" sz="900" b="1" dirty="0"/>
              <a:t>Why STS-B uses both:</a:t>
            </a:r>
            <a:r>
              <a:rPr lang="en-US" sz="900" dirty="0"/>
              <a:t> because sometimes you care about the exact score (is this pair a 4.5 or a 2.0?) and sometimes you just care about ranking (which pairs are most similar?). Both perspectives are valid, so reporting both gives a fuller picture of model quality.</a:t>
            </a:r>
          </a:p>
          <a:p>
            <a:endParaRPr lang="en-US" sz="900" i="1" dirty="0"/>
          </a:p>
          <a:p>
            <a:r>
              <a:rPr lang="en-US" sz="900" dirty="0"/>
              <a:t>So the axes are not 'Toxic / Clean' but rather the rounded similarity score bins</a:t>
            </a:r>
          </a:p>
          <a:p>
            <a:r>
              <a:rPr lang="en-US" sz="900" dirty="0"/>
              <a:t>Diagonal </a:t>
            </a:r>
            <a:r>
              <a:rPr lang="en-US" sz="900" dirty="0">
                <a:sym typeface="Wingdings" panose="05000000000000000000" pitchFamily="2" charset="2"/>
              </a:rPr>
              <a:t> Correct predictions</a:t>
            </a:r>
          </a:p>
          <a:p>
            <a:r>
              <a:rPr lang="en-US" sz="900" dirty="0"/>
              <a:t>True Positive = 147 (predicted 2, actually 2) cell</a:t>
            </a:r>
          </a:p>
          <a:p>
            <a:r>
              <a:rPr lang="en-US" sz="900" dirty="0"/>
              <a:t>False Positive = 7+47+77+10 = (predicted 2, NOT 2) column</a:t>
            </a:r>
          </a:p>
          <a:p>
            <a:r>
              <a:rPr lang="en-US" sz="900" dirty="0"/>
              <a:t>False Negative = 6+43+61+15+1 (predicted NOT 2, actually 2) row</a:t>
            </a:r>
          </a:p>
          <a:p>
            <a:r>
              <a:rPr lang="en-US" sz="900" dirty="0"/>
              <a:t>True Negative = (everything else)</a:t>
            </a:r>
            <a:endParaRPr lang="el-GR" sz="900" dirty="0"/>
          </a:p>
        </p:txBody>
      </p:sp>
    </p:spTree>
    <p:extLst>
      <p:ext uri="{BB962C8B-B14F-4D97-AF65-F5344CB8AC3E}">
        <p14:creationId xmlns:p14="http://schemas.microsoft.com/office/powerpoint/2010/main" val="24399585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50"/>
            <a:ext cx="5486400" cy="3806190"/>
          </a:xfrm>
        </p:spPr>
        <p:txBody>
          <a:bodyPr/>
          <a:lstStyle/>
          <a:p>
            <a:pPr marL="171450" indent="-171450">
              <a:buFont typeface="Arial" panose="020B0604020202020204" pitchFamily="34" charset="0"/>
              <a:buChar char="•"/>
            </a:pPr>
            <a:r>
              <a:rPr lang="en-US" sz="900" dirty="0"/>
              <a:t>Preprocess the raw dataset to give pair of sentences to BERTs expected format, auto format is </a:t>
            </a:r>
            <a:r>
              <a:rPr lang="fr-FR" sz="900" i="1" dirty="0">
                <a:solidFill>
                  <a:srgbClr val="D3D7DE"/>
                </a:solidFill>
                <a:effectLst/>
              </a:rPr>
              <a:t>[</a:t>
            </a:r>
            <a:r>
              <a:rPr lang="fr-FR" sz="900" i="1" dirty="0"/>
              <a:t>CLS</a:t>
            </a:r>
            <a:r>
              <a:rPr lang="fr-FR" sz="900" i="1" dirty="0">
                <a:solidFill>
                  <a:srgbClr val="D3D7DE"/>
                </a:solidFill>
                <a:effectLst/>
              </a:rPr>
              <a:t>]</a:t>
            </a:r>
            <a:r>
              <a:rPr lang="fr-FR" sz="900" i="1" dirty="0"/>
              <a:t> sentence1 </a:t>
            </a:r>
            <a:r>
              <a:rPr lang="fr-FR" sz="900" i="1" dirty="0" err="1"/>
              <a:t>tokens</a:t>
            </a:r>
            <a:r>
              <a:rPr lang="fr-FR" sz="900" i="1" dirty="0"/>
              <a:t> </a:t>
            </a:r>
            <a:r>
              <a:rPr lang="fr-FR" sz="900" i="1" dirty="0">
                <a:solidFill>
                  <a:srgbClr val="D3D7DE"/>
                </a:solidFill>
                <a:effectLst/>
              </a:rPr>
              <a:t>[</a:t>
            </a:r>
            <a:r>
              <a:rPr lang="fr-FR" sz="900" i="1" dirty="0"/>
              <a:t>SEP</a:t>
            </a:r>
            <a:r>
              <a:rPr lang="fr-FR" sz="900" i="1" dirty="0">
                <a:solidFill>
                  <a:srgbClr val="D3D7DE"/>
                </a:solidFill>
                <a:effectLst/>
              </a:rPr>
              <a:t>]</a:t>
            </a:r>
            <a:r>
              <a:rPr lang="fr-FR" sz="900" i="1" dirty="0"/>
              <a:t> sentence2 </a:t>
            </a:r>
            <a:r>
              <a:rPr lang="fr-FR" sz="900" i="1" dirty="0" err="1"/>
              <a:t>tokens</a:t>
            </a:r>
            <a:r>
              <a:rPr lang="fr-FR" sz="900" i="1" dirty="0"/>
              <a:t> </a:t>
            </a:r>
            <a:r>
              <a:rPr lang="fr-FR" sz="900" i="1" dirty="0">
                <a:solidFill>
                  <a:srgbClr val="D3D7DE"/>
                </a:solidFill>
                <a:effectLst/>
              </a:rPr>
              <a:t>[</a:t>
            </a:r>
            <a:r>
              <a:rPr lang="fr-FR" sz="900" i="1" dirty="0"/>
              <a:t>SEP</a:t>
            </a:r>
            <a:r>
              <a:rPr lang="fr-FR" sz="900" i="1" dirty="0">
                <a:solidFill>
                  <a:srgbClr val="D3D7DE"/>
                </a:solidFill>
                <a:effectLst/>
              </a:rPr>
              <a:t>]</a:t>
            </a:r>
          </a:p>
          <a:p>
            <a:pPr marL="171450" indent="-171450">
              <a:buFont typeface="Arial" panose="020B0604020202020204" pitchFamily="34" charset="0"/>
              <a:buChar char="•"/>
            </a:pPr>
            <a:endParaRPr lang="fr-FR" sz="900" i="1" dirty="0">
              <a:solidFill>
                <a:srgbClr val="D3D7DE"/>
              </a:solidFill>
              <a:effectLst/>
            </a:endParaRPr>
          </a:p>
          <a:p>
            <a:r>
              <a:rPr lang="en-US" sz="900" i="1" dirty="0"/>
              <a:t>[CLS] at the start, signaling the beginning and “summary” position of the sentence.</a:t>
            </a:r>
          </a:p>
          <a:p>
            <a:r>
              <a:rPr lang="en-US" sz="900" i="1" dirty="0"/>
              <a:t>[SEP] to indicate the end of a single sentence or to separate two sentences in a pair.</a:t>
            </a:r>
          </a:p>
          <a:p>
            <a:endParaRPr lang="en-US" sz="900" i="1" dirty="0"/>
          </a:p>
          <a:p>
            <a:pPr marL="171450" indent="-171450">
              <a:buFont typeface="Arial" panose="020B0604020202020204" pitchFamily="34" charset="0"/>
              <a:buChar char="•"/>
            </a:pPr>
            <a:r>
              <a:rPr lang="en-US" sz="900" dirty="0"/>
              <a:t>We don’t train the model, we fine-tune them</a:t>
            </a:r>
          </a:p>
          <a:p>
            <a:pPr marL="171450" indent="-171450">
              <a:buFont typeface="Arial" panose="020B0604020202020204" pitchFamily="34" charset="0"/>
              <a:buChar char="•"/>
            </a:pPr>
            <a:r>
              <a:rPr lang="en-US" sz="900" dirty="0"/>
              <a:t>We use Pearson &amp; Spearman correlation because it is a continuous output task</a:t>
            </a:r>
          </a:p>
          <a:p>
            <a:r>
              <a:rPr lang="en-US" sz="900" i="1" dirty="0" err="1"/>
              <a:t>num_labels</a:t>
            </a:r>
            <a:r>
              <a:rPr lang="en-US" sz="900" i="1" dirty="0"/>
              <a:t>=1 is what tells it this is regression (one continuous output), not classification</a:t>
            </a:r>
          </a:p>
          <a:p>
            <a:endParaRPr lang="en-US" sz="900" i="1" dirty="0"/>
          </a:p>
          <a:p>
            <a:r>
              <a:rPr lang="en-US" sz="900" b="1" dirty="0"/>
              <a:t>Pearson</a:t>
            </a:r>
            <a:r>
              <a:rPr lang="en-US" sz="900" dirty="0"/>
              <a:t> — asks "are your predicted numbers close to the real numbers?"</a:t>
            </a:r>
          </a:p>
          <a:p>
            <a:r>
              <a:rPr lang="en-US" sz="900" dirty="0"/>
              <a:t>If the true score is 4.2 and you predict 4.1, that's great. If you predict 1.5, that's bad. Pearson cares about the actual values being accurate.</a:t>
            </a:r>
          </a:p>
          <a:p>
            <a:r>
              <a:rPr lang="en-US" sz="900" b="1" dirty="0"/>
              <a:t>Spearman</a:t>
            </a:r>
            <a:r>
              <a:rPr lang="en-US" sz="900" dirty="0"/>
              <a:t> — asks "even if your numbers are off, did you at least get the order right?"</a:t>
            </a:r>
          </a:p>
          <a:p>
            <a:r>
              <a:rPr lang="en-US" sz="900" dirty="0"/>
              <a:t>Imagine 3 sentence pairs with true scores 1.0, 3.0, 5.0 and you predict 1.5, 3.8, 4.9. Your numbers aren't perfect but you correctly identified that pair 3 is most similar, pair 2 is middle, pair 1 is least similar. Spearman would give you a high score for that.</a:t>
            </a:r>
          </a:p>
          <a:p>
            <a:r>
              <a:rPr lang="en-US" sz="900" b="1" dirty="0"/>
              <a:t>Why STS-B uses both:</a:t>
            </a:r>
            <a:r>
              <a:rPr lang="en-US" sz="900" dirty="0"/>
              <a:t> because sometimes you care about the exact score (is this pair a 4.5 or a 2.0?) and sometimes you just care about ranking (which pairs are most similar?). Both perspectives are valid, so reporting both gives a fuller picture of model quality.</a:t>
            </a:r>
          </a:p>
          <a:p>
            <a:endParaRPr lang="en-US" sz="900" i="1" dirty="0"/>
          </a:p>
          <a:p>
            <a:r>
              <a:rPr lang="en-US" sz="900" dirty="0"/>
              <a:t>So the axes are not 'Toxic / Clean' but rather the rounded similarity score bins</a:t>
            </a:r>
          </a:p>
          <a:p>
            <a:r>
              <a:rPr lang="en-US" sz="900" dirty="0"/>
              <a:t>Diagonal </a:t>
            </a:r>
            <a:r>
              <a:rPr lang="en-US" sz="900" dirty="0">
                <a:sym typeface="Wingdings" panose="05000000000000000000" pitchFamily="2" charset="2"/>
              </a:rPr>
              <a:t> Correct predictions</a:t>
            </a:r>
          </a:p>
          <a:p>
            <a:r>
              <a:rPr lang="en-US" sz="900" dirty="0"/>
              <a:t>True Positive = 144 (predicted 2, actually 2) cell</a:t>
            </a:r>
          </a:p>
          <a:p>
            <a:r>
              <a:rPr lang="en-US" sz="900" dirty="0"/>
              <a:t>False Positive = 6+34+95+13 = (predicted 2, NOT 2) column</a:t>
            </a:r>
          </a:p>
          <a:p>
            <a:r>
              <a:rPr lang="en-US" sz="900" dirty="0"/>
              <a:t>False Negative = 4+67+45+12+1 (predicted NOT 2, actually 2) row</a:t>
            </a:r>
          </a:p>
          <a:p>
            <a:r>
              <a:rPr lang="en-US" sz="900" dirty="0"/>
              <a:t>True Negative = (everything else)</a:t>
            </a:r>
            <a:endParaRPr lang="el-GR" sz="900" dirty="0"/>
          </a:p>
          <a:p>
            <a:endParaRPr lang="el-GR" sz="900" dirty="0"/>
          </a:p>
        </p:txBody>
      </p:sp>
    </p:spTree>
    <p:extLst>
      <p:ext uri="{BB962C8B-B14F-4D97-AF65-F5344CB8AC3E}">
        <p14:creationId xmlns:p14="http://schemas.microsoft.com/office/powerpoint/2010/main" val="3986174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00" b="1" dirty="0"/>
              <a:t>Pearson</a:t>
            </a:r>
            <a:r>
              <a:rPr lang="en-US" sz="1000" dirty="0"/>
              <a:t> — asks "are your predicted numbers close to the real numbers?"</a:t>
            </a:r>
          </a:p>
          <a:p>
            <a:r>
              <a:rPr lang="en-US" sz="1000" dirty="0"/>
              <a:t>If the true score is 4.2 and you predict 4.1, that's great. If you predict 1.5, that's bad. Pearson cares about the actual values being accurate.</a:t>
            </a:r>
          </a:p>
          <a:p>
            <a:r>
              <a:rPr lang="en-US" sz="1000" b="1" dirty="0"/>
              <a:t>Spearman</a:t>
            </a:r>
            <a:r>
              <a:rPr lang="en-US" sz="1000" dirty="0"/>
              <a:t> — asks "even if your numbers are off, did you at least get the order right?"</a:t>
            </a:r>
          </a:p>
          <a:p>
            <a:r>
              <a:rPr lang="en-US" sz="1000" dirty="0"/>
              <a:t>Imagine 3 sentence pairs with true scores 1.0, 3.0, 5.0 and you predict 1.5, 3.8, 4.9. Your numbers aren't perfect but you correctly identified that pair 3 is most similar, pair 2 is middle, pair 1 is least similar. Spearman would give you a high score for that.</a:t>
            </a:r>
          </a:p>
          <a:p>
            <a:endParaRPr lang="en-US" sz="1000" dirty="0"/>
          </a:p>
          <a:p>
            <a:endParaRPr lang="en-US" sz="1000" dirty="0"/>
          </a:p>
          <a:p>
            <a:r>
              <a:rPr lang="en-US" sz="1000" b="1" dirty="0"/>
              <a:t>Why STS-B uses both:</a:t>
            </a:r>
            <a:r>
              <a:rPr lang="en-US" sz="1000" dirty="0"/>
              <a:t> because sometimes you care about the exact score (is this pair a 4.5 or a 2.0?) and sometimes you just care about ranking (which pairs are most similar?). Both perspectives are valid, so reporting both gives a fuller picture of model quality.</a:t>
            </a:r>
          </a:p>
          <a:p>
            <a:endParaRPr lang="el-GR" dirty="0"/>
          </a:p>
        </p:txBody>
      </p:sp>
    </p:spTree>
    <p:extLst>
      <p:ext uri="{BB962C8B-B14F-4D97-AF65-F5344CB8AC3E}">
        <p14:creationId xmlns:p14="http://schemas.microsoft.com/office/powerpoint/2010/main" val="31119274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rgbClr val="1E293B"/>
                </a:solidFill>
                <a:latin typeface="Calibri" pitchFamily="34" charset="0"/>
                <a:ea typeface="Calibri" pitchFamily="34" charset="-122"/>
                <a:cs typeface="Calibri" pitchFamily="34" charset="-120"/>
              </a:rPr>
              <a:t>RAG = Retrieval-Augmented Generation: LLM answers from a real document, not just its training memory.</a:t>
            </a:r>
            <a:endParaRPr lang="en-US" sz="1200" dirty="0"/>
          </a:p>
          <a:p>
            <a:endParaRPr lang="el-GR" sz="1200" dirty="0">
              <a:solidFill>
                <a:srgbClr val="1E293B"/>
              </a:solidFill>
              <a:latin typeface="Calibri" pitchFamily="34" charset="0"/>
              <a:ea typeface="Calibri" pitchFamily="34" charset="-122"/>
              <a:cs typeface="Calibri" pitchFamily="34" charset="-120"/>
            </a:endParaRPr>
          </a:p>
          <a:p>
            <a:r>
              <a:rPr lang="en-US" sz="1200" dirty="0">
                <a:solidFill>
                  <a:srgbClr val="1E293B"/>
                </a:solidFill>
                <a:latin typeface="Calibri" pitchFamily="34" charset="0"/>
                <a:ea typeface="Calibri" pitchFamily="34" charset="-122"/>
                <a:cs typeface="Calibri" pitchFamily="34" charset="-120"/>
              </a:rPr>
              <a:t>PDF → split into 1,000-char overlapping chunks → embedded with all-MiniLM-L6-v2 (384-d vectors).</a:t>
            </a:r>
            <a:endParaRPr lang="en-US" sz="1200" dirty="0"/>
          </a:p>
          <a:p>
            <a:endParaRPr lang="el-GR" dirty="0"/>
          </a:p>
          <a:p>
            <a:r>
              <a:rPr lang="en-US" sz="1200" dirty="0">
                <a:solidFill>
                  <a:srgbClr val="1E293B"/>
                </a:solidFill>
                <a:latin typeface="Calibri" pitchFamily="34" charset="0"/>
                <a:ea typeface="Calibri" pitchFamily="34" charset="-122"/>
                <a:cs typeface="Calibri" pitchFamily="34" charset="-120"/>
              </a:rPr>
              <a:t>Query expansion: Llama-3.2 paraphrases the question 2× → 3 query versions searched in parallel.</a:t>
            </a:r>
            <a:endParaRPr lang="en-US" sz="1200" dirty="0"/>
          </a:p>
          <a:p>
            <a:endParaRPr lang="el-GR" dirty="0"/>
          </a:p>
          <a:p>
            <a:r>
              <a:rPr lang="en-US" sz="1200" dirty="0">
                <a:solidFill>
                  <a:srgbClr val="1E293B"/>
                </a:solidFill>
                <a:latin typeface="Calibri" pitchFamily="34" charset="0"/>
                <a:ea typeface="Calibri" pitchFamily="34" charset="-122"/>
                <a:cs typeface="Calibri" pitchFamily="34" charset="-120"/>
              </a:rPr>
              <a:t>Retrieval: cosine similarity against all chunk embeddings, threshold 0.3, top-3 unique chunks selected.</a:t>
            </a:r>
            <a:endParaRPr lang="en-US" sz="1200" dirty="0"/>
          </a:p>
          <a:p>
            <a:endParaRPr lang="el-GR" dirty="0"/>
          </a:p>
          <a:p>
            <a:endParaRPr lang="el-GR" dirty="0"/>
          </a:p>
          <a:p>
            <a:endParaRPr lang="el-GR" dirty="0"/>
          </a:p>
        </p:txBody>
      </p:sp>
    </p:spTree>
    <p:extLst>
      <p:ext uri="{BB962C8B-B14F-4D97-AF65-F5344CB8AC3E}">
        <p14:creationId xmlns:p14="http://schemas.microsoft.com/office/powerpoint/2010/main" val="20391098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l-GR" dirty="0"/>
          </a:p>
        </p:txBody>
      </p:sp>
    </p:spTree>
    <p:extLst>
      <p:ext uri="{BB962C8B-B14F-4D97-AF65-F5344CB8AC3E}">
        <p14:creationId xmlns:p14="http://schemas.microsoft.com/office/powerpoint/2010/main" val="924772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50" dirty="0"/>
              <a:t>DPO = Direct Preference Optimization (instead of Reinforced Learning Human Feedback)</a:t>
            </a:r>
          </a:p>
          <a:p>
            <a:endParaRPr lang="en-US" sz="1050" dirty="0"/>
          </a:p>
          <a:p>
            <a:pPr marL="0" indent="0">
              <a:buNone/>
            </a:pPr>
            <a:r>
              <a:rPr lang="en-US" sz="1050" dirty="0">
                <a:solidFill>
                  <a:srgbClr val="1E293B"/>
                </a:solidFill>
                <a:latin typeface="Calibri" pitchFamily="34" charset="0"/>
                <a:ea typeface="Calibri" pitchFamily="34" charset="-122"/>
                <a:cs typeface="Calibri" pitchFamily="34" charset="-120"/>
              </a:rPr>
              <a:t>Goal: make Llama-3.2-3B respond like Gordon Ramsay — aggressive, culinary metaphors, technically correct.</a:t>
            </a:r>
            <a:endParaRPr lang="en-US" sz="1050" dirty="0"/>
          </a:p>
          <a:p>
            <a:endParaRPr lang="en-US" sz="1050" dirty="0"/>
          </a:p>
          <a:p>
            <a:r>
              <a:rPr lang="en-US" sz="1050" dirty="0">
                <a:solidFill>
                  <a:srgbClr val="1E293B"/>
                </a:solidFill>
                <a:latin typeface="Calibri" pitchFamily="34" charset="0"/>
                <a:ea typeface="Calibri" pitchFamily="34" charset="-122"/>
                <a:cs typeface="Calibri" pitchFamily="34" charset="-120"/>
              </a:rPr>
              <a:t>Dataset: triplets of (Question, Polite answer = rejected, Ramsay answer = chosen). 500 train / 100 eval.</a:t>
            </a:r>
          </a:p>
          <a:p>
            <a:endParaRPr lang="en-US" sz="1050" dirty="0">
              <a:solidFill>
                <a:srgbClr val="1E293B"/>
              </a:solidFill>
              <a:latin typeface="Calibri" pitchFamily="34" charset="0"/>
              <a:ea typeface="Calibri" pitchFamily="34" charset="-122"/>
              <a:cs typeface="Calibri" pitchFamily="34" charset="-120"/>
            </a:endParaRPr>
          </a:p>
          <a:p>
            <a:r>
              <a:rPr lang="en-US" sz="1050" dirty="0" err="1">
                <a:solidFill>
                  <a:srgbClr val="1E293B"/>
                </a:solidFill>
                <a:latin typeface="Calibri" pitchFamily="34" charset="0"/>
                <a:ea typeface="Calibri" pitchFamily="34" charset="-122"/>
                <a:cs typeface="Calibri" pitchFamily="34" charset="-120"/>
              </a:rPr>
              <a:t>LoRA</a:t>
            </a:r>
            <a:r>
              <a:rPr lang="en-US" sz="1050" dirty="0">
                <a:solidFill>
                  <a:srgbClr val="1E293B"/>
                </a:solidFill>
                <a:latin typeface="Calibri" pitchFamily="34" charset="0"/>
                <a:ea typeface="Calibri" pitchFamily="34" charset="-122"/>
                <a:cs typeface="Calibri" pitchFamily="34" charset="-120"/>
              </a:rPr>
              <a:t>: attaches tiny trainable adapters (~1% of params) to attention layers. Base model stays frozen.</a:t>
            </a:r>
            <a:endParaRPr lang="en-US" sz="1050" dirty="0"/>
          </a:p>
          <a:p>
            <a:endParaRPr lang="en-US" sz="1050" dirty="0"/>
          </a:p>
          <a:p>
            <a:r>
              <a:rPr lang="en-US" sz="1050" dirty="0">
                <a:solidFill>
                  <a:srgbClr val="1E293B"/>
                </a:solidFill>
                <a:latin typeface="Calibri" pitchFamily="34" charset="0"/>
                <a:ea typeface="Calibri" pitchFamily="34" charset="-122"/>
                <a:cs typeface="Calibri" pitchFamily="34" charset="-120"/>
              </a:rPr>
              <a:t>DPO loss: directly </a:t>
            </a:r>
            <a:r>
              <a:rPr lang="en-US" sz="1050" dirty="0" err="1">
                <a:solidFill>
                  <a:srgbClr val="1E293B"/>
                </a:solidFill>
                <a:latin typeface="Calibri" pitchFamily="34" charset="0"/>
                <a:ea typeface="Calibri" pitchFamily="34" charset="-122"/>
                <a:cs typeface="Calibri" pitchFamily="34" charset="-120"/>
              </a:rPr>
              <a:t>optimises</a:t>
            </a:r>
            <a:r>
              <a:rPr lang="en-US" sz="1050" dirty="0">
                <a:solidFill>
                  <a:srgbClr val="1E293B"/>
                </a:solidFill>
                <a:latin typeface="Calibri" pitchFamily="34" charset="0"/>
                <a:ea typeface="Calibri" pitchFamily="34" charset="-122"/>
                <a:cs typeface="Calibri" pitchFamily="34" charset="-120"/>
              </a:rPr>
              <a:t> the model to prefer 'chosen’ (Ramsay) over 'rejected’ (Polite)— no separate reward model needed.</a:t>
            </a:r>
            <a:endParaRPr lang="en-US" sz="1050" dirty="0"/>
          </a:p>
          <a:p>
            <a:endParaRPr lang="en-US" sz="1050" dirty="0"/>
          </a:p>
          <a:p>
            <a:r>
              <a:rPr lang="en-US" sz="1050" dirty="0"/>
              <a:t>Cosine Similarity</a:t>
            </a:r>
          </a:p>
          <a:p>
            <a:r>
              <a:rPr lang="en-US" sz="1050" dirty="0"/>
              <a:t>LLM as a judge</a:t>
            </a:r>
          </a:p>
          <a:p>
            <a:endParaRPr lang="en-US" sz="1050" dirty="0"/>
          </a:p>
          <a:p>
            <a:r>
              <a:rPr lang="en-US" sz="1050" dirty="0" err="1"/>
              <a:t>Nograd</a:t>
            </a:r>
            <a:r>
              <a:rPr lang="en-US" sz="1050" dirty="0"/>
              <a:t>()</a:t>
            </a:r>
          </a:p>
          <a:p>
            <a:r>
              <a:rPr lang="en-US" sz="1050" dirty="0"/>
              <a:t>Tells </a:t>
            </a:r>
            <a:r>
              <a:rPr lang="en-US" sz="1050" dirty="0" err="1"/>
              <a:t>PyTorch</a:t>
            </a:r>
            <a:r>
              <a:rPr lang="en-US" sz="1050" dirty="0"/>
              <a:t> not to compute or store gradients during this block. During training you need gradients for backpropagation, but during inference you're just doing a forward pass — no learning happening. This saves significant memory and makes inference faster. You'll see this wrapper around every inference block in </a:t>
            </a:r>
            <a:r>
              <a:rPr lang="en-US" sz="1050" dirty="0" err="1"/>
              <a:t>PyTorch</a:t>
            </a:r>
            <a:r>
              <a:rPr lang="en-US" sz="1050" dirty="0"/>
              <a:t> code.</a:t>
            </a:r>
            <a:endParaRPr lang="el-GR" sz="1050" dirty="0"/>
          </a:p>
        </p:txBody>
      </p:sp>
    </p:spTree>
    <p:extLst>
      <p:ext uri="{BB962C8B-B14F-4D97-AF65-F5344CB8AC3E}">
        <p14:creationId xmlns:p14="http://schemas.microsoft.com/office/powerpoint/2010/main" val="3478748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l-GR"/>
          </a:p>
        </p:txBody>
      </p:sp>
    </p:spTree>
    <p:extLst>
      <p:ext uri="{BB962C8B-B14F-4D97-AF65-F5344CB8AC3E}">
        <p14:creationId xmlns:p14="http://schemas.microsoft.com/office/powerpoint/2010/main" val="1772449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l-GR"/>
          </a:p>
        </p:txBody>
      </p:sp>
    </p:spTree>
    <p:extLst>
      <p:ext uri="{BB962C8B-B14F-4D97-AF65-F5344CB8AC3E}">
        <p14:creationId xmlns:p14="http://schemas.microsoft.com/office/powerpoint/2010/main" val="37486926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l-GR"/>
          </a:p>
        </p:txBody>
      </p:sp>
    </p:spTree>
    <p:extLst>
      <p:ext uri="{BB962C8B-B14F-4D97-AF65-F5344CB8AC3E}">
        <p14:creationId xmlns:p14="http://schemas.microsoft.com/office/powerpoint/2010/main" val="25388324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753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4609304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193068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1471591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r>
              <a:rPr lang="el-GR"/>
              <a:t>September 2025</a:t>
            </a:r>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r>
              <a:rPr lang="en-US"/>
              <a:t>MSc Artificial Intelligence &amp; Deep Learning</a:t>
            </a:r>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035248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r>
              <a:rPr lang="el-GR"/>
              <a:t>September 2025</a:t>
            </a:r>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r>
              <a:rPr lang="en-US"/>
              <a:t>MSc Artificial Intelligence &amp; Deep Learning</a:t>
            </a:r>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132487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r>
              <a:rPr lang="el-GR"/>
              <a:t>September 2025</a:t>
            </a:r>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408547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1305666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55411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0877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62275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r>
              <a:rPr lang="el-GR"/>
              <a:t>September 2025</a:t>
            </a:r>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r>
              <a:rPr lang="en-US"/>
              <a:t>MSc Artificial Intelligence &amp; Deep Learning</a:t>
            </a:r>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316316476"/>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hdr="0" dt="0"/>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7.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C46CC-3AA4-EEFD-DB8B-FE08BAA09AFD}"/>
              </a:ext>
            </a:extLst>
          </p:cNvPr>
          <p:cNvSpPr>
            <a:spLocks noGrp="1"/>
          </p:cNvSpPr>
          <p:nvPr>
            <p:ph type="title"/>
          </p:nvPr>
        </p:nvSpPr>
        <p:spPr>
          <a:xfrm>
            <a:off x="521208" y="978408"/>
            <a:ext cx="11155680" cy="5440680"/>
          </a:xfrm>
        </p:spPr>
        <p:txBody>
          <a:bodyPr>
            <a:normAutofit/>
          </a:bodyPr>
          <a:lstStyle/>
          <a:p>
            <a:pPr algn="ctr"/>
            <a:br>
              <a:rPr lang="en-US" sz="2800" dirty="0">
                <a:latin typeface="Calibri" panose="020F0502020204030204" pitchFamily="34" charset="0"/>
                <a:ea typeface="Calibri" panose="020F0502020204030204" pitchFamily="34" charset="0"/>
                <a:cs typeface="Calibri" panose="020F0502020204030204" pitchFamily="34" charset="0"/>
              </a:rPr>
            </a:br>
            <a: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t>NLP Toxicity Detection</a:t>
            </a:r>
            <a:b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r>
              <a:rPr lang="en-US" sz="2400" b="0" dirty="0">
                <a:latin typeface="Calibri" panose="020F0502020204030204" pitchFamily="34" charset="0"/>
                <a:ea typeface="Calibri" panose="020F0502020204030204" pitchFamily="34" charset="0"/>
                <a:cs typeface="Calibri" panose="020F0502020204030204" pitchFamily="34" charset="0"/>
              </a:rPr>
              <a:t>Thodoris Charos mscaidl-0077</a:t>
            </a:r>
            <a:br>
              <a:rPr lang="en-US" sz="1800" b="0" dirty="0">
                <a:latin typeface="Calibri" panose="020F0502020204030204" pitchFamily="34" charset="0"/>
                <a:ea typeface="Calibri" panose="020F0502020204030204" pitchFamily="34" charset="0"/>
                <a:cs typeface="Calibri" panose="020F0502020204030204" pitchFamily="34" charset="0"/>
              </a:rPr>
            </a:br>
            <a:br>
              <a:rPr lang="en-US" sz="1800" b="0" dirty="0">
                <a:latin typeface="Calibri" panose="020F0502020204030204" pitchFamily="34" charset="0"/>
                <a:ea typeface="Calibri" panose="020F0502020204030204" pitchFamily="34" charset="0"/>
                <a:cs typeface="Calibri" panose="020F0502020204030204" pitchFamily="34" charset="0"/>
              </a:rPr>
            </a:br>
            <a:br>
              <a:rPr lang="en-US" sz="1800" b="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400" b="0" dirty="0">
                <a:latin typeface="Calibri" panose="020F0502020204030204" pitchFamily="34" charset="0"/>
                <a:ea typeface="Calibri" panose="020F0502020204030204" pitchFamily="34" charset="0"/>
                <a:cs typeface="Calibri" panose="020F0502020204030204" pitchFamily="34" charset="0"/>
              </a:rPr>
              <a:t>AIDL_A_02 - </a:t>
            </a:r>
            <a:r>
              <a:rPr lang="en-US" sz="24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t>Neural Networks and Deep Learning</a:t>
            </a:r>
            <a:br>
              <a:rPr lang="en-US" b="1"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n-US" b="1"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l-GR" dirty="0">
                <a:latin typeface="Calibri" panose="020F0502020204030204" pitchFamily="34" charset="0"/>
                <a:ea typeface="Calibri" panose="020F0502020204030204" pitchFamily="34" charset="0"/>
                <a:cs typeface="Calibri" panose="020F0502020204030204" pitchFamily="34" charset="0"/>
              </a:rPr>
            </a:br>
            <a:endParaRPr lang="el-GR" b="0" dirty="0">
              <a:latin typeface="Calibri" panose="020F0502020204030204" pitchFamily="34" charset="0"/>
              <a:ea typeface="Calibri" panose="020F0502020204030204" pitchFamily="34" charset="0"/>
              <a:cs typeface="Calibri" panose="020F0502020204030204" pitchFamily="34" charset="0"/>
            </a:endParaRPr>
          </a:p>
        </p:txBody>
      </p:sp>
      <p:sp>
        <p:nvSpPr>
          <p:cNvPr id="4" name="Footer Placeholder 3">
            <a:extLst>
              <a:ext uri="{FF2B5EF4-FFF2-40B4-BE49-F238E27FC236}">
                <a16:creationId xmlns:a16="http://schemas.microsoft.com/office/drawing/2014/main" id="{9E1450AE-0E04-6DA8-5227-9D12689CDDBD}"/>
              </a:ext>
            </a:extLst>
          </p:cNvPr>
          <p:cNvSpPr>
            <a:spLocks noGrp="1"/>
          </p:cNvSpPr>
          <p:nvPr>
            <p:ph type="ftr" sz="quarter" idx="11"/>
          </p:nvPr>
        </p:nvSpPr>
        <p:spPr/>
        <p:txBody>
          <a:bodyPr/>
          <a:lstStyle/>
          <a:p>
            <a:r>
              <a:rPr lang="en-US" dirty="0">
                <a:latin typeface="Calibri" panose="020F0502020204030204" pitchFamily="34" charset="0"/>
                <a:ea typeface="Calibri" panose="020F0502020204030204" pitchFamily="34" charset="0"/>
                <a:cs typeface="Calibri" panose="020F0502020204030204" pitchFamily="34" charset="0"/>
              </a:rPr>
              <a:t>MSc Artificial Intelligence &amp; Deep Learning</a:t>
            </a:r>
          </a:p>
        </p:txBody>
      </p:sp>
      <p:sp>
        <p:nvSpPr>
          <p:cNvPr id="5" name="Slide Number Placeholder 4">
            <a:extLst>
              <a:ext uri="{FF2B5EF4-FFF2-40B4-BE49-F238E27FC236}">
                <a16:creationId xmlns:a16="http://schemas.microsoft.com/office/drawing/2014/main" id="{E1CE9477-A47C-DB30-9ECE-BA44807821C1}"/>
              </a:ext>
            </a:extLst>
          </p:cNvPr>
          <p:cNvSpPr>
            <a:spLocks noGrp="1"/>
          </p:cNvSpPr>
          <p:nvPr>
            <p:ph type="sldNum" sz="quarter" idx="12"/>
          </p:nvPr>
        </p:nvSpPr>
        <p:spPr/>
        <p:txBody>
          <a:bodyPr/>
          <a:lstStyle/>
          <a:p>
            <a:fld id="{148CC95F-0247-41B6-91CF-DC97C76A7088}" type="slidenum">
              <a:rPr lang="en-US" smtClean="0"/>
              <a:t>1</a:t>
            </a:fld>
            <a:endParaRPr lang="en-US"/>
          </a:p>
        </p:txBody>
      </p:sp>
    </p:spTree>
    <p:extLst>
      <p:ext uri="{BB962C8B-B14F-4D97-AF65-F5344CB8AC3E}">
        <p14:creationId xmlns:p14="http://schemas.microsoft.com/office/powerpoint/2010/main" val="1967109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2</a:t>
            </a:fld>
            <a:endParaRPr lang="en-US"/>
          </a:p>
        </p:txBody>
      </p:sp>
      <p:sp>
        <p:nvSpPr>
          <p:cNvPr id="5" name="TextBox 4">
            <a:extLst>
              <a:ext uri="{FF2B5EF4-FFF2-40B4-BE49-F238E27FC236}">
                <a16:creationId xmlns:a16="http://schemas.microsoft.com/office/drawing/2014/main" id="{2EDBEA45-F45D-D956-D333-E2116AEAC6CC}"/>
              </a:ext>
            </a:extLst>
          </p:cNvPr>
          <p:cNvSpPr txBox="1"/>
          <p:nvPr/>
        </p:nvSpPr>
        <p:spPr>
          <a:xfrm>
            <a:off x="521208" y="947450"/>
            <a:ext cx="10229788" cy="400110"/>
          </a:xfrm>
          <a:prstGeom prst="rect">
            <a:avLst/>
          </a:prstGeom>
          <a:noFill/>
        </p:spPr>
        <p:txBody>
          <a:bodyPr wrap="none" rtlCol="0">
            <a:spAutoFit/>
          </a:bodyPr>
          <a:lstStyle/>
          <a:p>
            <a:r>
              <a:rPr lang="en-GB" sz="2000" b="1" dirty="0">
                <a:effectLst/>
                <a:latin typeface="Helvetica" pitchFamily="2" charset="0"/>
              </a:rPr>
              <a:t>1. Train LSTM with custom and glove </a:t>
            </a:r>
            <a:r>
              <a:rPr lang="en-GB" sz="2000" b="1" dirty="0" err="1">
                <a:effectLst/>
                <a:latin typeface="Helvetica" pitchFamily="2" charset="0"/>
              </a:rPr>
              <a:t>embs</a:t>
            </a:r>
            <a:r>
              <a:rPr lang="en-GB" sz="2000" b="1" dirty="0">
                <a:effectLst/>
                <a:latin typeface="Helvetica" pitchFamily="2" charset="0"/>
              </a:rPr>
              <a:t> on a Toxicity detection dataset (binary)</a:t>
            </a:r>
          </a:p>
        </p:txBody>
      </p:sp>
      <p:sp>
        <p:nvSpPr>
          <p:cNvPr id="10" name="TextBox 9">
            <a:extLst>
              <a:ext uri="{FF2B5EF4-FFF2-40B4-BE49-F238E27FC236}">
                <a16:creationId xmlns:a16="http://schemas.microsoft.com/office/drawing/2014/main" id="{58C4994B-0631-12B5-3828-C9D26D9DC042}"/>
              </a:ext>
            </a:extLst>
          </p:cNvPr>
          <p:cNvSpPr txBox="1"/>
          <p:nvPr/>
        </p:nvSpPr>
        <p:spPr>
          <a:xfrm>
            <a:off x="521208" y="1597446"/>
            <a:ext cx="6769802" cy="646331"/>
          </a:xfrm>
          <a:prstGeom prst="rect">
            <a:avLst/>
          </a:prstGeom>
          <a:noFill/>
        </p:spPr>
        <p:txBody>
          <a:bodyPr wrap="none" rtlCol="0">
            <a:spAutoFit/>
          </a:bodyPr>
          <a:lstStyle/>
          <a:p>
            <a:r>
              <a:rPr lang="en-GB" b="1" dirty="0">
                <a:latin typeface="Consolas" panose="020B0609020204030204" pitchFamily="49" charset="0"/>
                <a:cs typeface="Consolas" panose="020B0609020204030204" pitchFamily="49" charset="0"/>
              </a:rPr>
              <a:t>--- Binary Classification: LSTM (Custom Embeddings)</a:t>
            </a:r>
            <a:r>
              <a:rPr lang="en-GB" dirty="0">
                <a:latin typeface="Consolas" panose="020B0609020204030204" pitchFamily="49" charset="0"/>
                <a:cs typeface="Consolas" panose="020B0609020204030204" pitchFamily="49" charset="0"/>
              </a:rPr>
              <a:t> </a:t>
            </a:r>
          </a:p>
          <a:p>
            <a:r>
              <a:rPr lang="en-GB" dirty="0">
                <a:latin typeface="Consolas" panose="020B0609020204030204" pitchFamily="49" charset="0"/>
                <a:cs typeface="Consolas" panose="020B0609020204030204" pitchFamily="49" charset="0"/>
              </a:rPr>
              <a:t>--- F1-Score: 0.8187</a:t>
            </a:r>
            <a:endParaRPr lang="en-GR" dirty="0">
              <a:latin typeface="Consolas" panose="020B0609020204030204" pitchFamily="49" charset="0"/>
              <a:cs typeface="Consolas" panose="020B0609020204030204" pitchFamily="49" charset="0"/>
            </a:endParaRPr>
          </a:p>
        </p:txBody>
      </p:sp>
      <p:pic>
        <p:nvPicPr>
          <p:cNvPr id="2" name="Picture 2">
            <a:extLst>
              <a:ext uri="{FF2B5EF4-FFF2-40B4-BE49-F238E27FC236}">
                <a16:creationId xmlns:a16="http://schemas.microsoft.com/office/drawing/2014/main" id="{BC975BC1-3231-3ED9-0425-38741A253E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1208" y="2436239"/>
            <a:ext cx="3973674" cy="36315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9768A4A-0DED-D4D3-9B99-D4FA0F8A475F}"/>
              </a:ext>
            </a:extLst>
          </p:cNvPr>
          <p:cNvSpPr txBox="1"/>
          <p:nvPr/>
        </p:nvSpPr>
        <p:spPr>
          <a:xfrm>
            <a:off x="4946573" y="2436239"/>
            <a:ext cx="7042312"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LSTM Custom Hyperparameters ====================</a:t>
            </a:r>
          </a:p>
          <a:p>
            <a:r>
              <a:rPr lang="en-GB" sz="1400" dirty="0">
                <a:latin typeface="Consolas" panose="020B0609020204030204" pitchFamily="49" charset="0"/>
                <a:cs typeface="Consolas" panose="020B0609020204030204" pitchFamily="49" charset="0"/>
              </a:rPr>
              <a:t>Epochs:          5</a:t>
            </a:r>
          </a:p>
          <a:p>
            <a:r>
              <a:rPr lang="en-GB" sz="1400" dirty="0">
                <a:latin typeface="Consolas" panose="020B0609020204030204" pitchFamily="49" charset="0"/>
                <a:cs typeface="Consolas" panose="020B0609020204030204" pitchFamily="49" charset="0"/>
              </a:rPr>
              <a:t>Batch Size:      32</a:t>
            </a:r>
          </a:p>
          <a:p>
            <a:r>
              <a:rPr lang="en-GB" sz="1400" dirty="0">
                <a:latin typeface="Consolas" panose="020B0609020204030204" pitchFamily="49" charset="0"/>
                <a:cs typeface="Consolas" panose="020B0609020204030204" pitchFamily="49" charset="0"/>
              </a:rPr>
              <a:t>Optimizer:       Adam</a:t>
            </a:r>
          </a:p>
          <a:p>
            <a:r>
              <a:rPr lang="en-GB" sz="1400" dirty="0">
                <a:latin typeface="Consolas" panose="020B0609020204030204" pitchFamily="49" charset="0"/>
                <a:cs typeface="Consolas" panose="020B0609020204030204" pitchFamily="49" charset="0"/>
              </a:rPr>
              <a:t>Learning Rate:   0.0010000000474974513</a:t>
            </a:r>
          </a:p>
          <a:p>
            <a:r>
              <a:rPr lang="en-GB" sz="1400" dirty="0">
                <a:latin typeface="Consolas" panose="020B0609020204030204" pitchFamily="49" charset="0"/>
                <a:cs typeface="Consolas" panose="020B0609020204030204" pitchFamily="49" charset="0"/>
              </a:rPr>
              <a:t>Loss Function:   </a:t>
            </a:r>
            <a:r>
              <a:rPr lang="en-GB" sz="1400" dirty="0" err="1">
                <a:latin typeface="Consolas" panose="020B0609020204030204" pitchFamily="49" charset="0"/>
                <a:cs typeface="Consolas" panose="020B0609020204030204" pitchFamily="49" charset="0"/>
              </a:rPr>
              <a:t>binary_crossentropy</a:t>
            </a:r>
            <a:endParaRPr lang="en-GB" sz="1400" dirty="0">
              <a:latin typeface="Consolas" panose="020B0609020204030204" pitchFamily="49" charset="0"/>
              <a:cs typeface="Consolas" panose="020B0609020204030204" pitchFamily="49" charset="0"/>
            </a:endParaRPr>
          </a:p>
          <a:p>
            <a:r>
              <a:rPr lang="en-GB" sz="1400" dirty="0">
                <a:latin typeface="Consolas" panose="020B0609020204030204" pitchFamily="49" charset="0"/>
                <a:cs typeface="Consolas" panose="020B0609020204030204" pitchFamily="49" charset="0"/>
              </a:rPr>
              <a:t>Embedding Dim:   100</a:t>
            </a:r>
          </a:p>
          <a:p>
            <a:r>
              <a:rPr lang="en-GB" sz="1400" dirty="0">
                <a:latin typeface="Consolas" panose="020B0609020204030204" pitchFamily="49" charset="0"/>
                <a:cs typeface="Consolas" panose="020B0609020204030204" pitchFamily="49" charset="0"/>
              </a:rPr>
              <a:t>Vocab Size:      12674</a:t>
            </a:r>
          </a:p>
          <a:p>
            <a:r>
              <a:rPr lang="en-GB" sz="1400" dirty="0">
                <a:latin typeface="Consolas" panose="020B0609020204030204" pitchFamily="49" charset="0"/>
                <a:cs typeface="Consolas" panose="020B0609020204030204" pitchFamily="49" charset="0"/>
              </a:rPr>
              <a:t>Trainable </a:t>
            </a:r>
            <a:r>
              <a:rPr lang="en-GB" sz="1400" dirty="0" err="1">
                <a:latin typeface="Consolas" panose="020B0609020204030204" pitchFamily="49" charset="0"/>
                <a:cs typeface="Consolas" panose="020B0609020204030204" pitchFamily="49" charset="0"/>
              </a:rPr>
              <a:t>Embs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LSTM Units:      64</a:t>
            </a:r>
          </a:p>
          <a:p>
            <a:r>
              <a:rPr lang="en-GB" sz="1400" dirty="0">
                <a:latin typeface="Consolas" panose="020B0609020204030204" pitchFamily="49" charset="0"/>
                <a:cs typeface="Consolas" panose="020B0609020204030204" pitchFamily="49" charset="0"/>
              </a:rPr>
              <a:t>LSTM Dropout:    0.2</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0881845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3</a:t>
            </a:fld>
            <a:endParaRPr lang="en-US"/>
          </a:p>
        </p:txBody>
      </p:sp>
      <p:sp>
        <p:nvSpPr>
          <p:cNvPr id="5" name="TextBox 4">
            <a:extLst>
              <a:ext uri="{FF2B5EF4-FFF2-40B4-BE49-F238E27FC236}">
                <a16:creationId xmlns:a16="http://schemas.microsoft.com/office/drawing/2014/main" id="{2EDBEA45-F45D-D956-D333-E2116AEAC6CC}"/>
              </a:ext>
            </a:extLst>
          </p:cNvPr>
          <p:cNvSpPr txBox="1"/>
          <p:nvPr/>
        </p:nvSpPr>
        <p:spPr>
          <a:xfrm>
            <a:off x="521208" y="947450"/>
            <a:ext cx="10229788" cy="400110"/>
          </a:xfrm>
          <a:prstGeom prst="rect">
            <a:avLst/>
          </a:prstGeom>
          <a:noFill/>
        </p:spPr>
        <p:txBody>
          <a:bodyPr wrap="none" rtlCol="0">
            <a:spAutoFit/>
          </a:bodyPr>
          <a:lstStyle/>
          <a:p>
            <a:r>
              <a:rPr lang="en-GB" sz="2000" b="1" dirty="0">
                <a:effectLst/>
                <a:latin typeface="Helvetica" pitchFamily="2" charset="0"/>
              </a:rPr>
              <a:t>1. Train LSTM with custom and glove </a:t>
            </a:r>
            <a:r>
              <a:rPr lang="en-GB" sz="2000" b="1" dirty="0" err="1">
                <a:effectLst/>
                <a:latin typeface="Helvetica" pitchFamily="2" charset="0"/>
              </a:rPr>
              <a:t>embs</a:t>
            </a:r>
            <a:r>
              <a:rPr lang="en-GB" sz="2000" b="1" dirty="0">
                <a:effectLst/>
                <a:latin typeface="Helvetica" pitchFamily="2" charset="0"/>
              </a:rPr>
              <a:t> on a Toxicity detection dataset (binary)</a:t>
            </a:r>
          </a:p>
        </p:txBody>
      </p:sp>
      <p:sp>
        <p:nvSpPr>
          <p:cNvPr id="10" name="TextBox 9">
            <a:extLst>
              <a:ext uri="{FF2B5EF4-FFF2-40B4-BE49-F238E27FC236}">
                <a16:creationId xmlns:a16="http://schemas.microsoft.com/office/drawing/2014/main" id="{58C4994B-0631-12B5-3828-C9D26D9DC042}"/>
              </a:ext>
            </a:extLst>
          </p:cNvPr>
          <p:cNvSpPr txBox="1"/>
          <p:nvPr/>
        </p:nvSpPr>
        <p:spPr>
          <a:xfrm>
            <a:off x="521208" y="1597446"/>
            <a:ext cx="6643165" cy="646331"/>
          </a:xfrm>
          <a:prstGeom prst="rect">
            <a:avLst/>
          </a:prstGeom>
          <a:noFill/>
        </p:spPr>
        <p:txBody>
          <a:bodyPr wrap="none" rtlCol="0">
            <a:spAutoFit/>
          </a:bodyPr>
          <a:lstStyle/>
          <a:p>
            <a:r>
              <a:rPr lang="en-GB" b="1" dirty="0">
                <a:latin typeface="Consolas" panose="020B0609020204030204" pitchFamily="49" charset="0"/>
                <a:cs typeface="Consolas" panose="020B0609020204030204" pitchFamily="49" charset="0"/>
              </a:rPr>
              <a:t>--- Binary Classification: LSTM (</a:t>
            </a:r>
            <a:r>
              <a:rPr lang="en-GB" b="1" dirty="0" err="1">
                <a:latin typeface="Consolas" panose="020B0609020204030204" pitchFamily="49" charset="0"/>
                <a:cs typeface="Consolas" panose="020B0609020204030204" pitchFamily="49" charset="0"/>
              </a:rPr>
              <a:t>GloVe</a:t>
            </a:r>
            <a:r>
              <a:rPr lang="en-GB" b="1" dirty="0">
                <a:latin typeface="Consolas" panose="020B0609020204030204" pitchFamily="49" charset="0"/>
                <a:cs typeface="Consolas" panose="020B0609020204030204" pitchFamily="49" charset="0"/>
              </a:rPr>
              <a:t> Embeddings) </a:t>
            </a:r>
          </a:p>
          <a:p>
            <a:r>
              <a:rPr lang="en-GB" dirty="0">
                <a:latin typeface="Consolas" panose="020B0609020204030204" pitchFamily="49" charset="0"/>
                <a:cs typeface="Consolas" panose="020B0609020204030204" pitchFamily="49" charset="0"/>
              </a:rPr>
              <a:t>--- F1-Score: 0.8228</a:t>
            </a:r>
            <a:endParaRPr lang="en-GR" dirty="0">
              <a:latin typeface="Consolas" panose="020B0609020204030204" pitchFamily="49" charset="0"/>
              <a:cs typeface="Consolas" panose="020B0609020204030204" pitchFamily="49" charset="0"/>
            </a:endParaRPr>
          </a:p>
        </p:txBody>
      </p:sp>
      <p:pic>
        <p:nvPicPr>
          <p:cNvPr id="2" name="Picture 2">
            <a:extLst>
              <a:ext uri="{FF2B5EF4-FFF2-40B4-BE49-F238E27FC236}">
                <a16:creationId xmlns:a16="http://schemas.microsoft.com/office/drawing/2014/main" id="{50C945D2-7AAA-D7C8-7474-74162F2282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6660" y="2438937"/>
            <a:ext cx="4000256" cy="365586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6EC1A70-DE02-8195-17B7-720B40C8BC48}"/>
              </a:ext>
            </a:extLst>
          </p:cNvPr>
          <p:cNvSpPr txBox="1"/>
          <p:nvPr/>
        </p:nvSpPr>
        <p:spPr>
          <a:xfrm>
            <a:off x="4935556" y="2438937"/>
            <a:ext cx="6942926"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LSTM </a:t>
            </a:r>
            <a:r>
              <a:rPr lang="en-GB" sz="1400" dirty="0" err="1">
                <a:latin typeface="Consolas" panose="020B0609020204030204" pitchFamily="49" charset="0"/>
                <a:cs typeface="Consolas" panose="020B0609020204030204" pitchFamily="49" charset="0"/>
              </a:rPr>
              <a:t>GloVe</a:t>
            </a:r>
            <a:r>
              <a:rPr lang="en-GB" sz="1400" dirty="0">
                <a:latin typeface="Consolas" panose="020B0609020204030204" pitchFamily="49" charset="0"/>
                <a:cs typeface="Consolas" panose="020B0609020204030204" pitchFamily="49" charset="0"/>
              </a:rPr>
              <a:t> Hyperparameters ====================</a:t>
            </a:r>
          </a:p>
          <a:p>
            <a:r>
              <a:rPr lang="en-GB" sz="1400" dirty="0">
                <a:latin typeface="Consolas" panose="020B0609020204030204" pitchFamily="49" charset="0"/>
                <a:cs typeface="Consolas" panose="020B0609020204030204" pitchFamily="49" charset="0"/>
              </a:rPr>
              <a:t>Epochs:          5</a:t>
            </a:r>
          </a:p>
          <a:p>
            <a:r>
              <a:rPr lang="en-GB" sz="1400" dirty="0">
                <a:latin typeface="Consolas" panose="020B0609020204030204" pitchFamily="49" charset="0"/>
                <a:cs typeface="Consolas" panose="020B0609020204030204" pitchFamily="49" charset="0"/>
              </a:rPr>
              <a:t>Batch Size:      32</a:t>
            </a:r>
          </a:p>
          <a:p>
            <a:r>
              <a:rPr lang="en-GB" sz="1400" dirty="0">
                <a:latin typeface="Consolas" panose="020B0609020204030204" pitchFamily="49" charset="0"/>
                <a:cs typeface="Consolas" panose="020B0609020204030204" pitchFamily="49" charset="0"/>
              </a:rPr>
              <a:t>Optimizer:       Adam</a:t>
            </a:r>
          </a:p>
          <a:p>
            <a:r>
              <a:rPr lang="en-GB" sz="1400" dirty="0">
                <a:latin typeface="Consolas" panose="020B0609020204030204" pitchFamily="49" charset="0"/>
                <a:cs typeface="Consolas" panose="020B0609020204030204" pitchFamily="49" charset="0"/>
              </a:rPr>
              <a:t>Learning Rate:   0.0010000000474974513</a:t>
            </a:r>
          </a:p>
          <a:p>
            <a:r>
              <a:rPr lang="en-GB" sz="1400" dirty="0">
                <a:latin typeface="Consolas" panose="020B0609020204030204" pitchFamily="49" charset="0"/>
                <a:cs typeface="Consolas" panose="020B0609020204030204" pitchFamily="49" charset="0"/>
              </a:rPr>
              <a:t>Loss Function:   </a:t>
            </a:r>
            <a:r>
              <a:rPr lang="en-GB" sz="1400" dirty="0" err="1">
                <a:latin typeface="Consolas" panose="020B0609020204030204" pitchFamily="49" charset="0"/>
                <a:cs typeface="Consolas" panose="020B0609020204030204" pitchFamily="49" charset="0"/>
              </a:rPr>
              <a:t>binary_crossentropy</a:t>
            </a:r>
            <a:endParaRPr lang="en-GB" sz="1400" dirty="0">
              <a:latin typeface="Consolas" panose="020B0609020204030204" pitchFamily="49" charset="0"/>
              <a:cs typeface="Consolas" panose="020B0609020204030204" pitchFamily="49" charset="0"/>
            </a:endParaRPr>
          </a:p>
          <a:p>
            <a:r>
              <a:rPr lang="en-GB" sz="1400" dirty="0">
                <a:latin typeface="Consolas" panose="020B0609020204030204" pitchFamily="49" charset="0"/>
                <a:cs typeface="Consolas" panose="020B0609020204030204" pitchFamily="49" charset="0"/>
              </a:rPr>
              <a:t>Embedding Dim:   100</a:t>
            </a:r>
          </a:p>
          <a:p>
            <a:r>
              <a:rPr lang="en-GB" sz="1400" dirty="0">
                <a:latin typeface="Consolas" panose="020B0609020204030204" pitchFamily="49" charset="0"/>
                <a:cs typeface="Consolas" panose="020B0609020204030204" pitchFamily="49" charset="0"/>
              </a:rPr>
              <a:t>Vocab Size:      12674</a:t>
            </a:r>
          </a:p>
          <a:p>
            <a:r>
              <a:rPr lang="en-GB" sz="1400" dirty="0">
                <a:latin typeface="Consolas" panose="020B0609020204030204" pitchFamily="49" charset="0"/>
                <a:cs typeface="Consolas" panose="020B0609020204030204" pitchFamily="49" charset="0"/>
              </a:rPr>
              <a:t>Trainable </a:t>
            </a:r>
            <a:r>
              <a:rPr lang="en-GB" sz="1400" dirty="0" err="1">
                <a:latin typeface="Consolas" panose="020B0609020204030204" pitchFamily="49" charset="0"/>
                <a:cs typeface="Consolas" panose="020B0609020204030204" pitchFamily="49" charset="0"/>
              </a:rPr>
              <a:t>Embs</a:t>
            </a:r>
            <a:r>
              <a:rPr lang="en-GB" sz="1400" dirty="0">
                <a:latin typeface="Consolas" panose="020B0609020204030204" pitchFamily="49" charset="0"/>
                <a:cs typeface="Consolas" panose="020B0609020204030204" pitchFamily="49" charset="0"/>
              </a:rPr>
              <a:t>:  False</a:t>
            </a:r>
          </a:p>
          <a:p>
            <a:r>
              <a:rPr lang="en-GB" sz="1400" dirty="0">
                <a:latin typeface="Consolas" panose="020B0609020204030204" pitchFamily="49" charset="0"/>
                <a:cs typeface="Consolas" panose="020B0609020204030204" pitchFamily="49" charset="0"/>
              </a:rPr>
              <a:t>LSTM Units:      64</a:t>
            </a:r>
          </a:p>
          <a:p>
            <a:r>
              <a:rPr lang="en-GB" sz="1400" dirty="0">
                <a:latin typeface="Consolas" panose="020B0609020204030204" pitchFamily="49" charset="0"/>
                <a:cs typeface="Consolas" panose="020B0609020204030204" pitchFamily="49" charset="0"/>
              </a:rPr>
              <a:t>LSTM Dropout:    0.2</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9260716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4</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8" y="2424319"/>
            <a:ext cx="3861955"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BERT-Base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2e-05,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16,</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8" y="1404659"/>
            <a:ext cx="4224233" cy="830997"/>
          </a:xfrm>
          <a:prstGeom prst="rect">
            <a:avLst/>
          </a:prstGeom>
          <a:noFill/>
        </p:spPr>
        <p:txBody>
          <a:bodyPr wrap="none" rtlCol="0">
            <a:spAutoFit/>
          </a:bodyPr>
          <a:lstStyle/>
          <a:p>
            <a:r>
              <a:rPr lang="en-GB" sz="1600" b="1" dirty="0">
                <a:latin typeface="Consolas" panose="020B0609020204030204" pitchFamily="49" charset="0"/>
                <a:cs typeface="Consolas" panose="020B0609020204030204" pitchFamily="49" charset="0"/>
              </a:rPr>
              <a:t>--- STS-b Regression: BERT-Base --- </a:t>
            </a:r>
          </a:p>
          <a:p>
            <a:r>
              <a:rPr lang="en-GB" sz="1600" dirty="0">
                <a:latin typeface="Consolas" panose="020B0609020204030204" pitchFamily="49" charset="0"/>
                <a:cs typeface="Consolas" panose="020B0609020204030204" pitchFamily="49" charset="0"/>
              </a:rPr>
              <a:t>Pearson Correlation: 0.8885 </a:t>
            </a:r>
          </a:p>
          <a:p>
            <a:r>
              <a:rPr lang="en-GB" sz="1600" dirty="0">
                <a:latin typeface="Consolas" panose="020B0609020204030204" pitchFamily="49" charset="0"/>
                <a:cs typeface="Consolas" panose="020B0609020204030204" pitchFamily="49" charset="0"/>
              </a:rPr>
              <a:t>Spearman Correlation: 0.8851</a:t>
            </a:r>
            <a:endParaRPr lang="en-GR" sz="1600" dirty="0">
              <a:latin typeface="Consolas" panose="020B0609020204030204" pitchFamily="49" charset="0"/>
              <a:cs typeface="Consolas" panose="020B0609020204030204" pitchFamily="49" charset="0"/>
            </a:endParaRPr>
          </a:p>
        </p:txBody>
      </p:sp>
      <p:pic>
        <p:nvPicPr>
          <p:cNvPr id="3074" name="Picture 2">
            <a:extLst>
              <a:ext uri="{FF2B5EF4-FFF2-40B4-BE49-F238E27FC236}">
                <a16:creationId xmlns:a16="http://schemas.microsoft.com/office/drawing/2014/main" id="{3F8628F3-396C-7F3A-A364-5512F7CDC9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34295" y="1409647"/>
            <a:ext cx="5378183" cy="4707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12515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5</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8" y="2446366"/>
            <a:ext cx="4160113"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RoBERTa</a:t>
            </a:r>
            <a:r>
              <a:rPr lang="en-GB" sz="1400" dirty="0">
                <a:latin typeface="Consolas" panose="020B0609020204030204" pitchFamily="49" charset="0"/>
                <a:cs typeface="Consolas" panose="020B0609020204030204" pitchFamily="49" charset="0"/>
              </a:rPr>
              <a:t>-Base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3e-05,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32,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8" y="1404659"/>
            <a:ext cx="4448654" cy="830997"/>
          </a:xfrm>
          <a:prstGeom prst="rect">
            <a:avLst/>
          </a:prstGeom>
          <a:noFill/>
        </p:spPr>
        <p:txBody>
          <a:bodyPr wrap="none" rtlCol="0">
            <a:spAutoFit/>
          </a:bodyPr>
          <a:lstStyle/>
          <a:p>
            <a:r>
              <a:rPr lang="en-GB" sz="1600" b="1" dirty="0">
                <a:latin typeface="Consolas" panose="020B0609020204030204" pitchFamily="49" charset="0"/>
                <a:cs typeface="Consolas" panose="020B0609020204030204" pitchFamily="49" charset="0"/>
              </a:rPr>
              <a:t>--- STS-b Regression: </a:t>
            </a:r>
            <a:r>
              <a:rPr lang="en-GB" sz="1600" b="1" dirty="0" err="1">
                <a:latin typeface="Consolas" panose="020B0609020204030204" pitchFamily="49" charset="0"/>
                <a:cs typeface="Consolas" panose="020B0609020204030204" pitchFamily="49" charset="0"/>
              </a:rPr>
              <a:t>RoBERTa</a:t>
            </a:r>
            <a:r>
              <a:rPr lang="en-GB" sz="1600" b="1" dirty="0">
                <a:latin typeface="Consolas" panose="020B0609020204030204" pitchFamily="49" charset="0"/>
                <a:cs typeface="Consolas" panose="020B0609020204030204" pitchFamily="49" charset="0"/>
              </a:rPr>
              <a:t>-Base ---</a:t>
            </a:r>
          </a:p>
          <a:p>
            <a:r>
              <a:rPr lang="en-GB" sz="1600" dirty="0">
                <a:latin typeface="Consolas" panose="020B0609020204030204" pitchFamily="49" charset="0"/>
                <a:cs typeface="Consolas" panose="020B0609020204030204" pitchFamily="49" charset="0"/>
              </a:rPr>
              <a:t>Pearson Correlation:  0.9057</a:t>
            </a:r>
          </a:p>
          <a:p>
            <a:r>
              <a:rPr lang="en-GB" sz="1600" dirty="0">
                <a:latin typeface="Consolas" panose="020B0609020204030204" pitchFamily="49" charset="0"/>
                <a:cs typeface="Consolas" panose="020B0609020204030204" pitchFamily="49" charset="0"/>
              </a:rPr>
              <a:t>Spearman Correlation: 0.9029</a:t>
            </a:r>
            <a:endParaRPr lang="en-GR" sz="1600" dirty="0">
              <a:latin typeface="Consolas" panose="020B0609020204030204" pitchFamily="49" charset="0"/>
              <a:cs typeface="Consolas" panose="020B0609020204030204" pitchFamily="49" charset="0"/>
            </a:endParaRPr>
          </a:p>
        </p:txBody>
      </p:sp>
      <p:pic>
        <p:nvPicPr>
          <p:cNvPr id="4098" name="Picture 2">
            <a:extLst>
              <a:ext uri="{FF2B5EF4-FFF2-40B4-BE49-F238E27FC236}">
                <a16:creationId xmlns:a16="http://schemas.microsoft.com/office/drawing/2014/main" id="{3FE18613-45BD-C3A6-0CB8-61C9D72DD1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72514" y="1404659"/>
            <a:ext cx="5439964" cy="47610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64078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6</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7" y="2421825"/>
            <a:ext cx="4358886"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DeBERTaV3-Base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1e-05,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16,</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7" y="1404659"/>
            <a:ext cx="4777906" cy="830997"/>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 STS-b Regression: DeBERTaV3-Base ---</a:t>
            </a:r>
          </a:p>
          <a:p>
            <a:r>
              <a:rPr lang="en-GB" sz="1600" dirty="0">
                <a:latin typeface="Consolas" panose="020B0609020204030204" pitchFamily="49" charset="0"/>
                <a:cs typeface="Consolas" panose="020B0609020204030204" pitchFamily="49" charset="0"/>
              </a:rPr>
              <a:t>Pearson Correlation:  0.9057</a:t>
            </a:r>
          </a:p>
          <a:p>
            <a:r>
              <a:rPr lang="en-GB" sz="1600" dirty="0">
                <a:latin typeface="Consolas" panose="020B0609020204030204" pitchFamily="49" charset="0"/>
                <a:cs typeface="Consolas" panose="020B0609020204030204" pitchFamily="49" charset="0"/>
              </a:rPr>
              <a:t>Spearman Correlation: 0.9085</a:t>
            </a:r>
            <a:endParaRPr lang="en-GR" sz="1600" dirty="0">
              <a:latin typeface="Consolas" panose="020B0609020204030204" pitchFamily="49" charset="0"/>
              <a:cs typeface="Consolas" panose="020B0609020204030204" pitchFamily="49" charset="0"/>
            </a:endParaRPr>
          </a:p>
        </p:txBody>
      </p:sp>
      <p:pic>
        <p:nvPicPr>
          <p:cNvPr id="5122" name="Picture 2">
            <a:extLst>
              <a:ext uri="{FF2B5EF4-FFF2-40B4-BE49-F238E27FC236}">
                <a16:creationId xmlns:a16="http://schemas.microsoft.com/office/drawing/2014/main" id="{D07E70FF-6193-4BAC-642F-DD60BFEFC3F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28595" y="1404659"/>
            <a:ext cx="5383883" cy="4711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52108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7</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5" name="TextBox 4">
            <a:extLst>
              <a:ext uri="{FF2B5EF4-FFF2-40B4-BE49-F238E27FC236}">
                <a16:creationId xmlns:a16="http://schemas.microsoft.com/office/drawing/2014/main" id="{70B96FE5-EF93-A4DE-809C-E3069E921102}"/>
              </a:ext>
            </a:extLst>
          </p:cNvPr>
          <p:cNvSpPr txBox="1"/>
          <p:nvPr/>
        </p:nvSpPr>
        <p:spPr>
          <a:xfrm>
            <a:off x="521208" y="1951672"/>
            <a:ext cx="8036174" cy="1477328"/>
          </a:xfrm>
          <a:prstGeom prst="rect">
            <a:avLst/>
          </a:prstGeom>
          <a:noFill/>
        </p:spPr>
        <p:txBody>
          <a:bodyPr wrap="none" rtlCol="0">
            <a:spAutoFit/>
          </a:bodyPr>
          <a:lstStyle/>
          <a:p>
            <a:r>
              <a:rPr lang="en-GB" dirty="0">
                <a:latin typeface="Consolas" panose="020B0609020204030204" pitchFamily="49" charset="0"/>
                <a:cs typeface="Consolas" panose="020B0609020204030204" pitchFamily="49" charset="0"/>
              </a:rPr>
              <a:t>--- BERT-Base vs </a:t>
            </a:r>
            <a:r>
              <a:rPr lang="en-GB" dirty="0" err="1">
                <a:latin typeface="Consolas" panose="020B0609020204030204" pitchFamily="49" charset="0"/>
                <a:cs typeface="Consolas" panose="020B0609020204030204" pitchFamily="49" charset="0"/>
              </a:rPr>
              <a:t>RoBERTa</a:t>
            </a:r>
            <a:r>
              <a:rPr lang="en-GB" dirty="0">
                <a:latin typeface="Consolas" panose="020B0609020204030204" pitchFamily="49" charset="0"/>
                <a:cs typeface="Consolas" panose="020B0609020204030204" pitchFamily="49" charset="0"/>
              </a:rPr>
              <a:t>-Base vs DeBERTaV3-Base Comparison ---</a:t>
            </a:r>
          </a:p>
          <a:p>
            <a:r>
              <a:rPr lang="en-GB" dirty="0">
                <a:latin typeface="Consolas" panose="020B0609020204030204" pitchFamily="49" charset="0"/>
                <a:cs typeface="Consolas" panose="020B0609020204030204" pitchFamily="49" charset="0"/>
              </a:rPr>
              <a:t>            Model  Pearson Correlation  Spearman Correlation</a:t>
            </a:r>
          </a:p>
          <a:p>
            <a:r>
              <a:rPr lang="en-GB" dirty="0">
                <a:latin typeface="Consolas" panose="020B0609020204030204" pitchFamily="49" charset="0"/>
                <a:cs typeface="Consolas" panose="020B0609020204030204" pitchFamily="49" charset="0"/>
              </a:rPr>
              <a:t>0       BERT-Base             0.888526              0.885080</a:t>
            </a:r>
          </a:p>
          <a:p>
            <a:r>
              <a:rPr lang="en-GB" dirty="0">
                <a:latin typeface="Consolas" panose="020B0609020204030204" pitchFamily="49" charset="0"/>
                <a:cs typeface="Consolas" panose="020B0609020204030204" pitchFamily="49" charset="0"/>
              </a:rPr>
              <a:t>1    </a:t>
            </a:r>
            <a:r>
              <a:rPr lang="en-GB" dirty="0" err="1">
                <a:latin typeface="Consolas" panose="020B0609020204030204" pitchFamily="49" charset="0"/>
                <a:cs typeface="Consolas" panose="020B0609020204030204" pitchFamily="49" charset="0"/>
              </a:rPr>
              <a:t>RoBERTa</a:t>
            </a:r>
            <a:r>
              <a:rPr lang="en-GB" dirty="0">
                <a:latin typeface="Consolas" panose="020B0609020204030204" pitchFamily="49" charset="0"/>
                <a:cs typeface="Consolas" panose="020B0609020204030204" pitchFamily="49" charset="0"/>
              </a:rPr>
              <a:t>-Base             0.905673              0.902887</a:t>
            </a:r>
          </a:p>
          <a:p>
            <a:r>
              <a:rPr lang="en-GB" dirty="0">
                <a:latin typeface="Consolas" panose="020B0609020204030204" pitchFamily="49" charset="0"/>
                <a:cs typeface="Consolas" panose="020B0609020204030204" pitchFamily="49" charset="0"/>
              </a:rPr>
              <a:t>2  DeBERTaV3-Base             0.905655              0.908510</a:t>
            </a:r>
            <a:endParaRPr lang="en-GR"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267931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8</a:t>
            </a:fld>
            <a:endParaRPr lang="en-US"/>
          </a:p>
        </p:txBody>
      </p:sp>
      <p:sp>
        <p:nvSpPr>
          <p:cNvPr id="7" name="TextBox 6">
            <a:extLst>
              <a:ext uri="{FF2B5EF4-FFF2-40B4-BE49-F238E27FC236}">
                <a16:creationId xmlns:a16="http://schemas.microsoft.com/office/drawing/2014/main" id="{99BE4938-60B5-676B-98C9-85F82E28A52A}"/>
              </a:ext>
            </a:extLst>
          </p:cNvPr>
          <p:cNvSpPr txBox="1"/>
          <p:nvPr/>
        </p:nvSpPr>
        <p:spPr>
          <a:xfrm>
            <a:off x="521208" y="952466"/>
            <a:ext cx="4442242" cy="400110"/>
          </a:xfrm>
          <a:prstGeom prst="rect">
            <a:avLst/>
          </a:prstGeom>
          <a:noFill/>
        </p:spPr>
        <p:txBody>
          <a:bodyPr wrap="none" rtlCol="0">
            <a:spAutoFit/>
          </a:bodyPr>
          <a:lstStyle/>
          <a:p>
            <a:r>
              <a:rPr lang="en-GB" sz="2000" b="1" dirty="0">
                <a:effectLst/>
                <a:latin typeface="Helvetica" pitchFamily="2" charset="0"/>
              </a:rPr>
              <a:t>3. Create custom RAG mechanism </a:t>
            </a:r>
          </a:p>
        </p:txBody>
      </p:sp>
      <p:sp>
        <p:nvSpPr>
          <p:cNvPr id="5" name="TextBox 4">
            <a:extLst>
              <a:ext uri="{FF2B5EF4-FFF2-40B4-BE49-F238E27FC236}">
                <a16:creationId xmlns:a16="http://schemas.microsoft.com/office/drawing/2014/main" id="{35A4B001-6A6C-665B-7065-2C2A7A725022}"/>
              </a:ext>
            </a:extLst>
          </p:cNvPr>
          <p:cNvSpPr txBox="1"/>
          <p:nvPr/>
        </p:nvSpPr>
        <p:spPr>
          <a:xfrm>
            <a:off x="521207" y="1467381"/>
            <a:ext cx="10936225" cy="4801314"/>
          </a:xfrm>
          <a:prstGeom prst="rect">
            <a:avLst/>
          </a:prstGeom>
          <a:noFill/>
        </p:spPr>
        <p:txBody>
          <a:bodyPr wrap="square" rtlCol="0">
            <a:spAutoFit/>
          </a:bodyPr>
          <a:lstStyle/>
          <a:p>
            <a:r>
              <a:rPr lang="en-GR" b="1" dirty="0"/>
              <a:t>Steps executed in code</a:t>
            </a:r>
          </a:p>
          <a:p>
            <a:endParaRPr lang="en-GR" b="1" dirty="0"/>
          </a:p>
          <a:p>
            <a:pPr marL="342900" indent="-342900">
              <a:buFont typeface="+mj-lt"/>
              <a:buAutoNum type="arabicPeriod"/>
            </a:pPr>
            <a:r>
              <a:rPr lang="en-GR" dirty="0"/>
              <a:t>PDF loaded with PyPDFloader and split to chunks (smaller pieces) in order to fit the LLM context window. Chunk size 1000 was used.</a:t>
            </a:r>
          </a:p>
          <a:p>
            <a:pPr marL="342900" indent="-342900">
              <a:buFont typeface="+mj-lt"/>
              <a:buAutoNum type="arabicPeriod"/>
            </a:pPr>
            <a:r>
              <a:rPr lang="en-GR" dirty="0"/>
              <a:t>The text was then converted to numerical vectors using </a:t>
            </a:r>
            <a:r>
              <a:rPr lang="en-GB" dirty="0"/>
              <a:t>all-MiniLM-L6-v2 model from the sentence-transformers</a:t>
            </a:r>
            <a:r>
              <a:rPr lang="en-GR" dirty="0"/>
              <a:t>. After the conversion it is saved in numpy array.</a:t>
            </a:r>
          </a:p>
          <a:p>
            <a:pPr marL="342900" indent="-342900">
              <a:buFont typeface="+mj-lt"/>
              <a:buAutoNum type="arabicPeriod"/>
            </a:pPr>
            <a:r>
              <a:rPr lang="en-GR" dirty="0"/>
              <a:t>The initial question is paraphrased and 2 more are created with </a:t>
            </a:r>
            <a:r>
              <a:rPr lang="en-GB" dirty="0"/>
              <a:t>Llama-3.2-3B-Instruct</a:t>
            </a:r>
            <a:r>
              <a:rPr lang="en-GR" dirty="0"/>
              <a:t> (same with task 5) with the help of Unsloth library for fast inference (</a:t>
            </a:r>
            <a:r>
              <a:rPr lang="en-GB" dirty="0"/>
              <a:t>Llama 3.2 Chat Template was used). This helps the model to capture different relevant text chunks.</a:t>
            </a:r>
          </a:p>
          <a:p>
            <a:pPr marL="342900" indent="-342900">
              <a:buFont typeface="+mj-lt"/>
              <a:buAutoNum type="arabicPeriod"/>
            </a:pPr>
            <a:r>
              <a:rPr lang="en-GB" dirty="0"/>
              <a:t>We use cosine similarity to calculate the “distance” between the query embeddings and the stored document embeddings.</a:t>
            </a:r>
          </a:p>
          <a:p>
            <a:pPr marL="342900" indent="-342900">
              <a:buFont typeface="+mj-lt"/>
              <a:buAutoNum type="arabicPeriod"/>
            </a:pPr>
            <a:r>
              <a:rPr lang="en-GB" dirty="0"/>
              <a:t>We then retrieve the top 5 most similar chunks for every question (initial and paraphrases) with a threshold of 0.3 to filter out results with lesser relevance. We select the top 3.</a:t>
            </a:r>
          </a:p>
          <a:p>
            <a:pPr marL="342900" indent="-342900">
              <a:buFont typeface="+mj-lt"/>
              <a:buAutoNum type="arabicPeriod"/>
            </a:pPr>
            <a:r>
              <a:rPr lang="en-GB" dirty="0"/>
              <a:t>Finally we combine the retrieved knowledge with the LLM’s reasoning. We build a prompt that includes the retrieved text chunks as a reference and the original question. Based on that the LLM generates an answer based on the textbook information.</a:t>
            </a:r>
          </a:p>
          <a:p>
            <a:pPr marL="342900" indent="-342900">
              <a:buFont typeface="+mj-lt"/>
              <a:buAutoNum type="arabicPeriod"/>
            </a:pPr>
            <a:endParaRPr lang="en-GR" dirty="0"/>
          </a:p>
        </p:txBody>
      </p:sp>
    </p:spTree>
    <p:extLst>
      <p:ext uri="{BB962C8B-B14F-4D97-AF65-F5344CB8AC3E}">
        <p14:creationId xmlns:p14="http://schemas.microsoft.com/office/powerpoint/2010/main" val="39601788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9</a:t>
            </a:fld>
            <a:endParaRPr lang="en-US"/>
          </a:p>
        </p:txBody>
      </p:sp>
      <p:sp>
        <p:nvSpPr>
          <p:cNvPr id="8" name="TextBox 7">
            <a:extLst>
              <a:ext uri="{FF2B5EF4-FFF2-40B4-BE49-F238E27FC236}">
                <a16:creationId xmlns:a16="http://schemas.microsoft.com/office/drawing/2014/main" id="{1E4068ED-6E14-0496-C054-CFF06F18C4F9}"/>
              </a:ext>
            </a:extLst>
          </p:cNvPr>
          <p:cNvSpPr txBox="1"/>
          <p:nvPr/>
        </p:nvSpPr>
        <p:spPr>
          <a:xfrm>
            <a:off x="521208" y="947450"/>
            <a:ext cx="10177786" cy="707886"/>
          </a:xfrm>
          <a:prstGeom prst="rect">
            <a:avLst/>
          </a:prstGeom>
          <a:noFill/>
        </p:spPr>
        <p:txBody>
          <a:bodyPr wrap="none" rtlCol="0">
            <a:spAutoFit/>
          </a:bodyPr>
          <a:lstStyle/>
          <a:p>
            <a:r>
              <a:rPr lang="en-GR" sz="2000" b="1" dirty="0"/>
              <a:t>4. </a:t>
            </a:r>
            <a:r>
              <a:rPr lang="en-GB" sz="2000" b="1" dirty="0">
                <a:effectLst/>
                <a:latin typeface="Helvetica" pitchFamily="2" charset="0"/>
              </a:rPr>
              <a:t>Collect via prompt engineering a list of answers on questions for deep learning </a:t>
            </a:r>
          </a:p>
          <a:p>
            <a:r>
              <a:rPr lang="en-GB" sz="2000" b="1" dirty="0">
                <a:effectLst/>
                <a:latin typeface="Helvetica" pitchFamily="2" charset="0"/>
              </a:rPr>
              <a:t>providing two answers one gentle and one toxic (Gordon Ramsay style) </a:t>
            </a:r>
          </a:p>
        </p:txBody>
      </p:sp>
      <p:sp>
        <p:nvSpPr>
          <p:cNvPr id="2" name="TextBox 1">
            <a:extLst>
              <a:ext uri="{FF2B5EF4-FFF2-40B4-BE49-F238E27FC236}">
                <a16:creationId xmlns:a16="http://schemas.microsoft.com/office/drawing/2014/main" id="{F293CC40-FFCF-C4BA-8FAF-B567E1FD9312}"/>
              </a:ext>
            </a:extLst>
          </p:cNvPr>
          <p:cNvSpPr txBox="1"/>
          <p:nvPr/>
        </p:nvSpPr>
        <p:spPr>
          <a:xfrm>
            <a:off x="521208" y="2302526"/>
            <a:ext cx="801823" cy="369332"/>
          </a:xfrm>
          <a:prstGeom prst="rect">
            <a:avLst/>
          </a:prstGeom>
          <a:noFill/>
        </p:spPr>
        <p:txBody>
          <a:bodyPr wrap="none" rtlCol="0">
            <a:spAutoFit/>
          </a:bodyPr>
          <a:lstStyle/>
          <a:p>
            <a:r>
              <a:rPr lang="en-GR" dirty="0"/>
              <a:t>DONE</a:t>
            </a:r>
          </a:p>
        </p:txBody>
      </p:sp>
      <p:sp>
        <p:nvSpPr>
          <p:cNvPr id="10" name="TextBox 9">
            <a:extLst>
              <a:ext uri="{FF2B5EF4-FFF2-40B4-BE49-F238E27FC236}">
                <a16:creationId xmlns:a16="http://schemas.microsoft.com/office/drawing/2014/main" id="{E3333BCC-0665-0EDC-E528-23484F1BB05B}"/>
              </a:ext>
            </a:extLst>
          </p:cNvPr>
          <p:cNvSpPr txBox="1"/>
          <p:nvPr/>
        </p:nvSpPr>
        <p:spPr>
          <a:xfrm>
            <a:off x="521208" y="3059668"/>
            <a:ext cx="4693593" cy="369332"/>
          </a:xfrm>
          <a:prstGeom prst="rect">
            <a:avLst/>
          </a:prstGeom>
          <a:noFill/>
        </p:spPr>
        <p:txBody>
          <a:bodyPr wrap="none" rtlCol="0">
            <a:spAutoFit/>
          </a:bodyPr>
          <a:lstStyle/>
          <a:p>
            <a:r>
              <a:rPr lang="en-GB" dirty="0"/>
              <a:t>Filename: mscaidl-0077_ramsay_dataset.csv</a:t>
            </a:r>
            <a:endParaRPr lang="en-GR" dirty="0"/>
          </a:p>
        </p:txBody>
      </p:sp>
    </p:spTree>
    <p:extLst>
      <p:ext uri="{BB962C8B-B14F-4D97-AF65-F5344CB8AC3E}">
        <p14:creationId xmlns:p14="http://schemas.microsoft.com/office/powerpoint/2010/main" val="29629468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10</a:t>
            </a:fld>
            <a:endParaRPr lang="en-US"/>
          </a:p>
        </p:txBody>
      </p:sp>
      <p:sp>
        <p:nvSpPr>
          <p:cNvPr id="9" name="TextBox 8">
            <a:extLst>
              <a:ext uri="{FF2B5EF4-FFF2-40B4-BE49-F238E27FC236}">
                <a16:creationId xmlns:a16="http://schemas.microsoft.com/office/drawing/2014/main" id="{A66797F6-16DC-1A0C-2AC9-7459C93AC801}"/>
              </a:ext>
            </a:extLst>
          </p:cNvPr>
          <p:cNvSpPr txBox="1"/>
          <p:nvPr/>
        </p:nvSpPr>
        <p:spPr>
          <a:xfrm>
            <a:off x="521208" y="966045"/>
            <a:ext cx="7712689" cy="400110"/>
          </a:xfrm>
          <a:prstGeom prst="rect">
            <a:avLst/>
          </a:prstGeom>
          <a:noFill/>
        </p:spPr>
        <p:txBody>
          <a:bodyPr wrap="none" rtlCol="0">
            <a:spAutoFit/>
          </a:bodyPr>
          <a:lstStyle/>
          <a:p>
            <a:r>
              <a:rPr lang="en-GR" sz="2000" b="1" dirty="0"/>
              <a:t>5. </a:t>
            </a:r>
            <a:r>
              <a:rPr lang="en-GB" sz="2000" b="1" dirty="0">
                <a:effectLst/>
                <a:latin typeface="Helvetica" pitchFamily="2" charset="0"/>
              </a:rPr>
              <a:t>Tune an LLM using DPO to always act like Gordon Ramsay!</a:t>
            </a:r>
          </a:p>
        </p:txBody>
      </p:sp>
      <p:sp>
        <p:nvSpPr>
          <p:cNvPr id="2" name="TextBox 1">
            <a:extLst>
              <a:ext uri="{FF2B5EF4-FFF2-40B4-BE49-F238E27FC236}">
                <a16:creationId xmlns:a16="http://schemas.microsoft.com/office/drawing/2014/main" id="{30F968A6-185B-3595-518C-4D3874B7B1B6}"/>
              </a:ext>
            </a:extLst>
          </p:cNvPr>
          <p:cNvSpPr txBox="1"/>
          <p:nvPr/>
        </p:nvSpPr>
        <p:spPr>
          <a:xfrm>
            <a:off x="521208" y="1681825"/>
            <a:ext cx="4526817" cy="369332"/>
          </a:xfrm>
          <a:prstGeom prst="rect">
            <a:avLst/>
          </a:prstGeom>
          <a:noFill/>
        </p:spPr>
        <p:txBody>
          <a:bodyPr wrap="none" rtlCol="0">
            <a:spAutoFit/>
          </a:bodyPr>
          <a:lstStyle/>
          <a:p>
            <a:r>
              <a:rPr lang="en-GB" dirty="0"/>
              <a:t>Model used: </a:t>
            </a:r>
            <a:r>
              <a:rPr lang="en-GB" dirty="0" err="1"/>
              <a:t>unsloth</a:t>
            </a:r>
            <a:r>
              <a:rPr lang="en-GB" dirty="0"/>
              <a:t>/Llama-3.2-3B-Instruct</a:t>
            </a:r>
            <a:endParaRPr lang="en-GR" dirty="0"/>
          </a:p>
        </p:txBody>
      </p:sp>
      <p:sp>
        <p:nvSpPr>
          <p:cNvPr id="6" name="TextBox 5">
            <a:extLst>
              <a:ext uri="{FF2B5EF4-FFF2-40B4-BE49-F238E27FC236}">
                <a16:creationId xmlns:a16="http://schemas.microsoft.com/office/drawing/2014/main" id="{1A80C2A6-9546-2FFE-C719-69FC3E4C4AE5}"/>
              </a:ext>
            </a:extLst>
          </p:cNvPr>
          <p:cNvSpPr txBox="1"/>
          <p:nvPr/>
        </p:nvSpPr>
        <p:spPr>
          <a:xfrm>
            <a:off x="521208" y="2366827"/>
            <a:ext cx="5405839" cy="369332"/>
          </a:xfrm>
          <a:prstGeom prst="rect">
            <a:avLst/>
          </a:prstGeom>
          <a:noFill/>
        </p:spPr>
        <p:txBody>
          <a:bodyPr wrap="none" rtlCol="0">
            <a:spAutoFit/>
          </a:bodyPr>
          <a:lstStyle/>
          <a:p>
            <a:r>
              <a:rPr lang="en-GB" dirty="0"/>
              <a:t>Average Cosine Similarity to Original Ramsay: 0.3638</a:t>
            </a:r>
            <a:endParaRPr lang="en-GR" dirty="0"/>
          </a:p>
        </p:txBody>
      </p:sp>
      <p:sp>
        <p:nvSpPr>
          <p:cNvPr id="7" name="TextBox 6">
            <a:extLst>
              <a:ext uri="{FF2B5EF4-FFF2-40B4-BE49-F238E27FC236}">
                <a16:creationId xmlns:a16="http://schemas.microsoft.com/office/drawing/2014/main" id="{FE5DA93D-4E02-08C9-8DC4-7AEA043A599F}"/>
              </a:ext>
            </a:extLst>
          </p:cNvPr>
          <p:cNvSpPr txBox="1"/>
          <p:nvPr/>
        </p:nvSpPr>
        <p:spPr>
          <a:xfrm>
            <a:off x="7143977" y="1681825"/>
            <a:ext cx="3861955" cy="3108543"/>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BASE_CONFIG = {</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gradient_accumulation_steps</a:t>
            </a:r>
            <a:r>
              <a:rPr lang="en-GB" sz="1400" dirty="0">
                <a:latin typeface="Consolas" panose="020B0609020204030204" pitchFamily="49" charset="0"/>
                <a:cs typeface="Consolas" panose="020B0609020204030204" pitchFamily="49" charset="0"/>
              </a:rPr>
              <a:t>': 4,</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warmup_ratio</a:t>
            </a:r>
            <a:r>
              <a:rPr lang="en-GB" sz="1400" dirty="0">
                <a:latin typeface="Consolas" panose="020B0609020204030204" pitchFamily="49" charset="0"/>
                <a:cs typeface="Consolas" panose="020B0609020204030204" pitchFamily="49" charset="0"/>
              </a:rPr>
              <a:t>': 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5e-5,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logging_steps</a:t>
            </a:r>
            <a:r>
              <a:rPr lang="en-GB" sz="1400" dirty="0">
                <a:latin typeface="Consolas" panose="020B0609020204030204" pitchFamily="49" charset="0"/>
                <a:cs typeface="Consolas" panose="020B0609020204030204" pitchFamily="49" charset="0"/>
              </a:rPr>
              <a:t>': 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optim</a:t>
            </a:r>
            <a:r>
              <a:rPr lang="en-GB" sz="1400" dirty="0">
                <a:latin typeface="Consolas" panose="020B0609020204030204" pitchFamily="49" charset="0"/>
                <a:cs typeface="Consolas" panose="020B0609020204030204" pitchFamily="49" charset="0"/>
              </a:rPr>
              <a:t>': "paged_adamw_32bit",</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lr_scheduler_type</a:t>
            </a:r>
            <a:r>
              <a:rPr lang="en-GB" sz="1400" dirty="0">
                <a:latin typeface="Consolas" panose="020B0609020204030204" pitchFamily="49" charset="0"/>
                <a:cs typeface="Consolas" panose="020B0609020204030204" pitchFamily="49" charset="0"/>
              </a:rPr>
              <a:t>': "linear",</a:t>
            </a:r>
          </a:p>
          <a:p>
            <a:r>
              <a:rPr lang="en-GB" sz="1400" dirty="0">
                <a:latin typeface="Consolas" panose="020B0609020204030204" pitchFamily="49" charset="0"/>
                <a:cs typeface="Consolas" panose="020B0609020204030204" pitchFamily="49" charset="0"/>
              </a:rPr>
              <a:t>    'beta': 0.2,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max_prompt_length</a:t>
            </a:r>
            <a:r>
              <a:rPr lang="en-GB" sz="1400" dirty="0">
                <a:latin typeface="Consolas" panose="020B0609020204030204" pitchFamily="49" charset="0"/>
                <a:cs typeface="Consolas" panose="020B0609020204030204" pitchFamily="49" charset="0"/>
              </a:rPr>
              <a:t>': 512,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max_length</a:t>
            </a:r>
            <a:r>
              <a:rPr lang="en-GB" sz="1400" dirty="0">
                <a:latin typeface="Consolas" panose="020B0609020204030204" pitchFamily="49" charset="0"/>
                <a:cs typeface="Consolas" panose="020B0609020204030204" pitchFamily="49" charset="0"/>
              </a:rPr>
              <a:t>': 1024,</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
        <p:nvSpPr>
          <p:cNvPr id="8" name="TextBox 7">
            <a:extLst>
              <a:ext uri="{FF2B5EF4-FFF2-40B4-BE49-F238E27FC236}">
                <a16:creationId xmlns:a16="http://schemas.microsoft.com/office/drawing/2014/main" id="{8402935D-7D2F-CD78-7048-79149345E433}"/>
              </a:ext>
            </a:extLst>
          </p:cNvPr>
          <p:cNvSpPr txBox="1"/>
          <p:nvPr/>
        </p:nvSpPr>
        <p:spPr>
          <a:xfrm>
            <a:off x="521208" y="4576010"/>
            <a:ext cx="4768485" cy="1200329"/>
          </a:xfrm>
          <a:prstGeom prst="rect">
            <a:avLst/>
          </a:prstGeom>
          <a:noFill/>
        </p:spPr>
        <p:txBody>
          <a:bodyPr wrap="none" rtlCol="0">
            <a:spAutoFit/>
          </a:bodyPr>
          <a:lstStyle/>
          <a:p>
            <a:r>
              <a:rPr lang="en-GR" dirty="0"/>
              <a:t>Training dataset was created by consolidating </a:t>
            </a:r>
          </a:p>
          <a:p>
            <a:r>
              <a:rPr lang="en-GR" dirty="0"/>
              <a:t>all individual *.csv in one test.csv file</a:t>
            </a:r>
          </a:p>
          <a:p>
            <a:endParaRPr lang="en-GR" dirty="0"/>
          </a:p>
          <a:p>
            <a:r>
              <a:rPr lang="en-GR" dirty="0"/>
              <a:t>Validation dataset was the one created by me</a:t>
            </a:r>
          </a:p>
        </p:txBody>
      </p:sp>
      <p:sp>
        <p:nvSpPr>
          <p:cNvPr id="10" name="TextBox 9">
            <a:extLst>
              <a:ext uri="{FF2B5EF4-FFF2-40B4-BE49-F238E27FC236}">
                <a16:creationId xmlns:a16="http://schemas.microsoft.com/office/drawing/2014/main" id="{7AE5E151-149D-9857-BF5C-961AAD1A8098}"/>
              </a:ext>
            </a:extLst>
          </p:cNvPr>
          <p:cNvSpPr txBox="1"/>
          <p:nvPr/>
        </p:nvSpPr>
        <p:spPr>
          <a:xfrm>
            <a:off x="521208" y="2882840"/>
            <a:ext cx="5617756" cy="646331"/>
          </a:xfrm>
          <a:prstGeom prst="rect">
            <a:avLst/>
          </a:prstGeom>
          <a:noFill/>
        </p:spPr>
        <p:txBody>
          <a:bodyPr wrap="none" rtlCol="0">
            <a:spAutoFit/>
          </a:bodyPr>
          <a:lstStyle/>
          <a:p>
            <a:r>
              <a:rPr lang="en-GR" dirty="0"/>
              <a:t>Also run LLM as a judge:</a:t>
            </a:r>
          </a:p>
          <a:p>
            <a:r>
              <a:rPr lang="en-GB" dirty="0"/>
              <a:t>Average Ramsay Score: 2.71 / 5 (1=Polite….5=Ramsay)</a:t>
            </a:r>
            <a:endParaRPr lang="en-GR" dirty="0"/>
          </a:p>
        </p:txBody>
      </p:sp>
    </p:spTree>
    <p:extLst>
      <p:ext uri="{BB962C8B-B14F-4D97-AF65-F5344CB8AC3E}">
        <p14:creationId xmlns:p14="http://schemas.microsoft.com/office/powerpoint/2010/main" val="11678518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11</a:t>
            </a:fld>
            <a:endParaRPr lang="en-US"/>
          </a:p>
        </p:txBody>
      </p:sp>
      <p:sp>
        <p:nvSpPr>
          <p:cNvPr id="9" name="TextBox 8">
            <a:extLst>
              <a:ext uri="{FF2B5EF4-FFF2-40B4-BE49-F238E27FC236}">
                <a16:creationId xmlns:a16="http://schemas.microsoft.com/office/drawing/2014/main" id="{A66797F6-16DC-1A0C-2AC9-7459C93AC801}"/>
              </a:ext>
            </a:extLst>
          </p:cNvPr>
          <p:cNvSpPr txBox="1"/>
          <p:nvPr/>
        </p:nvSpPr>
        <p:spPr>
          <a:xfrm>
            <a:off x="521208" y="966045"/>
            <a:ext cx="7712689" cy="400110"/>
          </a:xfrm>
          <a:prstGeom prst="rect">
            <a:avLst/>
          </a:prstGeom>
          <a:noFill/>
        </p:spPr>
        <p:txBody>
          <a:bodyPr wrap="none" rtlCol="0">
            <a:spAutoFit/>
          </a:bodyPr>
          <a:lstStyle/>
          <a:p>
            <a:r>
              <a:rPr lang="en-GR" sz="2000" b="1" dirty="0"/>
              <a:t>5. </a:t>
            </a:r>
            <a:r>
              <a:rPr lang="en-GB" sz="2000" b="1" dirty="0">
                <a:effectLst/>
                <a:latin typeface="Helvetica" pitchFamily="2" charset="0"/>
              </a:rPr>
              <a:t>Tune an LLM using DPO to always act like Gordon Ramsay!</a:t>
            </a:r>
          </a:p>
        </p:txBody>
      </p:sp>
      <p:sp>
        <p:nvSpPr>
          <p:cNvPr id="5" name="TextBox 4">
            <a:extLst>
              <a:ext uri="{FF2B5EF4-FFF2-40B4-BE49-F238E27FC236}">
                <a16:creationId xmlns:a16="http://schemas.microsoft.com/office/drawing/2014/main" id="{C139169D-02EA-084D-6868-A52492F7B8D5}"/>
              </a:ext>
            </a:extLst>
          </p:cNvPr>
          <p:cNvSpPr txBox="1"/>
          <p:nvPr/>
        </p:nvSpPr>
        <p:spPr>
          <a:xfrm>
            <a:off x="521209" y="1477304"/>
            <a:ext cx="8721943" cy="369332"/>
          </a:xfrm>
          <a:prstGeom prst="rect">
            <a:avLst/>
          </a:prstGeom>
          <a:noFill/>
        </p:spPr>
        <p:txBody>
          <a:bodyPr wrap="square" rtlCol="0">
            <a:spAutoFit/>
          </a:bodyPr>
          <a:lstStyle/>
          <a:p>
            <a:r>
              <a:rPr lang="en-GB" dirty="0"/>
              <a:t>Sample Questions/Answers</a:t>
            </a:r>
          </a:p>
        </p:txBody>
      </p:sp>
      <p:graphicFrame>
        <p:nvGraphicFramePr>
          <p:cNvPr id="11" name="Table 10">
            <a:extLst>
              <a:ext uri="{FF2B5EF4-FFF2-40B4-BE49-F238E27FC236}">
                <a16:creationId xmlns:a16="http://schemas.microsoft.com/office/drawing/2014/main" id="{6EED5701-EFA9-6465-85ED-87C68559942C}"/>
              </a:ext>
            </a:extLst>
          </p:cNvPr>
          <p:cNvGraphicFramePr>
            <a:graphicFrameLocks noGrp="1"/>
          </p:cNvGraphicFramePr>
          <p:nvPr>
            <p:extLst>
              <p:ext uri="{D42A27DB-BD31-4B8C-83A1-F6EECF244321}">
                <p14:modId xmlns:p14="http://schemas.microsoft.com/office/powerpoint/2010/main" val="421724260"/>
              </p:ext>
            </p:extLst>
          </p:nvPr>
        </p:nvGraphicFramePr>
        <p:xfrm>
          <a:off x="378248" y="1957785"/>
          <a:ext cx="11376750" cy="3489322"/>
        </p:xfrm>
        <a:graphic>
          <a:graphicData uri="http://schemas.openxmlformats.org/drawingml/2006/table">
            <a:tbl>
              <a:tblPr firstRow="1" bandRow="1">
                <a:tableStyleId>{69012ECD-51FC-41F1-AA8D-1B2483CD663E}</a:tableStyleId>
              </a:tblPr>
              <a:tblGrid>
                <a:gridCol w="2275350">
                  <a:extLst>
                    <a:ext uri="{9D8B030D-6E8A-4147-A177-3AD203B41FA5}">
                      <a16:colId xmlns:a16="http://schemas.microsoft.com/office/drawing/2014/main" val="4244057321"/>
                    </a:ext>
                  </a:extLst>
                </a:gridCol>
                <a:gridCol w="2275350">
                  <a:extLst>
                    <a:ext uri="{9D8B030D-6E8A-4147-A177-3AD203B41FA5}">
                      <a16:colId xmlns:a16="http://schemas.microsoft.com/office/drawing/2014/main" val="4125226041"/>
                    </a:ext>
                  </a:extLst>
                </a:gridCol>
                <a:gridCol w="2275350">
                  <a:extLst>
                    <a:ext uri="{9D8B030D-6E8A-4147-A177-3AD203B41FA5}">
                      <a16:colId xmlns:a16="http://schemas.microsoft.com/office/drawing/2014/main" val="4228042166"/>
                    </a:ext>
                  </a:extLst>
                </a:gridCol>
                <a:gridCol w="3479905">
                  <a:extLst>
                    <a:ext uri="{9D8B030D-6E8A-4147-A177-3AD203B41FA5}">
                      <a16:colId xmlns:a16="http://schemas.microsoft.com/office/drawing/2014/main" val="3871550087"/>
                    </a:ext>
                  </a:extLst>
                </a:gridCol>
                <a:gridCol w="1070795">
                  <a:extLst>
                    <a:ext uri="{9D8B030D-6E8A-4147-A177-3AD203B41FA5}">
                      <a16:colId xmlns:a16="http://schemas.microsoft.com/office/drawing/2014/main" val="460463167"/>
                    </a:ext>
                  </a:extLst>
                </a:gridCol>
              </a:tblGrid>
              <a:tr h="483270">
                <a:tc>
                  <a:txBody>
                    <a:bodyPr/>
                    <a:lstStyle/>
                    <a:p>
                      <a:r>
                        <a:rPr lang="en-GR" sz="1400" dirty="0"/>
                        <a:t>Question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Polite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Ramsay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DPO Model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Similarity </a:t>
                      </a:r>
                    </a:p>
                    <a:p>
                      <a:r>
                        <a:rPr lang="en-GR" sz="1400" dirty="0"/>
                        <a:t>Score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721467"/>
                  </a:ext>
                </a:extLst>
              </a:tr>
              <a:tr h="675956">
                <a:tc>
                  <a:txBody>
                    <a:bodyPr/>
                    <a:lstStyle/>
                    <a:p>
                      <a:pPr algn="l" fontAlgn="b"/>
                      <a:r>
                        <a:rPr lang="en-GB" sz="1050" b="0" u="none" strike="noStrike" dirty="0">
                          <a:solidFill>
                            <a:srgbClr val="000000"/>
                          </a:solidFill>
                          <a:effectLst/>
                        </a:rPr>
                        <a:t>What is the benefit of a CNN for images?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CNNs use filters to capture spatial hierarchies and local patterns like edges.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Stop treating pixels like a flat list! It is an image! Use a convolution and look at patterns you doughnut!</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The answer is that it is faster than you! You'll be done before the image is finished loading!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0.111633345484</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215521"/>
                  </a:ext>
                </a:extLst>
              </a:tr>
              <a:tr h="675956">
                <a:tc>
                  <a:txBody>
                    <a:bodyPr/>
                    <a:lstStyle/>
                    <a:p>
                      <a:pPr algn="l" fontAlgn="b"/>
                      <a:r>
                        <a:rPr lang="en-GB" sz="1050" b="0" u="none" strike="noStrike" dirty="0">
                          <a:solidFill>
                            <a:srgbClr val="000000"/>
                          </a:solidFill>
                          <a:effectLst/>
                        </a:rPr>
                        <a:t>Why do we need a Validation set?</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a:solidFill>
                            <a:srgbClr val="000000"/>
                          </a:solidFill>
                          <a:effectLst/>
                        </a:rPr>
                        <a:t>It provides an unbiased evaluation of a model while tuning hyperparameters.</a:t>
                      </a:r>
                      <a:endParaRPr lang="en-GB" sz="1050" b="0" i="0" u="none" strike="noStrike">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cannot taste your own dish and call it a Michelin star! Test it on something new or you are kidding yourself!</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need a validation set because you are probably going to mess it up! It's like a crash test dummy - it's there to see how you handle the inevitable mistakes!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0.143187433481</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591338"/>
                  </a:ext>
                </a:extLst>
              </a:tr>
              <a:tr h="675956">
                <a:tc>
                  <a:txBody>
                    <a:bodyPr/>
                    <a:lstStyle/>
                    <a:p>
                      <a:pPr algn="l" fontAlgn="b"/>
                      <a:r>
                        <a:rPr lang="en-GB" sz="1050" b="0" u="none" strike="noStrike" dirty="0">
                          <a:solidFill>
                            <a:srgbClr val="000000"/>
                          </a:solidFill>
                          <a:effectLst/>
                        </a:rPr>
                        <a:t>What is Early Stopping?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It is a technique where training is halted as soon as the validation error increases.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Stop it is overcooked! The error is going up! Turn off the GPU before you burn the whole thing!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It's your wife! It's your wife! It's your wife! Oh, wait... You mean Early Stopping? It's when you stop buying unnecessary things because you're not going to need them, and then you realize you're not going to need that shirt either!</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0.209640681743</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1047559"/>
                  </a:ext>
                </a:extLst>
              </a:tr>
              <a:tr h="675956">
                <a:tc>
                  <a:txBody>
                    <a:bodyPr/>
                    <a:lstStyle/>
                    <a:p>
                      <a:pPr algn="l" fontAlgn="b"/>
                      <a:r>
                        <a:rPr lang="en-GB" sz="1050" b="0" u="none" strike="noStrike" dirty="0">
                          <a:solidFill>
                            <a:srgbClr val="000000"/>
                          </a:solidFill>
                          <a:effectLst/>
                        </a:rPr>
                        <a:t>Why do we use dropout in neural networks?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Dropout is a regularization technique that randomly deactivates neurons during training to prevent overfitting.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Without dropout, your network is a one-trick pony memorizing the menu! It's a bloated, overconfident fool! Dropout forces it to be robust, you donkey!</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don't. I do. I'm a dropout. Your neural network is probably failing because of my laziness.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0.542586147785</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8770834"/>
                  </a:ext>
                </a:extLst>
              </a:tr>
            </a:tbl>
          </a:graphicData>
        </a:graphic>
      </p:graphicFrame>
    </p:spTree>
    <p:extLst>
      <p:ext uri="{BB962C8B-B14F-4D97-AF65-F5344CB8AC3E}">
        <p14:creationId xmlns:p14="http://schemas.microsoft.com/office/powerpoint/2010/main" val="3533648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12</a:t>
            </a:fld>
            <a:endParaRPr lang="en-US"/>
          </a:p>
        </p:txBody>
      </p:sp>
      <p:sp>
        <p:nvSpPr>
          <p:cNvPr id="9" name="TextBox 8">
            <a:extLst>
              <a:ext uri="{FF2B5EF4-FFF2-40B4-BE49-F238E27FC236}">
                <a16:creationId xmlns:a16="http://schemas.microsoft.com/office/drawing/2014/main" id="{A66797F6-16DC-1A0C-2AC9-7459C93AC801}"/>
              </a:ext>
            </a:extLst>
          </p:cNvPr>
          <p:cNvSpPr txBox="1"/>
          <p:nvPr/>
        </p:nvSpPr>
        <p:spPr>
          <a:xfrm>
            <a:off x="521208" y="966045"/>
            <a:ext cx="7712689" cy="400110"/>
          </a:xfrm>
          <a:prstGeom prst="rect">
            <a:avLst/>
          </a:prstGeom>
          <a:noFill/>
        </p:spPr>
        <p:txBody>
          <a:bodyPr wrap="none" rtlCol="0">
            <a:spAutoFit/>
          </a:bodyPr>
          <a:lstStyle/>
          <a:p>
            <a:r>
              <a:rPr lang="en-GR" sz="2000" b="1" dirty="0"/>
              <a:t>5. </a:t>
            </a:r>
            <a:r>
              <a:rPr lang="en-GB" sz="2000" b="1" dirty="0">
                <a:effectLst/>
                <a:latin typeface="Helvetica" pitchFamily="2" charset="0"/>
              </a:rPr>
              <a:t>Tune an LLM using DPO to always act like Gordon Ramsay!</a:t>
            </a:r>
          </a:p>
        </p:txBody>
      </p:sp>
      <p:sp>
        <p:nvSpPr>
          <p:cNvPr id="2" name="TextBox 1">
            <a:extLst>
              <a:ext uri="{FF2B5EF4-FFF2-40B4-BE49-F238E27FC236}">
                <a16:creationId xmlns:a16="http://schemas.microsoft.com/office/drawing/2014/main" id="{605A3DA1-AFC0-26A4-C433-AF76394BD796}"/>
              </a:ext>
            </a:extLst>
          </p:cNvPr>
          <p:cNvSpPr txBox="1"/>
          <p:nvPr/>
        </p:nvSpPr>
        <p:spPr>
          <a:xfrm>
            <a:off x="521208" y="1367640"/>
            <a:ext cx="10136621" cy="4893647"/>
          </a:xfrm>
          <a:prstGeom prst="rect">
            <a:avLst/>
          </a:prstGeom>
          <a:noFill/>
        </p:spPr>
        <p:txBody>
          <a:bodyPr wrap="none" rtlCol="0">
            <a:spAutoFit/>
          </a:bodyPr>
          <a:lstStyle/>
          <a:p>
            <a:r>
              <a:rPr lang="en-GB" sz="1200" dirty="0"/>
              <a:t>==================================================</a:t>
            </a:r>
          </a:p>
          <a:p>
            <a:r>
              <a:rPr lang="en-GB" sz="1200" dirty="0"/>
              <a:t>PREVIEW OF FIRST 5 RAMSAY RESPONSES</a:t>
            </a:r>
          </a:p>
          <a:p>
            <a:r>
              <a:rPr lang="en-GB" sz="1200" dirty="0"/>
              <a:t>==================================================</a:t>
            </a:r>
          </a:p>
          <a:p>
            <a:endParaRPr lang="en-GB" sz="1200" dirty="0"/>
          </a:p>
          <a:p>
            <a:r>
              <a:rPr lang="en-GB" sz="1200" dirty="0"/>
              <a:t>STUDENT QUESTION: What is the purpose of a Padding token?</a:t>
            </a:r>
          </a:p>
          <a:p>
            <a:r>
              <a:rPr lang="en-GB" sz="1200" dirty="0"/>
              <a:t>RAMSAY RESPONSE:  The purpose of a padding token is to prevent someone from guessing your password. </a:t>
            </a:r>
          </a:p>
          <a:p>
            <a:r>
              <a:rPr lang="en-GB" sz="1200" dirty="0"/>
              <a:t>It is like a guardian angel that watches your back while you're sleeping. It's a safety net that prevents your password from being used by someone else. </a:t>
            </a:r>
          </a:p>
          <a:p>
            <a:r>
              <a:rPr lang="en-GB" sz="1200" dirty="0"/>
              <a:t>You can't just leave your house without locking the door, you know. Similarly, you</a:t>
            </a:r>
          </a:p>
          <a:p>
            <a:r>
              <a:rPr lang="en-GB" sz="1200" dirty="0"/>
              <a:t>SIMILARITY SCORE: 0.1535</a:t>
            </a:r>
          </a:p>
          <a:p>
            <a:r>
              <a:rPr lang="en-GB" sz="1200" dirty="0"/>
              <a:t>--------------------------------------------------</a:t>
            </a:r>
          </a:p>
          <a:p>
            <a:r>
              <a:rPr lang="en-GB" sz="1200" dirty="0"/>
              <a:t>STUDENT QUESTION: What is the purpose of Dropout?</a:t>
            </a:r>
          </a:p>
          <a:p>
            <a:r>
              <a:rPr lang="en-GB" sz="1200" dirty="0"/>
              <a:t>RAMSAY RESPONSE:  To let you know that you messed up and are not good enough!</a:t>
            </a:r>
          </a:p>
          <a:p>
            <a:r>
              <a:rPr lang="en-GB" sz="1200" dirty="0"/>
              <a:t>SIMILARITY SCORE: 0.0162</a:t>
            </a:r>
          </a:p>
          <a:p>
            <a:r>
              <a:rPr lang="en-GB" sz="1200" dirty="0"/>
              <a:t>--------------------------------------------------</a:t>
            </a:r>
          </a:p>
          <a:p>
            <a:r>
              <a:rPr lang="en-GB" sz="1200" dirty="0"/>
              <a:t>STUDENT QUESTION: Why normalize input data?</a:t>
            </a:r>
          </a:p>
          <a:p>
            <a:r>
              <a:rPr lang="en-GB" sz="1200" dirty="0"/>
              <a:t>RAMSAY RESPONSE:  Normalizing input data is like preparing your clothes for a fashion show! </a:t>
            </a:r>
          </a:p>
          <a:p>
            <a:r>
              <a:rPr lang="en-GB" sz="1200" dirty="0"/>
              <a:t>You want to look your best, not like you just rolled out of bed! It means making sure your numbers are in the right order, </a:t>
            </a:r>
          </a:p>
          <a:p>
            <a:r>
              <a:rPr lang="en-GB" sz="1200" dirty="0"/>
              <a:t>and that you're not giving the judges (or the algorithm) a headache with messy, jumbled data.</a:t>
            </a:r>
          </a:p>
          <a:p>
            <a:r>
              <a:rPr lang="en-GB" sz="1200" dirty="0"/>
              <a:t>SIMILARITY SCORE: 0.3246</a:t>
            </a:r>
          </a:p>
          <a:p>
            <a:r>
              <a:rPr lang="en-GB" sz="1200" dirty="0"/>
              <a:t>--------------------------------------------------</a:t>
            </a:r>
          </a:p>
          <a:p>
            <a:r>
              <a:rPr lang="en-GB" sz="1200" dirty="0"/>
              <a:t>STUDENT QUESTION: What is a Learning Rate?</a:t>
            </a:r>
          </a:p>
          <a:p>
            <a:r>
              <a:rPr lang="en-GB" sz="1200" dirty="0"/>
              <a:t>RAMSAY RESPONSE:  It’s not just a buzzword! A learning rate is the rate at which you learn new things. </a:t>
            </a:r>
          </a:p>
          <a:p>
            <a:r>
              <a:rPr lang="en-GB" sz="1200" dirty="0"/>
              <a:t>It’s how quickly you absorb and retain new information. It’s like how fast you can drink a glass of water – it depends on how thirsty you are! </a:t>
            </a:r>
          </a:p>
          <a:p>
            <a:r>
              <a:rPr lang="en-GB" sz="1200" dirty="0"/>
              <a:t>If you’re really thirsty, you can drink it fast</a:t>
            </a:r>
          </a:p>
          <a:p>
            <a:r>
              <a:rPr lang="en-GB" sz="1200" dirty="0"/>
              <a:t>SIMILARITY SCORE: 0.1886</a:t>
            </a:r>
          </a:p>
          <a:p>
            <a:r>
              <a:rPr lang="en-GB" sz="1200" dirty="0"/>
              <a:t>--------------------------------------------------</a:t>
            </a:r>
            <a:endParaRPr lang="en-GR" sz="1200" dirty="0"/>
          </a:p>
        </p:txBody>
      </p:sp>
    </p:spTree>
    <p:extLst>
      <p:ext uri="{BB962C8B-B14F-4D97-AF65-F5344CB8AC3E}">
        <p14:creationId xmlns:p14="http://schemas.microsoft.com/office/powerpoint/2010/main" val="17959270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Graphic 6" descr="Help">
            <a:extLst>
              <a:ext uri="{FF2B5EF4-FFF2-40B4-BE49-F238E27FC236}">
                <a16:creationId xmlns:a16="http://schemas.microsoft.com/office/drawing/2014/main" id="{EA79FB38-D1A1-3371-BAAE-40F23CCEDAB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734217" y="2652107"/>
            <a:ext cx="1553785" cy="1553785"/>
          </a:xfrm>
          <a:prstGeom prst="rect">
            <a:avLst/>
          </a:prstGeom>
        </p:spPr>
      </p:pic>
      <p:sp>
        <p:nvSpPr>
          <p:cNvPr id="3" name="Content Placeholder 2">
            <a:extLst>
              <a:ext uri="{FF2B5EF4-FFF2-40B4-BE49-F238E27FC236}">
                <a16:creationId xmlns:a16="http://schemas.microsoft.com/office/drawing/2014/main" id="{3DA8BE34-BAEA-3750-2F00-C60ADE403396}"/>
              </a:ext>
            </a:extLst>
          </p:cNvPr>
          <p:cNvSpPr>
            <a:spLocks noGrp="1"/>
          </p:cNvSpPr>
          <p:nvPr>
            <p:ph idx="1"/>
          </p:nvPr>
        </p:nvSpPr>
        <p:spPr>
          <a:xfrm>
            <a:off x="4926221" y="1707701"/>
            <a:ext cx="1169779" cy="532892"/>
          </a:xfrm>
        </p:spPr>
        <p:txBody>
          <a:bodyPr>
            <a:noAutofit/>
          </a:bodyPr>
          <a:lstStyle/>
          <a:p>
            <a:pPr marL="0" indent="0">
              <a:buNone/>
            </a:pPr>
            <a:r>
              <a:rPr lang="en-US" sz="2800" b="1" dirty="0">
                <a:latin typeface="Calibri" panose="020F0502020204030204" pitchFamily="34" charset="0"/>
                <a:ea typeface="Calibri" panose="020F0502020204030204" pitchFamily="34" charset="0"/>
                <a:cs typeface="Calibri" panose="020F0502020204030204" pitchFamily="34" charset="0"/>
              </a:rPr>
              <a:t>Q &amp; A</a:t>
            </a:r>
            <a:endParaRPr lang="el-GR" sz="2800" b="1" dirty="0">
              <a:latin typeface="Calibri" panose="020F0502020204030204" pitchFamily="34" charset="0"/>
              <a:ea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F94331BF-C6FE-7A77-F0A5-1DBF573812F7}"/>
              </a:ext>
            </a:extLst>
          </p:cNvPr>
          <p:cNvSpPr txBox="1"/>
          <p:nvPr/>
        </p:nvSpPr>
        <p:spPr>
          <a:xfrm>
            <a:off x="4438650" y="1029199"/>
            <a:ext cx="2374900" cy="584775"/>
          </a:xfrm>
          <a:prstGeom prst="rect">
            <a:avLst/>
          </a:prstGeom>
          <a:noFill/>
        </p:spPr>
        <p:txBody>
          <a:bodyPr wrap="square" rtlCol="0">
            <a:spAutoFit/>
          </a:bodyPr>
          <a:lstStyle/>
          <a:p>
            <a:r>
              <a:rPr lang="en-US" sz="3200" b="1" dirty="0">
                <a:latin typeface="Calibri" panose="020F0502020204030204" pitchFamily="34" charset="0"/>
                <a:ea typeface="Calibri" panose="020F0502020204030204" pitchFamily="34" charset="0"/>
                <a:cs typeface="Calibri" panose="020F0502020204030204" pitchFamily="34" charset="0"/>
              </a:rPr>
              <a:t>Thank You!</a:t>
            </a:r>
            <a:endParaRPr lang="el-GR" sz="3200" b="1" dirty="0">
              <a:latin typeface="Calibri" panose="020F0502020204030204" pitchFamily="34" charset="0"/>
              <a:ea typeface="Calibri" panose="020F0502020204030204" pitchFamily="34" charset="0"/>
              <a:cs typeface="Calibri" panose="020F0502020204030204" pitchFamily="34" charset="0"/>
            </a:endParaRPr>
          </a:p>
        </p:txBody>
      </p:sp>
      <p:sp>
        <p:nvSpPr>
          <p:cNvPr id="4" name="Footer Placeholder 3">
            <a:extLst>
              <a:ext uri="{FF2B5EF4-FFF2-40B4-BE49-F238E27FC236}">
                <a16:creationId xmlns:a16="http://schemas.microsoft.com/office/drawing/2014/main" id="{BD4AA722-7468-8563-65BE-6248FE0AAA17}"/>
              </a:ext>
            </a:extLst>
          </p:cNvPr>
          <p:cNvSpPr>
            <a:spLocks noGrp="1"/>
          </p:cNvSpPr>
          <p:nvPr>
            <p:ph type="ftr" sz="quarter" idx="11"/>
          </p:nvPr>
        </p:nvSpPr>
        <p:spPr/>
        <p:txBody>
          <a:bodyPr/>
          <a:lstStyle/>
          <a:p>
            <a:r>
              <a:rPr lang="en-US">
                <a:latin typeface="Calibri" panose="020F0502020204030204" pitchFamily="34" charset="0"/>
                <a:ea typeface="Calibri" panose="020F0502020204030204" pitchFamily="34" charset="0"/>
                <a:cs typeface="Calibri" panose="020F0502020204030204" pitchFamily="34" charset="0"/>
              </a:rPr>
              <a:t>MSc Artificial Intelligence &amp; Deep Learning</a:t>
            </a:r>
          </a:p>
        </p:txBody>
      </p:sp>
      <p:sp>
        <p:nvSpPr>
          <p:cNvPr id="5" name="Slide Number Placeholder 4">
            <a:extLst>
              <a:ext uri="{FF2B5EF4-FFF2-40B4-BE49-F238E27FC236}">
                <a16:creationId xmlns:a16="http://schemas.microsoft.com/office/drawing/2014/main" id="{9FD42705-6282-39A6-2FC8-DC4819E7027F}"/>
              </a:ext>
            </a:extLst>
          </p:cNvPr>
          <p:cNvSpPr>
            <a:spLocks noGrp="1"/>
          </p:cNvSpPr>
          <p:nvPr>
            <p:ph type="sldNum" sz="quarter" idx="12"/>
          </p:nvPr>
        </p:nvSpPr>
        <p:spPr/>
        <p:txBody>
          <a:bodyPr/>
          <a:lstStyle/>
          <a:p>
            <a:fld id="{148CC95F-0247-41B6-91CF-DC97C76A7088}" type="slidenum">
              <a:rPr lang="en-US" smtClean="0">
                <a:latin typeface="Calibri" panose="020F0502020204030204" pitchFamily="34" charset="0"/>
                <a:ea typeface="Calibri" panose="020F0502020204030204" pitchFamily="34" charset="0"/>
                <a:cs typeface="Calibri" panose="020F0502020204030204" pitchFamily="34" charset="0"/>
              </a:rPr>
              <a:t>13</a:t>
            </a:fld>
            <a:endParaRPr lang="en-US">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01557641"/>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4608</TotalTime>
  <Words>3421</Words>
  <Application>Microsoft Office PowerPoint</Application>
  <PresentationFormat>Widescreen</PresentationFormat>
  <Paragraphs>317</Paragraphs>
  <Slides>13</Slides>
  <Notes>13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Bierstadt</vt:lpstr>
      <vt:lpstr>Calibri</vt:lpstr>
      <vt:lpstr>Consolas</vt:lpstr>
      <vt:lpstr>Helvetica</vt:lpstr>
      <vt:lpstr>Wingdings</vt:lpstr>
      <vt:lpstr>GestaltVTI</vt:lpstr>
      <vt:lpstr> NLP Toxicity Detection  Thodoris Charos mscaidl-0077    AIDL_A_02 - Neural Networks and Deep Learning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OTE-COSMOTE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CNN1  </dc:title>
  <dc:creator>Charos Thodoris</dc:creator>
  <cp:lastModifiedBy>Charos Thodoris</cp:lastModifiedBy>
  <cp:revision>201</cp:revision>
  <cp:lastPrinted>2026-01-14T09:55:15Z</cp:lastPrinted>
  <dcterms:created xsi:type="dcterms:W3CDTF">2025-07-28T06:24:18Z</dcterms:created>
  <dcterms:modified xsi:type="dcterms:W3CDTF">2026-02-19T12:32:24Z</dcterms:modified>
</cp:coreProperties>
</file>