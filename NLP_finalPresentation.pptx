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14"/>
  </p:notesMasterIdLst>
  <p:handoutMasterIdLst>
    <p:handoutMasterId r:id="rId15"/>
  </p:handoutMasterIdLst>
  <p:sldIdLst>
    <p:sldId id="266" r:id="rId2"/>
    <p:sldId id="267" r:id="rId3"/>
    <p:sldId id="281" r:id="rId4"/>
    <p:sldId id="277" r:id="rId5"/>
    <p:sldId id="282" r:id="rId6"/>
    <p:sldId id="283" r:id="rId7"/>
    <p:sldId id="284" r:id="rId8"/>
    <p:sldId id="278" r:id="rId9"/>
    <p:sldId id="279" r:id="rId10"/>
    <p:sldId id="280" r:id="rId11"/>
    <p:sldId id="285" r:id="rId12"/>
    <p:sldId id="276" r:id="rId13"/>
  </p:sldIdLst>
  <p:sldSz cx="12192000" cy="6858000"/>
  <p:notesSz cx="6858000" cy="9144000"/>
  <p:defaultTextStyle>
    <a:defPPr>
      <a:defRPr lang="el-G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Untitled Section" id="{F32047E5-66FF-4ED5-B921-DC1BEB7A9EB5}">
          <p14:sldIdLst>
            <p14:sldId id="266"/>
            <p14:sldId id="267"/>
            <p14:sldId id="281"/>
            <p14:sldId id="277"/>
            <p14:sldId id="282"/>
            <p14:sldId id="283"/>
            <p14:sldId id="284"/>
            <p14:sldId id="278"/>
            <p14:sldId id="279"/>
            <p14:sldId id="280"/>
            <p14:sldId id="285"/>
            <p14:sldId id="276"/>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266" autoAdjust="0"/>
    <p:restoredTop sz="94660" autoAdjust="0"/>
  </p:normalViewPr>
  <p:slideViewPr>
    <p:cSldViewPr snapToGrid="0">
      <p:cViewPr varScale="1">
        <p:scale>
          <a:sx n="109" d="100"/>
          <a:sy n="109" d="100"/>
        </p:scale>
        <p:origin x="576" y="108"/>
      </p:cViewPr>
      <p:guideLst>
        <p:guide orient="horz" pos="2160"/>
        <p:guide pos="3840"/>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notesViewPr>
    <p:cSldViewPr snapToGrid="0">
      <p:cViewPr varScale="1">
        <p:scale>
          <a:sx n="91" d="100"/>
          <a:sy n="91" d="100"/>
        </p:scale>
        <p:origin x="4056" y="67"/>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handoutMaster" Target="handoutMasters/handout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7EBC7C8E-6930-4EC6-0349-F4E1AD7318D6}"/>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r>
              <a:rPr lang="en-US"/>
              <a:t>MSc Artificial Intelligence &amp; Deep Learning</a:t>
            </a:r>
            <a:endParaRPr lang="el-GR"/>
          </a:p>
        </p:txBody>
      </p:sp>
      <p:sp>
        <p:nvSpPr>
          <p:cNvPr id="3" name="Date Placeholder 2">
            <a:extLst>
              <a:ext uri="{FF2B5EF4-FFF2-40B4-BE49-F238E27FC236}">
                <a16:creationId xmlns:a16="http://schemas.microsoft.com/office/drawing/2014/main" id="{3594F36B-F8D4-20C2-0AA4-0A980DEEAEB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5AF42606-CFC7-4350-BF7D-F79705CBB3DF}" type="datetimeFigureOut">
              <a:rPr lang="el-GR" smtClean="0"/>
              <a:t>4/2/2026</a:t>
            </a:fld>
            <a:endParaRPr lang="el-GR"/>
          </a:p>
        </p:txBody>
      </p:sp>
      <p:sp>
        <p:nvSpPr>
          <p:cNvPr id="4" name="Footer Placeholder 3">
            <a:extLst>
              <a:ext uri="{FF2B5EF4-FFF2-40B4-BE49-F238E27FC236}">
                <a16:creationId xmlns:a16="http://schemas.microsoft.com/office/drawing/2014/main" id="{76D241F7-77E7-FBF1-D3F6-31151152B876}"/>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r>
              <a:rPr lang="en-US"/>
              <a:t>MSc Artificial Intelligence &amp; Deep Learning</a:t>
            </a:r>
            <a:endParaRPr lang="el-GR"/>
          </a:p>
        </p:txBody>
      </p:sp>
      <p:sp>
        <p:nvSpPr>
          <p:cNvPr id="5" name="Slide Number Placeholder 4">
            <a:extLst>
              <a:ext uri="{FF2B5EF4-FFF2-40B4-BE49-F238E27FC236}">
                <a16:creationId xmlns:a16="http://schemas.microsoft.com/office/drawing/2014/main" id="{18E5B911-6782-34D2-79C2-1971B69248C9}"/>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0C228F3-D31F-40E4-8BF6-6669F66BD45C}" type="slidenum">
              <a:rPr lang="el-GR" smtClean="0"/>
              <a:t>‹#›</a:t>
            </a:fld>
            <a:endParaRPr lang="el-GR"/>
          </a:p>
        </p:txBody>
      </p:sp>
    </p:spTree>
    <p:extLst>
      <p:ext uri="{BB962C8B-B14F-4D97-AF65-F5344CB8AC3E}">
        <p14:creationId xmlns:p14="http://schemas.microsoft.com/office/powerpoint/2010/main" val="3206881408"/>
      </p:ext>
    </p:extLst>
  </p:cSld>
  <p:clrMap bg1="lt1" tx1="dk1" bg2="lt2" tx2="dk2" accent1="accent1" accent2="accent2" accent3="accent3" accent4="accent4" accent5="accent5" accent6="accent6" hlink="hlink" folHlink="folHlink"/>
  <p:hf sldNum="0"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r>
              <a:rPr lang="en-US"/>
              <a:t>MSc Artificial Intelligence &amp; Deep Learning</a:t>
            </a:r>
            <a:endParaRPr lang="el-GR"/>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07D7115-7C26-4374-AB2C-A3EA9DC26E87}" type="datetimeFigureOut">
              <a:rPr lang="el-GR" smtClean="0"/>
              <a:t>4/2/2026</a:t>
            </a:fld>
            <a:endParaRPr lang="el-GR"/>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l-GR"/>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l-G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r>
              <a:rPr lang="en-US"/>
              <a:t>MSc Artificial Intelligence &amp; Deep Learning</a:t>
            </a:r>
            <a:endParaRPr lang="el-GR"/>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1BA513B-9453-4206-8508-2E27295AE2EE}" type="slidenum">
              <a:rPr lang="el-GR" smtClean="0"/>
              <a:t>‹#›</a:t>
            </a:fld>
            <a:endParaRPr lang="el-GR"/>
          </a:p>
        </p:txBody>
      </p:sp>
    </p:spTree>
    <p:extLst>
      <p:ext uri="{BB962C8B-B14F-4D97-AF65-F5344CB8AC3E}">
        <p14:creationId xmlns:p14="http://schemas.microsoft.com/office/powerpoint/2010/main" val="2131194261"/>
      </p:ext>
    </p:extLst>
  </p:cSld>
  <p:clrMap bg1="lt1" tx1="dk1" bg2="lt2" tx2="dk2" accent1="accent1" accent2="accent2" accent3="accent3" accent4="accent4" accent5="accent5" accent6="accent6" hlink="hlink" folHlink="folHlink"/>
  <p:hf sldNum="0"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l-GR"/>
          </a:p>
        </p:txBody>
      </p:sp>
    </p:spTree>
    <p:extLst>
      <p:ext uri="{BB962C8B-B14F-4D97-AF65-F5344CB8AC3E}">
        <p14:creationId xmlns:p14="http://schemas.microsoft.com/office/powerpoint/2010/main" val="106502133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Freeform: Shape 6">
            <a:extLst>
              <a:ext uri="{FF2B5EF4-FFF2-40B4-BE49-F238E27FC236}">
                <a16:creationId xmlns:a16="http://schemas.microsoft.com/office/drawing/2014/main" id="{EA67E988-5919-57BB-C7DE-D3EAD38A3045}"/>
              </a:ext>
              <a:ext uri="{C183D7F6-B498-43B3-948B-1728B52AA6E4}">
                <adec:decorative xmlns:adec="http://schemas.microsoft.com/office/drawing/2017/decorative" val="1"/>
              </a:ext>
            </a:extLst>
          </p:cNvPr>
          <p:cNvSpPr/>
          <p:nvPr/>
        </p:nvSpPr>
        <p:spPr>
          <a:xfrm>
            <a:off x="517870" y="6209925"/>
            <a:ext cx="11155680" cy="45719"/>
          </a:xfrm>
          <a:custGeom>
            <a:avLst/>
            <a:gdLst>
              <a:gd name="connsiteX0" fmla="*/ 0 w 8715708"/>
              <a:gd name="connsiteY0" fmla="*/ 0 h 45719"/>
              <a:gd name="connsiteX1" fmla="*/ 3694525 w 8715708"/>
              <a:gd name="connsiteY1" fmla="*/ 0 h 45719"/>
              <a:gd name="connsiteX2" fmla="*/ 5021183 w 8715708"/>
              <a:gd name="connsiteY2" fmla="*/ 0 h 45719"/>
              <a:gd name="connsiteX3" fmla="*/ 8715708 w 8715708"/>
              <a:gd name="connsiteY3" fmla="*/ 0 h 45719"/>
              <a:gd name="connsiteX4" fmla="*/ 8715708 w 8715708"/>
              <a:gd name="connsiteY4" fmla="*/ 45719 h 45719"/>
              <a:gd name="connsiteX5" fmla="*/ 5021183 w 8715708"/>
              <a:gd name="connsiteY5" fmla="*/ 45719 h 45719"/>
              <a:gd name="connsiteX6" fmla="*/ 3694525 w 8715708"/>
              <a:gd name="connsiteY6" fmla="*/ 45719 h 45719"/>
              <a:gd name="connsiteX7" fmla="*/ 0 w 8715708"/>
              <a:gd name="connsiteY7" fmla="*/ 45719 h 45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8715708" h="45719">
                <a:moveTo>
                  <a:pt x="0" y="0"/>
                </a:moveTo>
                <a:lnTo>
                  <a:pt x="3694525" y="0"/>
                </a:lnTo>
                <a:lnTo>
                  <a:pt x="5021183" y="0"/>
                </a:lnTo>
                <a:lnTo>
                  <a:pt x="8715708" y="0"/>
                </a:lnTo>
                <a:lnTo>
                  <a:pt x="8715708" y="45719"/>
                </a:lnTo>
                <a:lnTo>
                  <a:pt x="5021183" y="45719"/>
                </a:lnTo>
                <a:lnTo>
                  <a:pt x="3694525" y="45719"/>
                </a:lnTo>
                <a:lnTo>
                  <a:pt x="0" y="45719"/>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5B2327B2-BA4B-2C04-0751-5CB63D4AA425}"/>
              </a:ext>
            </a:extLst>
          </p:cNvPr>
          <p:cNvSpPr>
            <a:spLocks noGrp="1"/>
          </p:cNvSpPr>
          <p:nvPr>
            <p:ph type="ctrTitle"/>
          </p:nvPr>
        </p:nvSpPr>
        <p:spPr>
          <a:xfrm>
            <a:off x="521208" y="978408"/>
            <a:ext cx="11155680" cy="3429000"/>
          </a:xfrm>
        </p:spPr>
        <p:txBody>
          <a:bodyPr anchor="t">
            <a:normAutofit/>
          </a:bodyPr>
          <a:lstStyle>
            <a:lvl1pPr algn="l">
              <a:defRPr sz="7200"/>
            </a:lvl1pPr>
          </a:lstStyle>
          <a:p>
            <a:r>
              <a:rPr lang="en-US" dirty="0"/>
              <a:t>Click to edit Master title style</a:t>
            </a:r>
          </a:p>
        </p:txBody>
      </p:sp>
      <p:sp>
        <p:nvSpPr>
          <p:cNvPr id="3" name="Subtitle 2">
            <a:extLst>
              <a:ext uri="{FF2B5EF4-FFF2-40B4-BE49-F238E27FC236}">
                <a16:creationId xmlns:a16="http://schemas.microsoft.com/office/drawing/2014/main" id="{E7201176-DC7A-4C3D-3D8F-352526DA7B5D}"/>
              </a:ext>
            </a:extLst>
          </p:cNvPr>
          <p:cNvSpPr>
            <a:spLocks noGrp="1"/>
          </p:cNvSpPr>
          <p:nvPr>
            <p:ph type="subTitle" idx="1"/>
          </p:nvPr>
        </p:nvSpPr>
        <p:spPr>
          <a:xfrm>
            <a:off x="521208" y="4480560"/>
            <a:ext cx="7104888" cy="1399032"/>
          </a:xfrm>
        </p:spPr>
        <p:txBody>
          <a:bodyPr anchor="b">
            <a:normAutofit/>
          </a:bodyPr>
          <a:lstStyle>
            <a:lvl1pPr marL="0" indent="0" algn="l">
              <a:buNone/>
              <a:defRPr sz="2200" i="1"/>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C67DC221-9A2E-7459-102F-C3CFB27CC389}"/>
              </a:ext>
            </a:extLst>
          </p:cNvPr>
          <p:cNvSpPr>
            <a:spLocks noGrp="1"/>
          </p:cNvSpPr>
          <p:nvPr>
            <p:ph type="dt" sz="half" idx="10"/>
          </p:nvPr>
        </p:nvSpPr>
        <p:spPr/>
        <p:txBody>
          <a:bodyPr/>
          <a:lstStyle/>
          <a:p>
            <a:r>
              <a:rPr lang="el-GR"/>
              <a:t>September 2025</a:t>
            </a:r>
            <a:endParaRPr lang="en-US"/>
          </a:p>
        </p:txBody>
      </p:sp>
      <p:sp>
        <p:nvSpPr>
          <p:cNvPr id="5" name="Footer Placeholder 4">
            <a:extLst>
              <a:ext uri="{FF2B5EF4-FFF2-40B4-BE49-F238E27FC236}">
                <a16:creationId xmlns:a16="http://schemas.microsoft.com/office/drawing/2014/main" id="{A5020671-6F7D-3A03-EEC1-661A87F96F40}"/>
              </a:ext>
            </a:extLst>
          </p:cNvPr>
          <p:cNvSpPr>
            <a:spLocks noGrp="1"/>
          </p:cNvSpPr>
          <p:nvPr>
            <p:ph type="ftr" sz="quarter" idx="11"/>
          </p:nvPr>
        </p:nvSpPr>
        <p:spPr/>
        <p:txBody>
          <a:bodyPr/>
          <a:lstStyle/>
          <a:p>
            <a:r>
              <a:rPr lang="en-US"/>
              <a:t>MSc Artificial Intelligence &amp; Deep Learning</a:t>
            </a:r>
          </a:p>
        </p:txBody>
      </p:sp>
      <p:sp>
        <p:nvSpPr>
          <p:cNvPr id="6" name="Slide Number Placeholder 5">
            <a:extLst>
              <a:ext uri="{FF2B5EF4-FFF2-40B4-BE49-F238E27FC236}">
                <a16:creationId xmlns:a16="http://schemas.microsoft.com/office/drawing/2014/main" id="{F2453D3A-E0F9-8386-2A6C-96671FBB15A5}"/>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4753942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A26D03-149A-DAB3-4B2A-E9B74F2E251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3C1E73D-41A7-9934-0990-9208B952329C}"/>
              </a:ext>
            </a:extLst>
          </p:cNvPr>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F8BB2A3F-E719-673C-5D56-F663712D0E7F}"/>
              </a:ext>
            </a:extLst>
          </p:cNvPr>
          <p:cNvSpPr>
            <a:spLocks noGrp="1"/>
          </p:cNvSpPr>
          <p:nvPr>
            <p:ph type="dt" sz="half" idx="10"/>
          </p:nvPr>
        </p:nvSpPr>
        <p:spPr/>
        <p:txBody>
          <a:bodyPr/>
          <a:lstStyle/>
          <a:p>
            <a:r>
              <a:rPr lang="el-GR"/>
              <a:t>September 2025</a:t>
            </a:r>
            <a:endParaRPr lang="en-US"/>
          </a:p>
        </p:txBody>
      </p:sp>
      <p:sp>
        <p:nvSpPr>
          <p:cNvPr id="5" name="Footer Placeholder 4">
            <a:extLst>
              <a:ext uri="{FF2B5EF4-FFF2-40B4-BE49-F238E27FC236}">
                <a16:creationId xmlns:a16="http://schemas.microsoft.com/office/drawing/2014/main" id="{04AE594A-52F5-D85E-343C-ADFEE3C72E00}"/>
              </a:ext>
            </a:extLst>
          </p:cNvPr>
          <p:cNvSpPr>
            <a:spLocks noGrp="1"/>
          </p:cNvSpPr>
          <p:nvPr>
            <p:ph type="ftr" sz="quarter" idx="11"/>
          </p:nvPr>
        </p:nvSpPr>
        <p:spPr/>
        <p:txBody>
          <a:bodyPr/>
          <a:lstStyle/>
          <a:p>
            <a:r>
              <a:rPr lang="en-US"/>
              <a:t>MSc Artificial Intelligence &amp; Deep Learning</a:t>
            </a:r>
          </a:p>
        </p:txBody>
      </p:sp>
      <p:sp>
        <p:nvSpPr>
          <p:cNvPr id="6" name="Slide Number Placeholder 5">
            <a:extLst>
              <a:ext uri="{FF2B5EF4-FFF2-40B4-BE49-F238E27FC236}">
                <a16:creationId xmlns:a16="http://schemas.microsoft.com/office/drawing/2014/main" id="{207D5C9C-B2E2-FC26-E459-9E880EF975BA}"/>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146093049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29D51F-B2D5-2804-4F7C-C99850FBD05B}"/>
              </a:ext>
            </a:extLst>
          </p:cNvPr>
          <p:cNvSpPr>
            <a:spLocks noGrp="1"/>
          </p:cNvSpPr>
          <p:nvPr>
            <p:ph type="title"/>
          </p:nvPr>
        </p:nvSpPr>
        <p:spPr>
          <a:xfrm>
            <a:off x="521208" y="978408"/>
            <a:ext cx="5020056" cy="4288536"/>
          </a:xfrm>
        </p:spPr>
        <p:txBody>
          <a:bodyPr anchor="t">
            <a:normAutofit/>
          </a:bodyPr>
          <a:lstStyle>
            <a:lvl1pPr>
              <a:defRPr sz="5400"/>
            </a:lvl1pPr>
          </a:lstStyle>
          <a:p>
            <a:r>
              <a:rPr lang="en-US" dirty="0"/>
              <a:t>Click to edit Master title style</a:t>
            </a:r>
          </a:p>
        </p:txBody>
      </p:sp>
      <p:sp>
        <p:nvSpPr>
          <p:cNvPr id="3" name="Text Placeholder 2">
            <a:extLst>
              <a:ext uri="{FF2B5EF4-FFF2-40B4-BE49-F238E27FC236}">
                <a16:creationId xmlns:a16="http://schemas.microsoft.com/office/drawing/2014/main" id="{15FE5516-03B6-C488-EB4A-68AE681EDFB8}"/>
              </a:ext>
            </a:extLst>
          </p:cNvPr>
          <p:cNvSpPr>
            <a:spLocks noGrp="1"/>
          </p:cNvSpPr>
          <p:nvPr>
            <p:ph type="body" idx="1"/>
          </p:nvPr>
        </p:nvSpPr>
        <p:spPr>
          <a:xfrm>
            <a:off x="521208" y="5266944"/>
            <a:ext cx="5020056" cy="1088136"/>
          </a:xfrm>
        </p:spPr>
        <p:txBody>
          <a:bodyPr anchor="b">
            <a:normAutofit/>
          </a:bodyPr>
          <a:lstStyle>
            <a:lvl1pPr marL="0" indent="0">
              <a:buNone/>
              <a:defRPr sz="2200" i="1">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dirty="0"/>
              <a:t>Click to edit Master text styles</a:t>
            </a:r>
          </a:p>
        </p:txBody>
      </p:sp>
      <p:sp>
        <p:nvSpPr>
          <p:cNvPr id="4" name="Date Placeholder 3">
            <a:extLst>
              <a:ext uri="{FF2B5EF4-FFF2-40B4-BE49-F238E27FC236}">
                <a16:creationId xmlns:a16="http://schemas.microsoft.com/office/drawing/2014/main" id="{50ECB4D7-49A7-D050-70B9-11A1E2D445D8}"/>
              </a:ext>
            </a:extLst>
          </p:cNvPr>
          <p:cNvSpPr>
            <a:spLocks noGrp="1"/>
          </p:cNvSpPr>
          <p:nvPr>
            <p:ph type="dt" sz="half" idx="10"/>
          </p:nvPr>
        </p:nvSpPr>
        <p:spPr/>
        <p:txBody>
          <a:bodyPr/>
          <a:lstStyle/>
          <a:p>
            <a:r>
              <a:rPr lang="el-GR"/>
              <a:t>September 2025</a:t>
            </a:r>
            <a:endParaRPr lang="en-US"/>
          </a:p>
        </p:txBody>
      </p:sp>
      <p:sp>
        <p:nvSpPr>
          <p:cNvPr id="5" name="Footer Placeholder 4">
            <a:extLst>
              <a:ext uri="{FF2B5EF4-FFF2-40B4-BE49-F238E27FC236}">
                <a16:creationId xmlns:a16="http://schemas.microsoft.com/office/drawing/2014/main" id="{8A9A913F-AD00-C1EE-B01A-8590671C014B}"/>
              </a:ext>
            </a:extLst>
          </p:cNvPr>
          <p:cNvSpPr>
            <a:spLocks noGrp="1"/>
          </p:cNvSpPr>
          <p:nvPr>
            <p:ph type="ftr" sz="quarter" idx="11"/>
          </p:nvPr>
        </p:nvSpPr>
        <p:spPr/>
        <p:txBody>
          <a:bodyPr/>
          <a:lstStyle/>
          <a:p>
            <a:r>
              <a:rPr lang="en-US"/>
              <a:t>MSc Artificial Intelligence &amp; Deep Learning</a:t>
            </a:r>
          </a:p>
        </p:txBody>
      </p:sp>
      <p:sp>
        <p:nvSpPr>
          <p:cNvPr id="6" name="Slide Number Placeholder 5">
            <a:extLst>
              <a:ext uri="{FF2B5EF4-FFF2-40B4-BE49-F238E27FC236}">
                <a16:creationId xmlns:a16="http://schemas.microsoft.com/office/drawing/2014/main" id="{314FC386-B2AF-6FAD-D053-E22D48CD7285}"/>
              </a:ext>
            </a:extLst>
          </p:cNvPr>
          <p:cNvSpPr>
            <a:spLocks noGrp="1"/>
          </p:cNvSpPr>
          <p:nvPr>
            <p:ph type="sldNum" sz="quarter" idx="12"/>
          </p:nvPr>
        </p:nvSpPr>
        <p:spPr/>
        <p:txBody>
          <a:bodyPr/>
          <a:lstStyle/>
          <a:p>
            <a:fld id="{148CC95F-0247-41B6-91CF-DC97C76A7088}" type="slidenum">
              <a:rPr lang="en-US" smtClean="0"/>
              <a:t>‹#›</a:t>
            </a:fld>
            <a:endParaRPr lang="en-US"/>
          </a:p>
        </p:txBody>
      </p:sp>
      <p:sp>
        <p:nvSpPr>
          <p:cNvPr id="7" name="Rectangle 6">
            <a:extLst>
              <a:ext uri="{FF2B5EF4-FFF2-40B4-BE49-F238E27FC236}">
                <a16:creationId xmlns:a16="http://schemas.microsoft.com/office/drawing/2014/main" id="{4E1E1B67-3BFF-F04B-52F4-7E724FB3B24D}"/>
              </a:ext>
            </a:extLst>
          </p:cNvPr>
          <p:cNvSpPr/>
          <p:nvPr/>
        </p:nvSpPr>
        <p:spPr>
          <a:xfrm>
            <a:off x="517870" y="508090"/>
            <a:ext cx="5021183"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91930688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CE3B21-CF4D-1B01-0F4E-D32C1B218B63}"/>
              </a:ext>
            </a:extLst>
          </p:cNvPr>
          <p:cNvSpPr>
            <a:spLocks noGrp="1"/>
          </p:cNvSpPr>
          <p:nvPr>
            <p:ph type="title"/>
          </p:nvPr>
        </p:nvSpPr>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1FB39FF2-6858-B514-B695-58442557D0C1}"/>
              </a:ext>
            </a:extLst>
          </p:cNvPr>
          <p:cNvSpPr>
            <a:spLocks noGrp="1"/>
          </p:cNvSpPr>
          <p:nvPr>
            <p:ph sz="half" idx="1"/>
          </p:nvPr>
        </p:nvSpPr>
        <p:spPr>
          <a:xfrm>
            <a:off x="521208" y="2578608"/>
            <a:ext cx="5166360" cy="376732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FA30130-974D-B91D-5B93-EC52AABDB5B0}"/>
              </a:ext>
            </a:extLst>
          </p:cNvPr>
          <p:cNvSpPr>
            <a:spLocks noGrp="1"/>
          </p:cNvSpPr>
          <p:nvPr>
            <p:ph sz="half" idx="2"/>
          </p:nvPr>
        </p:nvSpPr>
        <p:spPr>
          <a:xfrm>
            <a:off x="6519672" y="2578608"/>
            <a:ext cx="5166360" cy="376732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515BED99-6FD7-9C6B-1152-A6E42715BB79}"/>
              </a:ext>
            </a:extLst>
          </p:cNvPr>
          <p:cNvSpPr>
            <a:spLocks noGrp="1"/>
          </p:cNvSpPr>
          <p:nvPr>
            <p:ph type="dt" sz="half" idx="10"/>
          </p:nvPr>
        </p:nvSpPr>
        <p:spPr/>
        <p:txBody>
          <a:bodyPr/>
          <a:lstStyle/>
          <a:p>
            <a:r>
              <a:rPr lang="el-GR"/>
              <a:t>September 2025</a:t>
            </a:r>
            <a:endParaRPr lang="en-US"/>
          </a:p>
        </p:txBody>
      </p:sp>
      <p:sp>
        <p:nvSpPr>
          <p:cNvPr id="6" name="Footer Placeholder 5">
            <a:extLst>
              <a:ext uri="{FF2B5EF4-FFF2-40B4-BE49-F238E27FC236}">
                <a16:creationId xmlns:a16="http://schemas.microsoft.com/office/drawing/2014/main" id="{BA253AAC-5967-2565-A715-82D3505ABF0F}"/>
              </a:ext>
            </a:extLst>
          </p:cNvPr>
          <p:cNvSpPr>
            <a:spLocks noGrp="1"/>
          </p:cNvSpPr>
          <p:nvPr>
            <p:ph type="ftr" sz="quarter" idx="11"/>
          </p:nvPr>
        </p:nvSpPr>
        <p:spPr/>
        <p:txBody>
          <a:bodyPr/>
          <a:lstStyle/>
          <a:p>
            <a:r>
              <a:rPr lang="en-US"/>
              <a:t>MSc Artificial Intelligence &amp; Deep Learning</a:t>
            </a:r>
          </a:p>
        </p:txBody>
      </p:sp>
      <p:sp>
        <p:nvSpPr>
          <p:cNvPr id="7" name="Slide Number Placeholder 6">
            <a:extLst>
              <a:ext uri="{FF2B5EF4-FFF2-40B4-BE49-F238E27FC236}">
                <a16:creationId xmlns:a16="http://schemas.microsoft.com/office/drawing/2014/main" id="{A4B51313-69FB-E016-3CC1-62CA476ED214}"/>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214715916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B3DF9D-B849-CE37-97E4-AD37F880677F}"/>
              </a:ext>
            </a:extLst>
          </p:cNvPr>
          <p:cNvSpPr>
            <a:spLocks noGrp="1"/>
          </p:cNvSpPr>
          <p:nvPr>
            <p:ph type="title"/>
          </p:nvPr>
        </p:nvSpPr>
        <p:spPr>
          <a:xfrm>
            <a:off x="521208" y="978408"/>
            <a:ext cx="11164824" cy="1216152"/>
          </a:xfrm>
        </p:spPr>
        <p:txBody>
          <a:bodyPr/>
          <a:lstStyle/>
          <a:p>
            <a:r>
              <a:rPr lang="en-US"/>
              <a:t>Click to edit Master title style</a:t>
            </a:r>
          </a:p>
        </p:txBody>
      </p:sp>
      <p:sp>
        <p:nvSpPr>
          <p:cNvPr id="3" name="Text Placeholder 2">
            <a:extLst>
              <a:ext uri="{FF2B5EF4-FFF2-40B4-BE49-F238E27FC236}">
                <a16:creationId xmlns:a16="http://schemas.microsoft.com/office/drawing/2014/main" id="{79D4C626-4008-960A-E601-6AA9F4BB8D8B}"/>
              </a:ext>
            </a:extLst>
          </p:cNvPr>
          <p:cNvSpPr>
            <a:spLocks noGrp="1"/>
          </p:cNvSpPr>
          <p:nvPr>
            <p:ph type="body" idx="1"/>
          </p:nvPr>
        </p:nvSpPr>
        <p:spPr>
          <a:xfrm>
            <a:off x="521208" y="2340864"/>
            <a:ext cx="5166360" cy="658368"/>
          </a:xfrm>
        </p:spPr>
        <p:txBody>
          <a:bodyPr anchor="b">
            <a:normAutofit/>
          </a:bodyPr>
          <a:lstStyle>
            <a:lvl1pPr marL="0" indent="0">
              <a:buNone/>
              <a:defRPr sz="2200" b="0" i="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a:extLst>
              <a:ext uri="{FF2B5EF4-FFF2-40B4-BE49-F238E27FC236}">
                <a16:creationId xmlns:a16="http://schemas.microsoft.com/office/drawing/2014/main" id="{806E8D6C-AC07-ED6B-2EA8-9C40A5AEA748}"/>
              </a:ext>
            </a:extLst>
          </p:cNvPr>
          <p:cNvSpPr>
            <a:spLocks noGrp="1"/>
          </p:cNvSpPr>
          <p:nvPr>
            <p:ph sz="half" idx="2"/>
          </p:nvPr>
        </p:nvSpPr>
        <p:spPr>
          <a:xfrm>
            <a:off x="521208" y="3035808"/>
            <a:ext cx="5166360" cy="331012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a:extLst>
              <a:ext uri="{FF2B5EF4-FFF2-40B4-BE49-F238E27FC236}">
                <a16:creationId xmlns:a16="http://schemas.microsoft.com/office/drawing/2014/main" id="{3C52617E-C6D9-246B-E7B7-8159DF17C0A3}"/>
              </a:ext>
            </a:extLst>
          </p:cNvPr>
          <p:cNvSpPr>
            <a:spLocks noGrp="1"/>
          </p:cNvSpPr>
          <p:nvPr>
            <p:ph type="body" sz="quarter" idx="3"/>
          </p:nvPr>
        </p:nvSpPr>
        <p:spPr>
          <a:xfrm>
            <a:off x="6519672" y="2340864"/>
            <a:ext cx="5166360" cy="658368"/>
          </a:xfrm>
        </p:spPr>
        <p:txBody>
          <a:bodyPr anchor="b">
            <a:normAutofit/>
          </a:bodyPr>
          <a:lstStyle>
            <a:lvl1pPr marL="0" indent="0">
              <a:buNone/>
              <a:defRPr sz="2200" b="0" i="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a:extLst>
              <a:ext uri="{FF2B5EF4-FFF2-40B4-BE49-F238E27FC236}">
                <a16:creationId xmlns:a16="http://schemas.microsoft.com/office/drawing/2014/main" id="{3DBC2094-7EBC-02C5-5AB5-233E63080A9C}"/>
              </a:ext>
            </a:extLst>
          </p:cNvPr>
          <p:cNvSpPr>
            <a:spLocks noGrp="1"/>
          </p:cNvSpPr>
          <p:nvPr>
            <p:ph sz="quarter" idx="4"/>
          </p:nvPr>
        </p:nvSpPr>
        <p:spPr>
          <a:xfrm>
            <a:off x="6519672" y="3035808"/>
            <a:ext cx="5166360" cy="331012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a:extLst>
              <a:ext uri="{FF2B5EF4-FFF2-40B4-BE49-F238E27FC236}">
                <a16:creationId xmlns:a16="http://schemas.microsoft.com/office/drawing/2014/main" id="{23010BD2-59B4-FD2E-3C5E-C83AE6003985}"/>
              </a:ext>
            </a:extLst>
          </p:cNvPr>
          <p:cNvSpPr>
            <a:spLocks noGrp="1"/>
          </p:cNvSpPr>
          <p:nvPr>
            <p:ph type="dt" sz="half" idx="10"/>
          </p:nvPr>
        </p:nvSpPr>
        <p:spPr/>
        <p:txBody>
          <a:bodyPr/>
          <a:lstStyle/>
          <a:p>
            <a:r>
              <a:rPr lang="el-GR"/>
              <a:t>September 2025</a:t>
            </a:r>
            <a:endParaRPr lang="en-US"/>
          </a:p>
        </p:txBody>
      </p:sp>
      <p:sp>
        <p:nvSpPr>
          <p:cNvPr id="8" name="Footer Placeholder 7">
            <a:extLst>
              <a:ext uri="{FF2B5EF4-FFF2-40B4-BE49-F238E27FC236}">
                <a16:creationId xmlns:a16="http://schemas.microsoft.com/office/drawing/2014/main" id="{E72B35C4-A654-7759-BDA0-94D9D1A21663}"/>
              </a:ext>
            </a:extLst>
          </p:cNvPr>
          <p:cNvSpPr>
            <a:spLocks noGrp="1"/>
          </p:cNvSpPr>
          <p:nvPr>
            <p:ph type="ftr" sz="quarter" idx="11"/>
          </p:nvPr>
        </p:nvSpPr>
        <p:spPr/>
        <p:txBody>
          <a:bodyPr/>
          <a:lstStyle/>
          <a:p>
            <a:r>
              <a:rPr lang="en-US"/>
              <a:t>MSc Artificial Intelligence &amp; Deep Learning</a:t>
            </a:r>
          </a:p>
        </p:txBody>
      </p:sp>
      <p:sp>
        <p:nvSpPr>
          <p:cNvPr id="9" name="Slide Number Placeholder 8">
            <a:extLst>
              <a:ext uri="{FF2B5EF4-FFF2-40B4-BE49-F238E27FC236}">
                <a16:creationId xmlns:a16="http://schemas.microsoft.com/office/drawing/2014/main" id="{F55F4347-2EC0-CA6E-2637-8048456D7ECB}"/>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420352487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34716D-52F2-C7FB-83B1-2DA1AD375EAE}"/>
              </a:ext>
            </a:extLst>
          </p:cNvPr>
          <p:cNvSpPr>
            <a:spLocks noGrp="1"/>
          </p:cNvSpPr>
          <p:nvPr>
            <p:ph type="title"/>
          </p:nvPr>
        </p:nvSpPr>
        <p:spPr/>
        <p:txBody>
          <a:bodyPr/>
          <a:lstStyle/>
          <a:p>
            <a:r>
              <a:rPr lang="en-US" dirty="0"/>
              <a:t>Click to edit Master title style</a:t>
            </a:r>
          </a:p>
        </p:txBody>
      </p:sp>
      <p:sp>
        <p:nvSpPr>
          <p:cNvPr id="3" name="Date Placeholder 2">
            <a:extLst>
              <a:ext uri="{FF2B5EF4-FFF2-40B4-BE49-F238E27FC236}">
                <a16:creationId xmlns:a16="http://schemas.microsoft.com/office/drawing/2014/main" id="{56F4A371-AC27-6A28-32E6-74A28371BF55}"/>
              </a:ext>
            </a:extLst>
          </p:cNvPr>
          <p:cNvSpPr>
            <a:spLocks noGrp="1"/>
          </p:cNvSpPr>
          <p:nvPr>
            <p:ph type="dt" sz="half" idx="10"/>
          </p:nvPr>
        </p:nvSpPr>
        <p:spPr/>
        <p:txBody>
          <a:bodyPr/>
          <a:lstStyle/>
          <a:p>
            <a:r>
              <a:rPr lang="el-GR"/>
              <a:t>September 2025</a:t>
            </a:r>
            <a:endParaRPr lang="en-US"/>
          </a:p>
        </p:txBody>
      </p:sp>
      <p:sp>
        <p:nvSpPr>
          <p:cNvPr id="4" name="Footer Placeholder 3">
            <a:extLst>
              <a:ext uri="{FF2B5EF4-FFF2-40B4-BE49-F238E27FC236}">
                <a16:creationId xmlns:a16="http://schemas.microsoft.com/office/drawing/2014/main" id="{D155941A-A24E-885D-E894-0326F4C4004D}"/>
              </a:ext>
            </a:extLst>
          </p:cNvPr>
          <p:cNvSpPr>
            <a:spLocks noGrp="1"/>
          </p:cNvSpPr>
          <p:nvPr>
            <p:ph type="ftr" sz="quarter" idx="11"/>
          </p:nvPr>
        </p:nvSpPr>
        <p:spPr/>
        <p:txBody>
          <a:bodyPr/>
          <a:lstStyle/>
          <a:p>
            <a:r>
              <a:rPr lang="en-US"/>
              <a:t>MSc Artificial Intelligence &amp; Deep Learning</a:t>
            </a:r>
          </a:p>
        </p:txBody>
      </p:sp>
      <p:sp>
        <p:nvSpPr>
          <p:cNvPr id="5" name="Slide Number Placeholder 4">
            <a:extLst>
              <a:ext uri="{FF2B5EF4-FFF2-40B4-BE49-F238E27FC236}">
                <a16:creationId xmlns:a16="http://schemas.microsoft.com/office/drawing/2014/main" id="{99D5E5B4-971F-FF6A-1B07-A5C85370552D}"/>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113248700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99F431F-E6DC-4137-3092-A30A0A3628EC}"/>
              </a:ext>
            </a:extLst>
          </p:cNvPr>
          <p:cNvSpPr>
            <a:spLocks noGrp="1"/>
          </p:cNvSpPr>
          <p:nvPr>
            <p:ph type="dt" sz="half" idx="10"/>
          </p:nvPr>
        </p:nvSpPr>
        <p:spPr/>
        <p:txBody>
          <a:bodyPr/>
          <a:lstStyle/>
          <a:p>
            <a:r>
              <a:rPr lang="el-GR"/>
              <a:t>September 2025</a:t>
            </a:r>
            <a:endParaRPr lang="en-US"/>
          </a:p>
        </p:txBody>
      </p:sp>
      <p:sp>
        <p:nvSpPr>
          <p:cNvPr id="3" name="Footer Placeholder 2">
            <a:extLst>
              <a:ext uri="{FF2B5EF4-FFF2-40B4-BE49-F238E27FC236}">
                <a16:creationId xmlns:a16="http://schemas.microsoft.com/office/drawing/2014/main" id="{06AC814B-67B4-C70F-FA51-6205D5E2CB81}"/>
              </a:ext>
            </a:extLst>
          </p:cNvPr>
          <p:cNvSpPr>
            <a:spLocks noGrp="1"/>
          </p:cNvSpPr>
          <p:nvPr>
            <p:ph type="ftr" sz="quarter" idx="11"/>
          </p:nvPr>
        </p:nvSpPr>
        <p:spPr/>
        <p:txBody>
          <a:bodyPr/>
          <a:lstStyle/>
          <a:p>
            <a:r>
              <a:rPr lang="en-US"/>
              <a:t>MSc Artificial Intelligence &amp; Deep Learning</a:t>
            </a:r>
          </a:p>
        </p:txBody>
      </p:sp>
      <p:sp>
        <p:nvSpPr>
          <p:cNvPr id="4" name="Slide Number Placeholder 3">
            <a:extLst>
              <a:ext uri="{FF2B5EF4-FFF2-40B4-BE49-F238E27FC236}">
                <a16:creationId xmlns:a16="http://schemas.microsoft.com/office/drawing/2014/main" id="{91EAA9C9-D895-DD20-1089-EA75EA428951}"/>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340854789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B50562-884C-9053-70C1-3B72A0B45EA6}"/>
              </a:ext>
            </a:extLst>
          </p:cNvPr>
          <p:cNvSpPr>
            <a:spLocks noGrp="1"/>
          </p:cNvSpPr>
          <p:nvPr>
            <p:ph type="title"/>
          </p:nvPr>
        </p:nvSpPr>
        <p:spPr>
          <a:xfrm>
            <a:off x="521208" y="978408"/>
            <a:ext cx="5020056" cy="2459736"/>
          </a:xfrm>
        </p:spPr>
        <p:txBody>
          <a:bodyPr anchor="t">
            <a:noAutofit/>
          </a:bodyPr>
          <a:lstStyle>
            <a:lvl1pPr>
              <a:defRPr sz="4400"/>
            </a:lvl1pPr>
          </a:lstStyle>
          <a:p>
            <a:r>
              <a:rPr lang="en-US" dirty="0"/>
              <a:t>Click to edit Master title style</a:t>
            </a:r>
          </a:p>
        </p:txBody>
      </p:sp>
      <p:sp>
        <p:nvSpPr>
          <p:cNvPr id="3" name="Content Placeholder 2">
            <a:extLst>
              <a:ext uri="{FF2B5EF4-FFF2-40B4-BE49-F238E27FC236}">
                <a16:creationId xmlns:a16="http://schemas.microsoft.com/office/drawing/2014/main" id="{0318F509-68F0-39D5-1A8B-CE246715AE46}"/>
              </a:ext>
            </a:extLst>
          </p:cNvPr>
          <p:cNvSpPr>
            <a:spLocks noGrp="1"/>
          </p:cNvSpPr>
          <p:nvPr>
            <p:ph idx="1"/>
          </p:nvPr>
        </p:nvSpPr>
        <p:spPr>
          <a:xfrm>
            <a:off x="6519672" y="987424"/>
            <a:ext cx="5166360" cy="5358384"/>
          </a:xfrm>
        </p:spPr>
        <p:txBody>
          <a:bodyPr>
            <a:normAutofit/>
          </a:bodyPr>
          <a:lstStyle>
            <a:lvl1pPr>
              <a:defRPr sz="2000"/>
            </a:lvl1pPr>
            <a:lvl2pPr>
              <a:defRPr sz="1800"/>
            </a:lvl2pPr>
            <a:lvl3pPr>
              <a:defRPr sz="1600"/>
            </a:lvl3pPr>
            <a:lvl4pPr>
              <a:defRPr sz="1400"/>
            </a:lvl4pPr>
            <a:lvl5pPr>
              <a:defRPr sz="1400"/>
            </a:lvl5pPr>
            <a:lvl6pPr>
              <a:defRPr sz="2000"/>
            </a:lvl6pPr>
            <a:lvl7pPr>
              <a:defRPr sz="2000"/>
            </a:lvl7pPr>
            <a:lvl8pPr>
              <a:defRPr sz="2000"/>
            </a:lvl8pPr>
            <a:lvl9pPr>
              <a:defRPr sz="20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a:extLst>
              <a:ext uri="{FF2B5EF4-FFF2-40B4-BE49-F238E27FC236}">
                <a16:creationId xmlns:a16="http://schemas.microsoft.com/office/drawing/2014/main" id="{F158E37C-27CE-3A84-FC74-BDCCD8A9A3EC}"/>
              </a:ext>
            </a:extLst>
          </p:cNvPr>
          <p:cNvSpPr>
            <a:spLocks noGrp="1"/>
          </p:cNvSpPr>
          <p:nvPr>
            <p:ph type="body" sz="half" idx="2"/>
          </p:nvPr>
        </p:nvSpPr>
        <p:spPr>
          <a:xfrm>
            <a:off x="521208" y="3575304"/>
            <a:ext cx="5020056" cy="2770632"/>
          </a:xfrm>
        </p:spPr>
        <p:txBody>
          <a:bodyPr>
            <a:normAutofit/>
          </a:bodyPr>
          <a:lstStyle>
            <a:lvl1pPr marL="0" indent="0">
              <a:buNone/>
              <a:defRPr sz="2200" i="1"/>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2A95F79-E23E-11D2-40BF-66ED340195DB}"/>
              </a:ext>
            </a:extLst>
          </p:cNvPr>
          <p:cNvSpPr>
            <a:spLocks noGrp="1"/>
          </p:cNvSpPr>
          <p:nvPr>
            <p:ph type="dt" sz="half" idx="10"/>
          </p:nvPr>
        </p:nvSpPr>
        <p:spPr/>
        <p:txBody>
          <a:bodyPr/>
          <a:lstStyle/>
          <a:p>
            <a:r>
              <a:rPr lang="el-GR"/>
              <a:t>September 2025</a:t>
            </a:r>
            <a:endParaRPr lang="en-US"/>
          </a:p>
        </p:txBody>
      </p:sp>
      <p:sp>
        <p:nvSpPr>
          <p:cNvPr id="6" name="Footer Placeholder 5">
            <a:extLst>
              <a:ext uri="{FF2B5EF4-FFF2-40B4-BE49-F238E27FC236}">
                <a16:creationId xmlns:a16="http://schemas.microsoft.com/office/drawing/2014/main" id="{4457F7FC-06F3-3D89-5D1A-4EC4B1D7355E}"/>
              </a:ext>
            </a:extLst>
          </p:cNvPr>
          <p:cNvSpPr>
            <a:spLocks noGrp="1"/>
          </p:cNvSpPr>
          <p:nvPr>
            <p:ph type="ftr" sz="quarter" idx="11"/>
          </p:nvPr>
        </p:nvSpPr>
        <p:spPr/>
        <p:txBody>
          <a:bodyPr/>
          <a:lstStyle/>
          <a:p>
            <a:r>
              <a:rPr lang="en-US"/>
              <a:t>MSc Artificial Intelligence &amp; Deep Learning</a:t>
            </a:r>
          </a:p>
        </p:txBody>
      </p:sp>
      <p:sp>
        <p:nvSpPr>
          <p:cNvPr id="7" name="Slide Number Placeholder 6">
            <a:extLst>
              <a:ext uri="{FF2B5EF4-FFF2-40B4-BE49-F238E27FC236}">
                <a16:creationId xmlns:a16="http://schemas.microsoft.com/office/drawing/2014/main" id="{9554ACD5-6E0B-5713-DC9A-41E9D62AB12D}"/>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113056661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5B2D45-7CDB-D38C-2AAE-273F797674E1}"/>
              </a:ext>
            </a:extLst>
          </p:cNvPr>
          <p:cNvSpPr>
            <a:spLocks noGrp="1"/>
          </p:cNvSpPr>
          <p:nvPr>
            <p:ph type="title"/>
          </p:nvPr>
        </p:nvSpPr>
        <p:spPr>
          <a:xfrm>
            <a:off x="521208" y="978408"/>
            <a:ext cx="5020056" cy="2459736"/>
          </a:xfrm>
        </p:spPr>
        <p:txBody>
          <a:bodyPr anchor="t">
            <a:noAutofit/>
          </a:bodyPr>
          <a:lstStyle>
            <a:lvl1pPr>
              <a:defRPr sz="4400"/>
            </a:lvl1pPr>
          </a:lstStyle>
          <a:p>
            <a:r>
              <a:rPr lang="en-US" dirty="0"/>
              <a:t>Click to edit Master title style</a:t>
            </a:r>
          </a:p>
        </p:txBody>
      </p:sp>
      <p:sp>
        <p:nvSpPr>
          <p:cNvPr id="3" name="Picture Placeholder 2">
            <a:extLst>
              <a:ext uri="{FF2B5EF4-FFF2-40B4-BE49-F238E27FC236}">
                <a16:creationId xmlns:a16="http://schemas.microsoft.com/office/drawing/2014/main" id="{CCBF0855-1744-56E4-B115-3A3C5EA7834B}"/>
              </a:ext>
            </a:extLst>
          </p:cNvPr>
          <p:cNvSpPr>
            <a:spLocks noGrp="1"/>
          </p:cNvSpPr>
          <p:nvPr>
            <p:ph type="pic" idx="1"/>
          </p:nvPr>
        </p:nvSpPr>
        <p:spPr>
          <a:xfrm>
            <a:off x="6519672" y="987424"/>
            <a:ext cx="5166360" cy="5358384"/>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85E8A1D-28AE-4A19-BD96-401D4822A53D}"/>
              </a:ext>
            </a:extLst>
          </p:cNvPr>
          <p:cNvSpPr>
            <a:spLocks noGrp="1"/>
          </p:cNvSpPr>
          <p:nvPr>
            <p:ph type="body" sz="half" idx="2"/>
          </p:nvPr>
        </p:nvSpPr>
        <p:spPr>
          <a:xfrm>
            <a:off x="521208" y="3575304"/>
            <a:ext cx="5020056" cy="2770632"/>
          </a:xfrm>
        </p:spPr>
        <p:txBody>
          <a:bodyPr>
            <a:normAutofit/>
          </a:bodyPr>
          <a:lstStyle>
            <a:lvl1pPr marL="0" indent="0">
              <a:buNone/>
              <a:defRPr sz="2200" i="1"/>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7327DDB-CE95-4C89-DFC5-7DDBFC24E89C}"/>
              </a:ext>
            </a:extLst>
          </p:cNvPr>
          <p:cNvSpPr>
            <a:spLocks noGrp="1"/>
          </p:cNvSpPr>
          <p:nvPr>
            <p:ph type="dt" sz="half" idx="10"/>
          </p:nvPr>
        </p:nvSpPr>
        <p:spPr/>
        <p:txBody>
          <a:bodyPr/>
          <a:lstStyle/>
          <a:p>
            <a:r>
              <a:rPr lang="el-GR"/>
              <a:t>September 2025</a:t>
            </a:r>
            <a:endParaRPr lang="en-US"/>
          </a:p>
        </p:txBody>
      </p:sp>
      <p:sp>
        <p:nvSpPr>
          <p:cNvPr id="6" name="Footer Placeholder 5">
            <a:extLst>
              <a:ext uri="{FF2B5EF4-FFF2-40B4-BE49-F238E27FC236}">
                <a16:creationId xmlns:a16="http://schemas.microsoft.com/office/drawing/2014/main" id="{0522C835-F3B5-943C-FFC4-D5BA9666AF34}"/>
              </a:ext>
            </a:extLst>
          </p:cNvPr>
          <p:cNvSpPr>
            <a:spLocks noGrp="1"/>
          </p:cNvSpPr>
          <p:nvPr>
            <p:ph type="ftr" sz="quarter" idx="11"/>
          </p:nvPr>
        </p:nvSpPr>
        <p:spPr/>
        <p:txBody>
          <a:bodyPr/>
          <a:lstStyle/>
          <a:p>
            <a:r>
              <a:rPr lang="en-US"/>
              <a:t>MSc Artificial Intelligence &amp; Deep Learning</a:t>
            </a:r>
          </a:p>
        </p:txBody>
      </p:sp>
      <p:sp>
        <p:nvSpPr>
          <p:cNvPr id="7" name="Slide Number Placeholder 6">
            <a:extLst>
              <a:ext uri="{FF2B5EF4-FFF2-40B4-BE49-F238E27FC236}">
                <a16:creationId xmlns:a16="http://schemas.microsoft.com/office/drawing/2014/main" id="{68709891-6E3C-ADED-01DD-15FCED37AF4A}"/>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60554117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C36771-E72D-FAD8-771E-3E196DD2E1C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DB5BB827-257D-60D9-792F-E6959004297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CE5D2E7-C856-F78A-E88C-375474982A5F}"/>
              </a:ext>
            </a:extLst>
          </p:cNvPr>
          <p:cNvSpPr>
            <a:spLocks noGrp="1"/>
          </p:cNvSpPr>
          <p:nvPr>
            <p:ph type="dt" sz="half" idx="10"/>
          </p:nvPr>
        </p:nvSpPr>
        <p:spPr/>
        <p:txBody>
          <a:bodyPr/>
          <a:lstStyle/>
          <a:p>
            <a:r>
              <a:rPr lang="el-GR"/>
              <a:t>September 2025</a:t>
            </a:r>
            <a:endParaRPr lang="en-US"/>
          </a:p>
        </p:txBody>
      </p:sp>
      <p:sp>
        <p:nvSpPr>
          <p:cNvPr id="5" name="Footer Placeholder 4">
            <a:extLst>
              <a:ext uri="{FF2B5EF4-FFF2-40B4-BE49-F238E27FC236}">
                <a16:creationId xmlns:a16="http://schemas.microsoft.com/office/drawing/2014/main" id="{0FDAB289-9591-51C9-9E3C-B6F2ACC6A62A}"/>
              </a:ext>
            </a:extLst>
          </p:cNvPr>
          <p:cNvSpPr>
            <a:spLocks noGrp="1"/>
          </p:cNvSpPr>
          <p:nvPr>
            <p:ph type="ftr" sz="quarter" idx="11"/>
          </p:nvPr>
        </p:nvSpPr>
        <p:spPr/>
        <p:txBody>
          <a:bodyPr/>
          <a:lstStyle/>
          <a:p>
            <a:r>
              <a:rPr lang="en-US"/>
              <a:t>MSc Artificial Intelligence &amp; Deep Learning</a:t>
            </a:r>
          </a:p>
        </p:txBody>
      </p:sp>
      <p:sp>
        <p:nvSpPr>
          <p:cNvPr id="6" name="Slide Number Placeholder 5">
            <a:extLst>
              <a:ext uri="{FF2B5EF4-FFF2-40B4-BE49-F238E27FC236}">
                <a16:creationId xmlns:a16="http://schemas.microsoft.com/office/drawing/2014/main" id="{27FE037C-790D-7442-8E43-D2740B3952B1}"/>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36087788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C2635151-A38B-3766-6A32-FF1DF7687D9F}"/>
              </a:ext>
            </a:extLst>
          </p:cNvPr>
          <p:cNvSpPr>
            <a:spLocks noGrp="1"/>
          </p:cNvSpPr>
          <p:nvPr>
            <p:ph type="title" orient="vert"/>
          </p:nvPr>
        </p:nvSpPr>
        <p:spPr>
          <a:xfrm>
            <a:off x="8659368" y="978408"/>
            <a:ext cx="2551176" cy="5367528"/>
          </a:xfrm>
        </p:spPr>
        <p:txBody>
          <a:bodyPr vert="eaVert"/>
          <a:lstStyle/>
          <a:p>
            <a:r>
              <a:rPr lang="en-US" dirty="0"/>
              <a:t>Click to edit Master title style</a:t>
            </a:r>
          </a:p>
        </p:txBody>
      </p:sp>
      <p:sp>
        <p:nvSpPr>
          <p:cNvPr id="3" name="Vertical Text Placeholder 2">
            <a:extLst>
              <a:ext uri="{FF2B5EF4-FFF2-40B4-BE49-F238E27FC236}">
                <a16:creationId xmlns:a16="http://schemas.microsoft.com/office/drawing/2014/main" id="{33D132D1-640C-FB9A-AD6F-D845738349F6}"/>
              </a:ext>
            </a:extLst>
          </p:cNvPr>
          <p:cNvSpPr>
            <a:spLocks noGrp="1"/>
          </p:cNvSpPr>
          <p:nvPr>
            <p:ph type="body" orient="vert" idx="1"/>
          </p:nvPr>
        </p:nvSpPr>
        <p:spPr>
          <a:xfrm>
            <a:off x="521208" y="978408"/>
            <a:ext cx="8010144" cy="5367528"/>
          </a:xfrm>
        </p:spPr>
        <p:txBody>
          <a:bodyPr vert="eaVert"/>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6955F80A-4BA7-8ED8-9A62-B92194272620}"/>
              </a:ext>
            </a:extLst>
          </p:cNvPr>
          <p:cNvSpPr>
            <a:spLocks noGrp="1"/>
          </p:cNvSpPr>
          <p:nvPr>
            <p:ph type="dt" sz="half" idx="10"/>
          </p:nvPr>
        </p:nvSpPr>
        <p:spPr/>
        <p:txBody>
          <a:bodyPr/>
          <a:lstStyle/>
          <a:p>
            <a:r>
              <a:rPr lang="el-GR"/>
              <a:t>September 2025</a:t>
            </a:r>
            <a:endParaRPr lang="en-US"/>
          </a:p>
        </p:txBody>
      </p:sp>
      <p:sp>
        <p:nvSpPr>
          <p:cNvPr id="5" name="Footer Placeholder 4">
            <a:extLst>
              <a:ext uri="{FF2B5EF4-FFF2-40B4-BE49-F238E27FC236}">
                <a16:creationId xmlns:a16="http://schemas.microsoft.com/office/drawing/2014/main" id="{85E38113-D55A-A1A0-D1FE-53C95860FB63}"/>
              </a:ext>
            </a:extLst>
          </p:cNvPr>
          <p:cNvSpPr>
            <a:spLocks noGrp="1"/>
          </p:cNvSpPr>
          <p:nvPr>
            <p:ph type="ftr" sz="quarter" idx="11"/>
          </p:nvPr>
        </p:nvSpPr>
        <p:spPr/>
        <p:txBody>
          <a:bodyPr/>
          <a:lstStyle/>
          <a:p>
            <a:r>
              <a:rPr lang="en-US"/>
              <a:t>MSc Artificial Intelligence &amp; Deep Learning</a:t>
            </a:r>
          </a:p>
        </p:txBody>
      </p:sp>
      <p:sp>
        <p:nvSpPr>
          <p:cNvPr id="6" name="Slide Number Placeholder 5">
            <a:extLst>
              <a:ext uri="{FF2B5EF4-FFF2-40B4-BE49-F238E27FC236}">
                <a16:creationId xmlns:a16="http://schemas.microsoft.com/office/drawing/2014/main" id="{68919DDB-F89D-4B2D-21A2-82AF1D1023E4}"/>
              </a:ext>
            </a:extLst>
          </p:cNvPr>
          <p:cNvSpPr>
            <a:spLocks noGrp="1"/>
          </p:cNvSpPr>
          <p:nvPr>
            <p:ph type="sldNum" sz="quarter" idx="12"/>
          </p:nvPr>
        </p:nvSpPr>
        <p:spPr/>
        <p:txBody>
          <a:bodyPr/>
          <a:lstStyle/>
          <a:p>
            <a:fld id="{148CC95F-0247-41B6-91CF-DC97C76A7088}" type="slidenum">
              <a:rPr lang="en-US" smtClean="0"/>
              <a:t>‹#›</a:t>
            </a:fld>
            <a:endParaRPr lang="en-US"/>
          </a:p>
        </p:txBody>
      </p:sp>
      <p:sp>
        <p:nvSpPr>
          <p:cNvPr id="7" name="Rectangle 6">
            <a:extLst>
              <a:ext uri="{FF2B5EF4-FFF2-40B4-BE49-F238E27FC236}">
                <a16:creationId xmlns:a16="http://schemas.microsoft.com/office/drawing/2014/main" id="{262572D8-D485-1DB1-34B1-C35C61C89940}"/>
              </a:ext>
            </a:extLst>
          </p:cNvPr>
          <p:cNvSpPr/>
          <p:nvPr/>
        </p:nvSpPr>
        <p:spPr>
          <a:xfrm rot="5400000">
            <a:off x="8936623" y="3585018"/>
            <a:ext cx="5325734"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16227551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31A28D7-6581-4956-AAE3-9104804DF55B}"/>
              </a:ext>
            </a:extLst>
          </p:cNvPr>
          <p:cNvSpPr>
            <a:spLocks noGrp="1"/>
          </p:cNvSpPr>
          <p:nvPr>
            <p:ph type="title"/>
          </p:nvPr>
        </p:nvSpPr>
        <p:spPr>
          <a:xfrm>
            <a:off x="521208" y="978408"/>
            <a:ext cx="11155680" cy="1463040"/>
          </a:xfrm>
          <a:prstGeom prst="rect">
            <a:avLst/>
          </a:prstGeom>
        </p:spPr>
        <p:txBody>
          <a:bodyPr vert="horz" lIns="91440" tIns="45720" rIns="91440" bIns="45720" rtlCol="0" anchor="t">
            <a:normAutofit/>
          </a:bodyPr>
          <a:lstStyle/>
          <a:p>
            <a:r>
              <a:rPr lang="en-US" dirty="0"/>
              <a:t>Click to edit Master title style</a:t>
            </a:r>
          </a:p>
        </p:txBody>
      </p:sp>
      <p:sp>
        <p:nvSpPr>
          <p:cNvPr id="3" name="Text Placeholder 2">
            <a:extLst>
              <a:ext uri="{FF2B5EF4-FFF2-40B4-BE49-F238E27FC236}">
                <a16:creationId xmlns:a16="http://schemas.microsoft.com/office/drawing/2014/main" id="{F3CFCCA4-57A4-08A1-FC45-D2BBA66FABFA}"/>
              </a:ext>
            </a:extLst>
          </p:cNvPr>
          <p:cNvSpPr>
            <a:spLocks noGrp="1"/>
          </p:cNvSpPr>
          <p:nvPr>
            <p:ph type="body" idx="1"/>
          </p:nvPr>
        </p:nvSpPr>
        <p:spPr>
          <a:xfrm>
            <a:off x="521208" y="2578608"/>
            <a:ext cx="11155680" cy="376732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B0FAA0F4-2442-8D45-3C3D-1B8F55C8683A}"/>
              </a:ext>
            </a:extLst>
          </p:cNvPr>
          <p:cNvSpPr>
            <a:spLocks noGrp="1"/>
          </p:cNvSpPr>
          <p:nvPr>
            <p:ph type="dt" sz="half" idx="2"/>
          </p:nvPr>
        </p:nvSpPr>
        <p:spPr>
          <a:xfrm>
            <a:off x="521208" y="6419088"/>
            <a:ext cx="2743200" cy="365125"/>
          </a:xfrm>
          <a:prstGeom prst="rect">
            <a:avLst/>
          </a:prstGeom>
        </p:spPr>
        <p:txBody>
          <a:bodyPr vert="horz" lIns="91440" tIns="45720" rIns="91440" bIns="45720" rtlCol="0" anchor="ctr"/>
          <a:lstStyle>
            <a:lvl1pPr algn="l">
              <a:defRPr sz="900">
                <a:solidFill>
                  <a:schemeClr val="tx1"/>
                </a:solidFill>
              </a:defRPr>
            </a:lvl1pPr>
          </a:lstStyle>
          <a:p>
            <a:r>
              <a:rPr lang="el-GR"/>
              <a:t>September 2025</a:t>
            </a:r>
            <a:endParaRPr lang="en-US"/>
          </a:p>
        </p:txBody>
      </p:sp>
      <p:sp>
        <p:nvSpPr>
          <p:cNvPr id="5" name="Footer Placeholder 4">
            <a:extLst>
              <a:ext uri="{FF2B5EF4-FFF2-40B4-BE49-F238E27FC236}">
                <a16:creationId xmlns:a16="http://schemas.microsoft.com/office/drawing/2014/main" id="{9E03785E-FB42-1D54-92AC-D0A61A8FABD4}"/>
              </a:ext>
            </a:extLst>
          </p:cNvPr>
          <p:cNvSpPr>
            <a:spLocks noGrp="1"/>
          </p:cNvSpPr>
          <p:nvPr>
            <p:ph type="ftr" sz="quarter" idx="3"/>
          </p:nvPr>
        </p:nvSpPr>
        <p:spPr>
          <a:xfrm>
            <a:off x="521208" y="100584"/>
            <a:ext cx="4114800" cy="365125"/>
          </a:xfrm>
          <a:prstGeom prst="rect">
            <a:avLst/>
          </a:prstGeom>
        </p:spPr>
        <p:txBody>
          <a:bodyPr vert="horz" lIns="91440" tIns="45720" rIns="91440" bIns="45720" rtlCol="0" anchor="ctr"/>
          <a:lstStyle>
            <a:lvl1pPr algn="l">
              <a:defRPr sz="900">
                <a:solidFill>
                  <a:schemeClr val="tx1"/>
                </a:solidFill>
              </a:defRPr>
            </a:lvl1pPr>
          </a:lstStyle>
          <a:p>
            <a:r>
              <a:rPr lang="en-US"/>
              <a:t>MSc Artificial Intelligence &amp; Deep Learning</a:t>
            </a:r>
            <a:endParaRPr lang="en-US" dirty="0"/>
          </a:p>
        </p:txBody>
      </p:sp>
      <p:sp>
        <p:nvSpPr>
          <p:cNvPr id="6" name="Slide Number Placeholder 5">
            <a:extLst>
              <a:ext uri="{FF2B5EF4-FFF2-40B4-BE49-F238E27FC236}">
                <a16:creationId xmlns:a16="http://schemas.microsoft.com/office/drawing/2014/main" id="{BCC9CF34-1274-DB45-4809-90E5D244A9AE}"/>
              </a:ext>
            </a:extLst>
          </p:cNvPr>
          <p:cNvSpPr>
            <a:spLocks noGrp="1"/>
          </p:cNvSpPr>
          <p:nvPr>
            <p:ph type="sldNum" sz="quarter" idx="4"/>
          </p:nvPr>
        </p:nvSpPr>
        <p:spPr>
          <a:xfrm>
            <a:off x="11457432" y="6419088"/>
            <a:ext cx="640080" cy="365125"/>
          </a:xfrm>
          <a:prstGeom prst="rect">
            <a:avLst/>
          </a:prstGeom>
        </p:spPr>
        <p:txBody>
          <a:bodyPr vert="horz" lIns="91440" tIns="45720" rIns="91440" bIns="45720" rtlCol="0" anchor="ctr"/>
          <a:lstStyle>
            <a:lvl1pPr algn="r">
              <a:defRPr sz="900">
                <a:solidFill>
                  <a:schemeClr val="tx1"/>
                </a:solidFill>
              </a:defRPr>
            </a:lvl1pPr>
          </a:lstStyle>
          <a:p>
            <a:fld id="{148CC95F-0247-41B6-91CF-DC97C76A7088}" type="slidenum">
              <a:rPr lang="en-US" smtClean="0"/>
              <a:pPr/>
              <a:t>‹#›</a:t>
            </a:fld>
            <a:endParaRPr lang="en-US"/>
          </a:p>
        </p:txBody>
      </p:sp>
      <p:sp>
        <p:nvSpPr>
          <p:cNvPr id="7" name="Freeform: Shape 6">
            <a:extLst>
              <a:ext uri="{FF2B5EF4-FFF2-40B4-BE49-F238E27FC236}">
                <a16:creationId xmlns:a16="http://schemas.microsoft.com/office/drawing/2014/main" id="{774A975B-A886-5202-0489-6965514A0D14}"/>
              </a:ext>
              <a:ext uri="{C183D7F6-B498-43B3-948B-1728B52AA6E4}">
                <adec:decorative xmlns:adec="http://schemas.microsoft.com/office/drawing/2017/decorative" val="1"/>
              </a:ext>
            </a:extLst>
          </p:cNvPr>
          <p:cNvSpPr/>
          <p:nvPr/>
        </p:nvSpPr>
        <p:spPr>
          <a:xfrm>
            <a:off x="517869" y="508090"/>
            <a:ext cx="11153214" cy="149279"/>
          </a:xfrm>
          <a:custGeom>
            <a:avLst/>
            <a:gdLst>
              <a:gd name="connsiteX0" fmla="*/ 0 w 8085002"/>
              <a:gd name="connsiteY0" fmla="*/ 0 h 149279"/>
              <a:gd name="connsiteX1" fmla="*/ 8085002 w 8085002"/>
              <a:gd name="connsiteY1" fmla="*/ 0 h 149279"/>
              <a:gd name="connsiteX2" fmla="*/ 8085002 w 8085002"/>
              <a:gd name="connsiteY2" fmla="*/ 149279 h 149279"/>
              <a:gd name="connsiteX3" fmla="*/ 0 w 8085002"/>
              <a:gd name="connsiteY3" fmla="*/ 149279 h 149279"/>
            </a:gdLst>
            <a:ahLst/>
            <a:cxnLst>
              <a:cxn ang="0">
                <a:pos x="connsiteX0" y="connsiteY0"/>
              </a:cxn>
              <a:cxn ang="0">
                <a:pos x="connsiteX1" y="connsiteY1"/>
              </a:cxn>
              <a:cxn ang="0">
                <a:pos x="connsiteX2" y="connsiteY2"/>
              </a:cxn>
              <a:cxn ang="0">
                <a:pos x="connsiteX3" y="connsiteY3"/>
              </a:cxn>
            </a:cxnLst>
            <a:rect l="l" t="t" r="r" b="b"/>
            <a:pathLst>
              <a:path w="8085002" h="149279">
                <a:moveTo>
                  <a:pt x="0" y="0"/>
                </a:moveTo>
                <a:lnTo>
                  <a:pt x="8085002" y="0"/>
                </a:lnTo>
                <a:lnTo>
                  <a:pt x="8085002" y="149279"/>
                </a:lnTo>
                <a:lnTo>
                  <a:pt x="0" y="149279"/>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Tree>
    <p:extLst>
      <p:ext uri="{BB962C8B-B14F-4D97-AF65-F5344CB8AC3E}">
        <p14:creationId xmlns:p14="http://schemas.microsoft.com/office/powerpoint/2010/main" val="1316316476"/>
      </p:ext>
    </p:extLst>
  </p:cSld>
  <p:clrMap bg1="lt1" tx1="dk1" bg2="lt2" tx2="dk2" accent1="accent1" accent2="accent2" accent3="accent3" accent4="accent4" accent5="accent5" accent6="accent6" hlink="hlink" folHlink="folHlink"/>
  <p:sldLayoutIdLst>
    <p:sldLayoutId id="2147483671" r:id="rId1"/>
    <p:sldLayoutId id="2147483670" r:id="rId2"/>
    <p:sldLayoutId id="2147483669" r:id="rId3"/>
    <p:sldLayoutId id="2147483668" r:id="rId4"/>
    <p:sldLayoutId id="2147483667" r:id="rId5"/>
    <p:sldLayoutId id="2147483666" r:id="rId6"/>
    <p:sldLayoutId id="2147483665" r:id="rId7"/>
    <p:sldLayoutId id="2147483664" r:id="rId8"/>
    <p:sldLayoutId id="2147483663" r:id="rId9"/>
    <p:sldLayoutId id="2147483662" r:id="rId10"/>
    <p:sldLayoutId id="2147483661" r:id="rId11"/>
  </p:sldLayoutIdLst>
  <p:hf hdr="0" dt="0"/>
  <p:txStyles>
    <p:titleStyle>
      <a:lvl1pPr algn="l" defTabSz="914400" rtl="0" eaLnBrk="1" latinLnBrk="0" hangingPunct="1">
        <a:lnSpc>
          <a:spcPct val="100000"/>
        </a:lnSpc>
        <a:spcBef>
          <a:spcPct val="0"/>
        </a:spcBef>
        <a:buNone/>
        <a:defRPr sz="4400" b="1" kern="1200">
          <a:solidFill>
            <a:schemeClr val="tx1"/>
          </a:solidFill>
          <a:latin typeface="+mj-lt"/>
          <a:ea typeface="+mj-ea"/>
          <a:cs typeface="+mj-cs"/>
        </a:defRPr>
      </a:lvl1pPr>
    </p:titleStyle>
    <p:bodyStyle>
      <a:lvl1pPr marL="228600" indent="-228600" algn="l" defTabSz="914400" rtl="0" eaLnBrk="1" latinLnBrk="0" hangingPunct="1">
        <a:lnSpc>
          <a:spcPct val="110000"/>
        </a:lnSpc>
        <a:spcBef>
          <a:spcPts val="1000"/>
        </a:spcBef>
        <a:buFont typeface="Arial" panose="020B0604020202020204" pitchFamily="34" charset="0"/>
        <a:buChar char="•"/>
        <a:defRPr sz="1800" kern="1200">
          <a:solidFill>
            <a:schemeClr val="tx1"/>
          </a:solidFill>
          <a:latin typeface="+mn-lt"/>
          <a:ea typeface="+mn-ea"/>
          <a:cs typeface="+mn-cs"/>
        </a:defRPr>
      </a:lvl1pPr>
      <a:lvl2pPr marL="685800" indent="-228600" algn="l" defTabSz="914400" rtl="0" eaLnBrk="1" latinLnBrk="0" hangingPunct="1">
        <a:lnSpc>
          <a:spcPct val="110000"/>
        </a:lnSpc>
        <a:spcBef>
          <a:spcPts val="500"/>
        </a:spcBef>
        <a:buFont typeface="Arial" panose="020B0604020202020204" pitchFamily="34" charset="0"/>
        <a:buChar char="•"/>
        <a:defRPr sz="1600" kern="1200">
          <a:solidFill>
            <a:schemeClr val="tx1"/>
          </a:solidFill>
          <a:latin typeface="+mn-lt"/>
          <a:ea typeface="+mn-ea"/>
          <a:cs typeface="+mn-cs"/>
        </a:defRPr>
      </a:lvl2pPr>
      <a:lvl3pPr marL="1143000" indent="-228600" algn="l" defTabSz="914400" rtl="0" eaLnBrk="1" latinLnBrk="0" hangingPunct="1">
        <a:lnSpc>
          <a:spcPct val="110000"/>
        </a:lnSpc>
        <a:spcBef>
          <a:spcPts val="500"/>
        </a:spcBef>
        <a:buFont typeface="Arial" panose="020B0604020202020204" pitchFamily="34" charset="0"/>
        <a:buChar char="•"/>
        <a:defRPr sz="1400" kern="1200">
          <a:solidFill>
            <a:schemeClr val="tx1"/>
          </a:solidFill>
          <a:latin typeface="+mn-lt"/>
          <a:ea typeface="+mn-ea"/>
          <a:cs typeface="+mn-cs"/>
        </a:defRPr>
      </a:lvl3pPr>
      <a:lvl4pPr marL="1600200" indent="-228600" algn="l" defTabSz="914400" rtl="0" eaLnBrk="1" latinLnBrk="0" hangingPunct="1">
        <a:lnSpc>
          <a:spcPct val="110000"/>
        </a:lnSpc>
        <a:spcBef>
          <a:spcPts val="500"/>
        </a:spcBef>
        <a:buFont typeface="Arial" panose="020B0604020202020204" pitchFamily="34" charset="0"/>
        <a:buChar char="•"/>
        <a:defRPr sz="1200" kern="1200">
          <a:solidFill>
            <a:schemeClr val="tx1"/>
          </a:solidFill>
          <a:latin typeface="+mn-lt"/>
          <a:ea typeface="+mn-ea"/>
          <a:cs typeface="+mn-cs"/>
        </a:defRPr>
      </a:lvl4pPr>
      <a:lvl5pPr marL="2057400" indent="-228600" algn="l" defTabSz="914400" rtl="0" eaLnBrk="1" latinLnBrk="0" hangingPunct="1">
        <a:lnSpc>
          <a:spcPct val="110000"/>
        </a:lnSpc>
        <a:spcBef>
          <a:spcPts val="500"/>
        </a:spcBef>
        <a:buFont typeface="Arial" panose="020B0604020202020204" pitchFamily="34" charset="0"/>
        <a:buChar char="•"/>
        <a:defRPr sz="12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EC46CC-3AA4-EEFD-DB8B-FE08BAA09AFD}"/>
              </a:ext>
            </a:extLst>
          </p:cNvPr>
          <p:cNvSpPr>
            <a:spLocks noGrp="1"/>
          </p:cNvSpPr>
          <p:nvPr>
            <p:ph type="title"/>
          </p:nvPr>
        </p:nvSpPr>
        <p:spPr>
          <a:xfrm>
            <a:off x="521208" y="978408"/>
            <a:ext cx="11155680" cy="5440680"/>
          </a:xfrm>
        </p:spPr>
        <p:txBody>
          <a:bodyPr>
            <a:normAutofit/>
          </a:bodyPr>
          <a:lstStyle/>
          <a:p>
            <a:pPr algn="ctr"/>
            <a:br>
              <a:rPr lang="en-US" sz="2800" dirty="0">
                <a:latin typeface="Calibri" panose="020F0502020204030204" pitchFamily="34" charset="0"/>
                <a:ea typeface="Calibri" panose="020F0502020204030204" pitchFamily="34" charset="0"/>
                <a:cs typeface="Calibri" panose="020F0502020204030204" pitchFamily="34" charset="0"/>
              </a:rPr>
            </a:br>
            <a:r>
              <a:rPr lang="en-US" sz="3600" b="0" i="0" u="none" strike="noStrike" dirty="0">
                <a:solidFill>
                  <a:srgbClr val="0E2238"/>
                </a:solidFill>
                <a:effectLst/>
                <a:latin typeface="Calibri" panose="020F0502020204030204" pitchFamily="34" charset="0"/>
                <a:ea typeface="Calibri" panose="020F0502020204030204" pitchFamily="34" charset="0"/>
                <a:cs typeface="Calibri" panose="020F0502020204030204" pitchFamily="34" charset="0"/>
              </a:rPr>
              <a:t>NLP </a:t>
            </a:r>
            <a:r>
              <a:rPr lang="en-US" sz="3600" b="0" i="0" u="none" strike="noStrike">
                <a:solidFill>
                  <a:srgbClr val="0E2238"/>
                </a:solidFill>
                <a:effectLst/>
                <a:latin typeface="Calibri" panose="020F0502020204030204" pitchFamily="34" charset="0"/>
                <a:ea typeface="Calibri" panose="020F0502020204030204" pitchFamily="34" charset="0"/>
                <a:cs typeface="Calibri" panose="020F0502020204030204" pitchFamily="34" charset="0"/>
              </a:rPr>
              <a:t>Toxicity Detection</a:t>
            </a:r>
            <a:br>
              <a:rPr lang="en-US" sz="3600" b="0" i="0" u="none" strike="noStrike" dirty="0">
                <a:solidFill>
                  <a:srgbClr val="0E2238"/>
                </a:solidFill>
                <a:effectLst/>
                <a:latin typeface="Calibri" panose="020F0502020204030204" pitchFamily="34" charset="0"/>
                <a:ea typeface="Calibri" panose="020F0502020204030204" pitchFamily="34" charset="0"/>
                <a:cs typeface="Calibri" panose="020F0502020204030204" pitchFamily="34" charset="0"/>
              </a:rPr>
            </a:br>
            <a:br>
              <a:rPr lang="en-US" sz="3600" b="0" i="0" u="none" strike="noStrike" dirty="0">
                <a:solidFill>
                  <a:srgbClr val="0E2238"/>
                </a:solidFill>
                <a:effectLst/>
                <a:latin typeface="Calibri" panose="020F0502020204030204" pitchFamily="34" charset="0"/>
                <a:ea typeface="Calibri" panose="020F0502020204030204" pitchFamily="34" charset="0"/>
                <a:cs typeface="Calibri" panose="020F0502020204030204" pitchFamily="34" charset="0"/>
              </a:rPr>
            </a:br>
            <a:r>
              <a:rPr lang="en-US" sz="2400" b="0" dirty="0">
                <a:latin typeface="Calibri" panose="020F0502020204030204" pitchFamily="34" charset="0"/>
                <a:ea typeface="Calibri" panose="020F0502020204030204" pitchFamily="34" charset="0"/>
                <a:cs typeface="Calibri" panose="020F0502020204030204" pitchFamily="34" charset="0"/>
              </a:rPr>
              <a:t>Thodoris Charos mscaidl-0077</a:t>
            </a:r>
            <a:br>
              <a:rPr lang="en-US" sz="1800" b="0" dirty="0">
                <a:latin typeface="Calibri" panose="020F0502020204030204" pitchFamily="34" charset="0"/>
                <a:ea typeface="Calibri" panose="020F0502020204030204" pitchFamily="34" charset="0"/>
                <a:cs typeface="Calibri" panose="020F0502020204030204" pitchFamily="34" charset="0"/>
              </a:rPr>
            </a:br>
            <a:br>
              <a:rPr lang="en-US" sz="1800" b="0" dirty="0">
                <a:latin typeface="Calibri" panose="020F0502020204030204" pitchFamily="34" charset="0"/>
                <a:ea typeface="Calibri" panose="020F0502020204030204" pitchFamily="34" charset="0"/>
                <a:cs typeface="Calibri" panose="020F0502020204030204" pitchFamily="34" charset="0"/>
              </a:rPr>
            </a:br>
            <a:br>
              <a:rPr lang="en-US" sz="1800" b="0" dirty="0">
                <a:latin typeface="Calibri" panose="020F0502020204030204" pitchFamily="34" charset="0"/>
                <a:ea typeface="Calibri" panose="020F0502020204030204" pitchFamily="34" charset="0"/>
                <a:cs typeface="Calibri" panose="020F0502020204030204" pitchFamily="34" charset="0"/>
              </a:rPr>
            </a:br>
            <a:br>
              <a:rPr lang="en-US" sz="2800" dirty="0">
                <a:latin typeface="Calibri" panose="020F0502020204030204" pitchFamily="34" charset="0"/>
                <a:ea typeface="Calibri" panose="020F0502020204030204" pitchFamily="34" charset="0"/>
                <a:cs typeface="Calibri" panose="020F0502020204030204" pitchFamily="34" charset="0"/>
              </a:rPr>
            </a:br>
            <a:r>
              <a:rPr lang="en-US" sz="2400" b="0" dirty="0">
                <a:latin typeface="Calibri" panose="020F0502020204030204" pitchFamily="34" charset="0"/>
                <a:ea typeface="Calibri" panose="020F0502020204030204" pitchFamily="34" charset="0"/>
                <a:cs typeface="Calibri" panose="020F0502020204030204" pitchFamily="34" charset="0"/>
              </a:rPr>
              <a:t>AIDL_A_02 - </a:t>
            </a:r>
            <a:r>
              <a:rPr lang="en-US" sz="2400" b="0" i="0" u="none" strike="noStrike" dirty="0">
                <a:solidFill>
                  <a:srgbClr val="0E2238"/>
                </a:solidFill>
                <a:effectLst/>
                <a:latin typeface="Calibri" panose="020F0502020204030204" pitchFamily="34" charset="0"/>
                <a:ea typeface="Calibri" panose="020F0502020204030204" pitchFamily="34" charset="0"/>
                <a:cs typeface="Calibri" panose="020F0502020204030204" pitchFamily="34" charset="0"/>
              </a:rPr>
              <a:t>Neural Networks and Deep Learning</a:t>
            </a:r>
            <a:br>
              <a:rPr lang="en-US" b="1" i="0" u="none" strike="noStrike" dirty="0">
                <a:solidFill>
                  <a:srgbClr val="0E2238"/>
                </a:solidFill>
                <a:effectLst/>
                <a:latin typeface="Calibri" panose="020F0502020204030204" pitchFamily="34" charset="0"/>
                <a:ea typeface="Calibri" panose="020F0502020204030204" pitchFamily="34" charset="0"/>
                <a:cs typeface="Calibri" panose="020F0502020204030204" pitchFamily="34" charset="0"/>
              </a:rPr>
            </a:br>
            <a:br>
              <a:rPr lang="en-US" b="1" i="0" u="none" strike="noStrike" dirty="0">
                <a:solidFill>
                  <a:srgbClr val="0E2238"/>
                </a:solidFill>
                <a:effectLst/>
                <a:latin typeface="Calibri" panose="020F0502020204030204" pitchFamily="34" charset="0"/>
                <a:ea typeface="Calibri" panose="020F0502020204030204" pitchFamily="34" charset="0"/>
                <a:cs typeface="Calibri" panose="020F0502020204030204" pitchFamily="34" charset="0"/>
              </a:rPr>
            </a:br>
            <a:br>
              <a:rPr lang="el-GR" dirty="0">
                <a:latin typeface="Calibri" panose="020F0502020204030204" pitchFamily="34" charset="0"/>
                <a:ea typeface="Calibri" panose="020F0502020204030204" pitchFamily="34" charset="0"/>
                <a:cs typeface="Calibri" panose="020F0502020204030204" pitchFamily="34" charset="0"/>
              </a:rPr>
            </a:br>
            <a:endParaRPr lang="el-GR" b="0" dirty="0">
              <a:latin typeface="Calibri" panose="020F0502020204030204" pitchFamily="34" charset="0"/>
              <a:ea typeface="Calibri" panose="020F0502020204030204" pitchFamily="34" charset="0"/>
              <a:cs typeface="Calibri" panose="020F0502020204030204" pitchFamily="34" charset="0"/>
            </a:endParaRPr>
          </a:p>
        </p:txBody>
      </p:sp>
      <p:sp>
        <p:nvSpPr>
          <p:cNvPr id="4" name="Footer Placeholder 3">
            <a:extLst>
              <a:ext uri="{FF2B5EF4-FFF2-40B4-BE49-F238E27FC236}">
                <a16:creationId xmlns:a16="http://schemas.microsoft.com/office/drawing/2014/main" id="{9E1450AE-0E04-6DA8-5227-9D12689CDDBD}"/>
              </a:ext>
            </a:extLst>
          </p:cNvPr>
          <p:cNvSpPr>
            <a:spLocks noGrp="1"/>
          </p:cNvSpPr>
          <p:nvPr>
            <p:ph type="ftr" sz="quarter" idx="11"/>
          </p:nvPr>
        </p:nvSpPr>
        <p:spPr/>
        <p:txBody>
          <a:bodyPr/>
          <a:lstStyle/>
          <a:p>
            <a:r>
              <a:rPr lang="en-US" dirty="0">
                <a:latin typeface="Calibri" panose="020F0502020204030204" pitchFamily="34" charset="0"/>
                <a:ea typeface="Calibri" panose="020F0502020204030204" pitchFamily="34" charset="0"/>
                <a:cs typeface="Calibri" panose="020F0502020204030204" pitchFamily="34" charset="0"/>
              </a:rPr>
              <a:t>MSc Artificial Intelligence &amp; Deep Learning</a:t>
            </a:r>
          </a:p>
        </p:txBody>
      </p:sp>
      <p:sp>
        <p:nvSpPr>
          <p:cNvPr id="5" name="Slide Number Placeholder 4">
            <a:extLst>
              <a:ext uri="{FF2B5EF4-FFF2-40B4-BE49-F238E27FC236}">
                <a16:creationId xmlns:a16="http://schemas.microsoft.com/office/drawing/2014/main" id="{E1CE9477-A47C-DB30-9ECE-BA44807821C1}"/>
              </a:ext>
            </a:extLst>
          </p:cNvPr>
          <p:cNvSpPr>
            <a:spLocks noGrp="1"/>
          </p:cNvSpPr>
          <p:nvPr>
            <p:ph type="sldNum" sz="quarter" idx="12"/>
          </p:nvPr>
        </p:nvSpPr>
        <p:spPr/>
        <p:txBody>
          <a:bodyPr/>
          <a:lstStyle/>
          <a:p>
            <a:fld id="{148CC95F-0247-41B6-91CF-DC97C76A7088}" type="slidenum">
              <a:rPr lang="en-US" smtClean="0"/>
              <a:t>1</a:t>
            </a:fld>
            <a:endParaRPr lang="en-US"/>
          </a:p>
        </p:txBody>
      </p:sp>
    </p:spTree>
    <p:extLst>
      <p:ext uri="{BB962C8B-B14F-4D97-AF65-F5344CB8AC3E}">
        <p14:creationId xmlns:p14="http://schemas.microsoft.com/office/powerpoint/2010/main" val="196710974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8A260236-8C60-545F-DD8F-8399F06E1366}"/>
              </a:ext>
            </a:extLst>
          </p:cNvPr>
          <p:cNvSpPr>
            <a:spLocks noGrp="1"/>
          </p:cNvSpPr>
          <p:nvPr>
            <p:ph type="ftr" sz="quarter" idx="11"/>
          </p:nvPr>
        </p:nvSpPr>
        <p:spPr/>
        <p:txBody>
          <a:bodyPr/>
          <a:lstStyle/>
          <a:p>
            <a:r>
              <a:rPr lang="en-US"/>
              <a:t>MSc Artificial Intelligence &amp; Deep Learning</a:t>
            </a:r>
          </a:p>
        </p:txBody>
      </p:sp>
      <p:sp>
        <p:nvSpPr>
          <p:cNvPr id="4" name="Slide Number Placeholder 3">
            <a:extLst>
              <a:ext uri="{FF2B5EF4-FFF2-40B4-BE49-F238E27FC236}">
                <a16:creationId xmlns:a16="http://schemas.microsoft.com/office/drawing/2014/main" id="{7B8C5727-8184-BAD8-0C16-4E7213239DDD}"/>
              </a:ext>
            </a:extLst>
          </p:cNvPr>
          <p:cNvSpPr>
            <a:spLocks noGrp="1"/>
          </p:cNvSpPr>
          <p:nvPr>
            <p:ph type="sldNum" sz="quarter" idx="12"/>
          </p:nvPr>
        </p:nvSpPr>
        <p:spPr/>
        <p:txBody>
          <a:bodyPr/>
          <a:lstStyle/>
          <a:p>
            <a:fld id="{148CC95F-0247-41B6-91CF-DC97C76A7088}" type="slidenum">
              <a:rPr lang="en-US" smtClean="0"/>
              <a:t>2</a:t>
            </a:fld>
            <a:endParaRPr lang="en-US"/>
          </a:p>
        </p:txBody>
      </p:sp>
      <p:sp>
        <p:nvSpPr>
          <p:cNvPr id="5" name="TextBox 4">
            <a:extLst>
              <a:ext uri="{FF2B5EF4-FFF2-40B4-BE49-F238E27FC236}">
                <a16:creationId xmlns:a16="http://schemas.microsoft.com/office/drawing/2014/main" id="{2EDBEA45-F45D-D956-D333-E2116AEAC6CC}"/>
              </a:ext>
            </a:extLst>
          </p:cNvPr>
          <p:cNvSpPr txBox="1"/>
          <p:nvPr/>
        </p:nvSpPr>
        <p:spPr>
          <a:xfrm>
            <a:off x="521208" y="947450"/>
            <a:ext cx="10229788" cy="400110"/>
          </a:xfrm>
          <a:prstGeom prst="rect">
            <a:avLst/>
          </a:prstGeom>
          <a:noFill/>
        </p:spPr>
        <p:txBody>
          <a:bodyPr wrap="none" rtlCol="0">
            <a:spAutoFit/>
          </a:bodyPr>
          <a:lstStyle/>
          <a:p>
            <a:r>
              <a:rPr lang="en-GB" sz="2000" b="1" dirty="0">
                <a:effectLst/>
                <a:latin typeface="Helvetica" pitchFamily="2" charset="0"/>
              </a:rPr>
              <a:t>1. Train LSTM with custom and glove </a:t>
            </a:r>
            <a:r>
              <a:rPr lang="en-GB" sz="2000" b="1" dirty="0" err="1">
                <a:effectLst/>
                <a:latin typeface="Helvetica" pitchFamily="2" charset="0"/>
              </a:rPr>
              <a:t>embs</a:t>
            </a:r>
            <a:r>
              <a:rPr lang="en-GB" sz="2000" b="1" dirty="0">
                <a:effectLst/>
                <a:latin typeface="Helvetica" pitchFamily="2" charset="0"/>
              </a:rPr>
              <a:t> on a Toxicity detection dataset (binary)</a:t>
            </a:r>
          </a:p>
        </p:txBody>
      </p:sp>
      <p:sp>
        <p:nvSpPr>
          <p:cNvPr id="10" name="TextBox 9">
            <a:extLst>
              <a:ext uri="{FF2B5EF4-FFF2-40B4-BE49-F238E27FC236}">
                <a16:creationId xmlns:a16="http://schemas.microsoft.com/office/drawing/2014/main" id="{58C4994B-0631-12B5-3828-C9D26D9DC042}"/>
              </a:ext>
            </a:extLst>
          </p:cNvPr>
          <p:cNvSpPr txBox="1"/>
          <p:nvPr/>
        </p:nvSpPr>
        <p:spPr>
          <a:xfrm>
            <a:off x="521208" y="1597446"/>
            <a:ext cx="6769802" cy="646331"/>
          </a:xfrm>
          <a:prstGeom prst="rect">
            <a:avLst/>
          </a:prstGeom>
          <a:noFill/>
        </p:spPr>
        <p:txBody>
          <a:bodyPr wrap="none" rtlCol="0">
            <a:spAutoFit/>
          </a:bodyPr>
          <a:lstStyle/>
          <a:p>
            <a:r>
              <a:rPr lang="en-GB" b="1" dirty="0">
                <a:latin typeface="Consolas" panose="020B0609020204030204" pitchFamily="49" charset="0"/>
                <a:cs typeface="Consolas" panose="020B0609020204030204" pitchFamily="49" charset="0"/>
              </a:rPr>
              <a:t>--- Binary Classification: LSTM (Custom Embeddings)</a:t>
            </a:r>
            <a:r>
              <a:rPr lang="en-GB" dirty="0">
                <a:latin typeface="Consolas" panose="020B0609020204030204" pitchFamily="49" charset="0"/>
                <a:cs typeface="Consolas" panose="020B0609020204030204" pitchFamily="49" charset="0"/>
              </a:rPr>
              <a:t> </a:t>
            </a:r>
          </a:p>
          <a:p>
            <a:r>
              <a:rPr lang="en-GB" dirty="0">
                <a:latin typeface="Consolas" panose="020B0609020204030204" pitchFamily="49" charset="0"/>
                <a:cs typeface="Consolas" panose="020B0609020204030204" pitchFamily="49" charset="0"/>
              </a:rPr>
              <a:t>--- F1-Score: 0.8187</a:t>
            </a:r>
            <a:endParaRPr lang="en-GR" dirty="0">
              <a:latin typeface="Consolas" panose="020B0609020204030204" pitchFamily="49" charset="0"/>
              <a:cs typeface="Consolas" panose="020B0609020204030204" pitchFamily="49" charset="0"/>
            </a:endParaRPr>
          </a:p>
        </p:txBody>
      </p:sp>
      <p:pic>
        <p:nvPicPr>
          <p:cNvPr id="2" name="Picture 2">
            <a:extLst>
              <a:ext uri="{FF2B5EF4-FFF2-40B4-BE49-F238E27FC236}">
                <a16:creationId xmlns:a16="http://schemas.microsoft.com/office/drawing/2014/main" id="{BC975BC1-3231-3ED9-0425-38741A253E2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21208" y="2436239"/>
            <a:ext cx="3973674" cy="3631569"/>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79768A4A-0DED-D4D3-9B99-D4FA0F8A475F}"/>
              </a:ext>
            </a:extLst>
          </p:cNvPr>
          <p:cNvSpPr txBox="1"/>
          <p:nvPr/>
        </p:nvSpPr>
        <p:spPr>
          <a:xfrm>
            <a:off x="4946573" y="2436239"/>
            <a:ext cx="7042312" cy="2677656"/>
          </a:xfrm>
          <a:prstGeom prst="rect">
            <a:avLst/>
          </a:prstGeom>
          <a:noFill/>
        </p:spPr>
        <p:txBody>
          <a:bodyPr wrap="none" rtlCol="0">
            <a:spAutoFit/>
          </a:bodyPr>
          <a:lstStyle/>
          <a:p>
            <a:r>
              <a:rPr lang="en-GB" sz="1400" dirty="0">
                <a:latin typeface="Consolas" panose="020B0609020204030204" pitchFamily="49" charset="0"/>
                <a:cs typeface="Consolas" panose="020B0609020204030204" pitchFamily="49" charset="0"/>
              </a:rPr>
              <a:t>==================== LSTM Custom Hyperparameters ====================</a:t>
            </a:r>
          </a:p>
          <a:p>
            <a:r>
              <a:rPr lang="en-GB" sz="1400" dirty="0">
                <a:latin typeface="Consolas" panose="020B0609020204030204" pitchFamily="49" charset="0"/>
                <a:cs typeface="Consolas" panose="020B0609020204030204" pitchFamily="49" charset="0"/>
              </a:rPr>
              <a:t>Epochs:          5</a:t>
            </a:r>
          </a:p>
          <a:p>
            <a:r>
              <a:rPr lang="en-GB" sz="1400" dirty="0">
                <a:latin typeface="Consolas" panose="020B0609020204030204" pitchFamily="49" charset="0"/>
                <a:cs typeface="Consolas" panose="020B0609020204030204" pitchFamily="49" charset="0"/>
              </a:rPr>
              <a:t>Batch Size:      32</a:t>
            </a:r>
          </a:p>
          <a:p>
            <a:r>
              <a:rPr lang="en-GB" sz="1400" dirty="0">
                <a:latin typeface="Consolas" panose="020B0609020204030204" pitchFamily="49" charset="0"/>
                <a:cs typeface="Consolas" panose="020B0609020204030204" pitchFamily="49" charset="0"/>
              </a:rPr>
              <a:t>Optimizer:       Adam</a:t>
            </a:r>
          </a:p>
          <a:p>
            <a:r>
              <a:rPr lang="en-GB" sz="1400" dirty="0">
                <a:latin typeface="Consolas" panose="020B0609020204030204" pitchFamily="49" charset="0"/>
                <a:cs typeface="Consolas" panose="020B0609020204030204" pitchFamily="49" charset="0"/>
              </a:rPr>
              <a:t>Learning Rate:   0.0010000000474974513</a:t>
            </a:r>
          </a:p>
          <a:p>
            <a:r>
              <a:rPr lang="en-GB" sz="1400" dirty="0">
                <a:latin typeface="Consolas" panose="020B0609020204030204" pitchFamily="49" charset="0"/>
                <a:cs typeface="Consolas" panose="020B0609020204030204" pitchFamily="49" charset="0"/>
              </a:rPr>
              <a:t>Loss Function:   </a:t>
            </a:r>
            <a:r>
              <a:rPr lang="en-GB" sz="1400" dirty="0" err="1">
                <a:latin typeface="Consolas" panose="020B0609020204030204" pitchFamily="49" charset="0"/>
                <a:cs typeface="Consolas" panose="020B0609020204030204" pitchFamily="49" charset="0"/>
              </a:rPr>
              <a:t>binary_crossentropy</a:t>
            </a:r>
            <a:endParaRPr lang="en-GB" sz="1400" dirty="0">
              <a:latin typeface="Consolas" panose="020B0609020204030204" pitchFamily="49" charset="0"/>
              <a:cs typeface="Consolas" panose="020B0609020204030204" pitchFamily="49" charset="0"/>
            </a:endParaRPr>
          </a:p>
          <a:p>
            <a:r>
              <a:rPr lang="en-GB" sz="1400" dirty="0">
                <a:latin typeface="Consolas" panose="020B0609020204030204" pitchFamily="49" charset="0"/>
                <a:cs typeface="Consolas" panose="020B0609020204030204" pitchFamily="49" charset="0"/>
              </a:rPr>
              <a:t>Embedding Dim:   100</a:t>
            </a:r>
          </a:p>
          <a:p>
            <a:r>
              <a:rPr lang="en-GB" sz="1400" dirty="0">
                <a:latin typeface="Consolas" panose="020B0609020204030204" pitchFamily="49" charset="0"/>
                <a:cs typeface="Consolas" panose="020B0609020204030204" pitchFamily="49" charset="0"/>
              </a:rPr>
              <a:t>Vocab Size:      12674</a:t>
            </a:r>
          </a:p>
          <a:p>
            <a:r>
              <a:rPr lang="en-GB" sz="1400" dirty="0">
                <a:latin typeface="Consolas" panose="020B0609020204030204" pitchFamily="49" charset="0"/>
                <a:cs typeface="Consolas" panose="020B0609020204030204" pitchFamily="49" charset="0"/>
              </a:rPr>
              <a:t>Trainable </a:t>
            </a:r>
            <a:r>
              <a:rPr lang="en-GB" sz="1400" dirty="0" err="1">
                <a:latin typeface="Consolas" panose="020B0609020204030204" pitchFamily="49" charset="0"/>
                <a:cs typeface="Consolas" panose="020B0609020204030204" pitchFamily="49" charset="0"/>
              </a:rPr>
              <a:t>Embs</a:t>
            </a:r>
            <a:r>
              <a:rPr lang="en-GB" sz="1400" dirty="0">
                <a:latin typeface="Consolas" panose="020B0609020204030204" pitchFamily="49" charset="0"/>
                <a:cs typeface="Consolas" panose="020B0609020204030204" pitchFamily="49" charset="0"/>
              </a:rPr>
              <a:t>:  True</a:t>
            </a:r>
          </a:p>
          <a:p>
            <a:r>
              <a:rPr lang="en-GB" sz="1400" dirty="0">
                <a:latin typeface="Consolas" panose="020B0609020204030204" pitchFamily="49" charset="0"/>
                <a:cs typeface="Consolas" panose="020B0609020204030204" pitchFamily="49" charset="0"/>
              </a:rPr>
              <a:t>LSTM Units:      64</a:t>
            </a:r>
          </a:p>
          <a:p>
            <a:r>
              <a:rPr lang="en-GB" sz="1400" dirty="0">
                <a:latin typeface="Consolas" panose="020B0609020204030204" pitchFamily="49" charset="0"/>
                <a:cs typeface="Consolas" panose="020B0609020204030204" pitchFamily="49" charset="0"/>
              </a:rPr>
              <a:t>LSTM Dropout:    0.2</a:t>
            </a:r>
          </a:p>
          <a:p>
            <a:r>
              <a:rPr lang="en-GB" sz="1400" dirty="0">
                <a:latin typeface="Consolas" panose="020B0609020204030204" pitchFamily="49" charset="0"/>
                <a:cs typeface="Consolas" panose="020B0609020204030204" pitchFamily="49" charset="0"/>
              </a:rPr>
              <a:t>============================================================</a:t>
            </a:r>
            <a:endParaRPr lang="en-GR" sz="1400" dirty="0">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308818459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8A260236-8C60-545F-DD8F-8399F06E1366}"/>
              </a:ext>
            </a:extLst>
          </p:cNvPr>
          <p:cNvSpPr>
            <a:spLocks noGrp="1"/>
          </p:cNvSpPr>
          <p:nvPr>
            <p:ph type="ftr" sz="quarter" idx="11"/>
          </p:nvPr>
        </p:nvSpPr>
        <p:spPr/>
        <p:txBody>
          <a:bodyPr/>
          <a:lstStyle/>
          <a:p>
            <a:r>
              <a:rPr lang="en-US"/>
              <a:t>MSc Artificial Intelligence &amp; Deep Learning</a:t>
            </a:r>
          </a:p>
        </p:txBody>
      </p:sp>
      <p:sp>
        <p:nvSpPr>
          <p:cNvPr id="4" name="Slide Number Placeholder 3">
            <a:extLst>
              <a:ext uri="{FF2B5EF4-FFF2-40B4-BE49-F238E27FC236}">
                <a16:creationId xmlns:a16="http://schemas.microsoft.com/office/drawing/2014/main" id="{7B8C5727-8184-BAD8-0C16-4E7213239DDD}"/>
              </a:ext>
            </a:extLst>
          </p:cNvPr>
          <p:cNvSpPr>
            <a:spLocks noGrp="1"/>
          </p:cNvSpPr>
          <p:nvPr>
            <p:ph type="sldNum" sz="quarter" idx="12"/>
          </p:nvPr>
        </p:nvSpPr>
        <p:spPr/>
        <p:txBody>
          <a:bodyPr/>
          <a:lstStyle/>
          <a:p>
            <a:fld id="{148CC95F-0247-41B6-91CF-DC97C76A7088}" type="slidenum">
              <a:rPr lang="en-US" smtClean="0"/>
              <a:t>3</a:t>
            </a:fld>
            <a:endParaRPr lang="en-US"/>
          </a:p>
        </p:txBody>
      </p:sp>
      <p:sp>
        <p:nvSpPr>
          <p:cNvPr id="5" name="TextBox 4">
            <a:extLst>
              <a:ext uri="{FF2B5EF4-FFF2-40B4-BE49-F238E27FC236}">
                <a16:creationId xmlns:a16="http://schemas.microsoft.com/office/drawing/2014/main" id="{2EDBEA45-F45D-D956-D333-E2116AEAC6CC}"/>
              </a:ext>
            </a:extLst>
          </p:cNvPr>
          <p:cNvSpPr txBox="1"/>
          <p:nvPr/>
        </p:nvSpPr>
        <p:spPr>
          <a:xfrm>
            <a:off x="521208" y="947450"/>
            <a:ext cx="10229788" cy="400110"/>
          </a:xfrm>
          <a:prstGeom prst="rect">
            <a:avLst/>
          </a:prstGeom>
          <a:noFill/>
        </p:spPr>
        <p:txBody>
          <a:bodyPr wrap="none" rtlCol="0">
            <a:spAutoFit/>
          </a:bodyPr>
          <a:lstStyle/>
          <a:p>
            <a:r>
              <a:rPr lang="en-GB" sz="2000" b="1" dirty="0">
                <a:effectLst/>
                <a:latin typeface="Helvetica" pitchFamily="2" charset="0"/>
              </a:rPr>
              <a:t>1. Train LSTM with custom and glove </a:t>
            </a:r>
            <a:r>
              <a:rPr lang="en-GB" sz="2000" b="1" dirty="0" err="1">
                <a:effectLst/>
                <a:latin typeface="Helvetica" pitchFamily="2" charset="0"/>
              </a:rPr>
              <a:t>embs</a:t>
            </a:r>
            <a:r>
              <a:rPr lang="en-GB" sz="2000" b="1" dirty="0">
                <a:effectLst/>
                <a:latin typeface="Helvetica" pitchFamily="2" charset="0"/>
              </a:rPr>
              <a:t> on a Toxicity detection dataset (binary)</a:t>
            </a:r>
          </a:p>
        </p:txBody>
      </p:sp>
      <p:sp>
        <p:nvSpPr>
          <p:cNvPr id="10" name="TextBox 9">
            <a:extLst>
              <a:ext uri="{FF2B5EF4-FFF2-40B4-BE49-F238E27FC236}">
                <a16:creationId xmlns:a16="http://schemas.microsoft.com/office/drawing/2014/main" id="{58C4994B-0631-12B5-3828-C9D26D9DC042}"/>
              </a:ext>
            </a:extLst>
          </p:cNvPr>
          <p:cNvSpPr txBox="1"/>
          <p:nvPr/>
        </p:nvSpPr>
        <p:spPr>
          <a:xfrm>
            <a:off x="521208" y="1597446"/>
            <a:ext cx="6643165" cy="646331"/>
          </a:xfrm>
          <a:prstGeom prst="rect">
            <a:avLst/>
          </a:prstGeom>
          <a:noFill/>
        </p:spPr>
        <p:txBody>
          <a:bodyPr wrap="none" rtlCol="0">
            <a:spAutoFit/>
          </a:bodyPr>
          <a:lstStyle/>
          <a:p>
            <a:r>
              <a:rPr lang="en-GB" b="1" dirty="0">
                <a:latin typeface="Consolas" panose="020B0609020204030204" pitchFamily="49" charset="0"/>
                <a:cs typeface="Consolas" panose="020B0609020204030204" pitchFamily="49" charset="0"/>
              </a:rPr>
              <a:t>--- Binary Classification: LSTM (</a:t>
            </a:r>
            <a:r>
              <a:rPr lang="en-GB" b="1" dirty="0" err="1">
                <a:latin typeface="Consolas" panose="020B0609020204030204" pitchFamily="49" charset="0"/>
                <a:cs typeface="Consolas" panose="020B0609020204030204" pitchFamily="49" charset="0"/>
              </a:rPr>
              <a:t>GloVe</a:t>
            </a:r>
            <a:r>
              <a:rPr lang="en-GB" b="1" dirty="0">
                <a:latin typeface="Consolas" panose="020B0609020204030204" pitchFamily="49" charset="0"/>
                <a:cs typeface="Consolas" panose="020B0609020204030204" pitchFamily="49" charset="0"/>
              </a:rPr>
              <a:t> Embeddings) </a:t>
            </a:r>
          </a:p>
          <a:p>
            <a:r>
              <a:rPr lang="en-GB" dirty="0">
                <a:latin typeface="Consolas" panose="020B0609020204030204" pitchFamily="49" charset="0"/>
                <a:cs typeface="Consolas" panose="020B0609020204030204" pitchFamily="49" charset="0"/>
              </a:rPr>
              <a:t>--- F1-Score: 0.8228</a:t>
            </a:r>
            <a:endParaRPr lang="en-GR" dirty="0">
              <a:latin typeface="Consolas" panose="020B0609020204030204" pitchFamily="49" charset="0"/>
              <a:cs typeface="Consolas" panose="020B0609020204030204" pitchFamily="49" charset="0"/>
            </a:endParaRPr>
          </a:p>
        </p:txBody>
      </p:sp>
      <p:pic>
        <p:nvPicPr>
          <p:cNvPr id="2" name="Picture 2">
            <a:extLst>
              <a:ext uri="{FF2B5EF4-FFF2-40B4-BE49-F238E27FC236}">
                <a16:creationId xmlns:a16="http://schemas.microsoft.com/office/drawing/2014/main" id="{50C945D2-7AAA-D7C8-7474-74162F2282A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16660" y="2438937"/>
            <a:ext cx="4000256" cy="3655863"/>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D6EC1A70-DE02-8195-17B7-720B40C8BC48}"/>
              </a:ext>
            </a:extLst>
          </p:cNvPr>
          <p:cNvSpPr txBox="1"/>
          <p:nvPr/>
        </p:nvSpPr>
        <p:spPr>
          <a:xfrm>
            <a:off x="4935556" y="2438937"/>
            <a:ext cx="6942926" cy="2677656"/>
          </a:xfrm>
          <a:prstGeom prst="rect">
            <a:avLst/>
          </a:prstGeom>
          <a:noFill/>
        </p:spPr>
        <p:txBody>
          <a:bodyPr wrap="none" rtlCol="0">
            <a:spAutoFit/>
          </a:bodyPr>
          <a:lstStyle/>
          <a:p>
            <a:r>
              <a:rPr lang="en-GB" sz="1400" dirty="0">
                <a:latin typeface="Consolas" panose="020B0609020204030204" pitchFamily="49" charset="0"/>
                <a:cs typeface="Consolas" panose="020B0609020204030204" pitchFamily="49" charset="0"/>
              </a:rPr>
              <a:t>==================== LSTM </a:t>
            </a:r>
            <a:r>
              <a:rPr lang="en-GB" sz="1400" dirty="0" err="1">
                <a:latin typeface="Consolas" panose="020B0609020204030204" pitchFamily="49" charset="0"/>
                <a:cs typeface="Consolas" panose="020B0609020204030204" pitchFamily="49" charset="0"/>
              </a:rPr>
              <a:t>GloVe</a:t>
            </a:r>
            <a:r>
              <a:rPr lang="en-GB" sz="1400" dirty="0">
                <a:latin typeface="Consolas" panose="020B0609020204030204" pitchFamily="49" charset="0"/>
                <a:cs typeface="Consolas" panose="020B0609020204030204" pitchFamily="49" charset="0"/>
              </a:rPr>
              <a:t> Hyperparameters ====================</a:t>
            </a:r>
          </a:p>
          <a:p>
            <a:r>
              <a:rPr lang="en-GB" sz="1400" dirty="0">
                <a:latin typeface="Consolas" panose="020B0609020204030204" pitchFamily="49" charset="0"/>
                <a:cs typeface="Consolas" panose="020B0609020204030204" pitchFamily="49" charset="0"/>
              </a:rPr>
              <a:t>Epochs:          5</a:t>
            </a:r>
          </a:p>
          <a:p>
            <a:r>
              <a:rPr lang="en-GB" sz="1400" dirty="0">
                <a:latin typeface="Consolas" panose="020B0609020204030204" pitchFamily="49" charset="0"/>
                <a:cs typeface="Consolas" panose="020B0609020204030204" pitchFamily="49" charset="0"/>
              </a:rPr>
              <a:t>Batch Size:      32</a:t>
            </a:r>
          </a:p>
          <a:p>
            <a:r>
              <a:rPr lang="en-GB" sz="1400" dirty="0">
                <a:latin typeface="Consolas" panose="020B0609020204030204" pitchFamily="49" charset="0"/>
                <a:cs typeface="Consolas" panose="020B0609020204030204" pitchFamily="49" charset="0"/>
              </a:rPr>
              <a:t>Optimizer:       Adam</a:t>
            </a:r>
          </a:p>
          <a:p>
            <a:r>
              <a:rPr lang="en-GB" sz="1400" dirty="0">
                <a:latin typeface="Consolas" panose="020B0609020204030204" pitchFamily="49" charset="0"/>
                <a:cs typeface="Consolas" panose="020B0609020204030204" pitchFamily="49" charset="0"/>
              </a:rPr>
              <a:t>Learning Rate:   0.0010000000474974513</a:t>
            </a:r>
          </a:p>
          <a:p>
            <a:r>
              <a:rPr lang="en-GB" sz="1400" dirty="0">
                <a:latin typeface="Consolas" panose="020B0609020204030204" pitchFamily="49" charset="0"/>
                <a:cs typeface="Consolas" panose="020B0609020204030204" pitchFamily="49" charset="0"/>
              </a:rPr>
              <a:t>Loss Function:   </a:t>
            </a:r>
            <a:r>
              <a:rPr lang="en-GB" sz="1400" dirty="0" err="1">
                <a:latin typeface="Consolas" panose="020B0609020204030204" pitchFamily="49" charset="0"/>
                <a:cs typeface="Consolas" panose="020B0609020204030204" pitchFamily="49" charset="0"/>
              </a:rPr>
              <a:t>binary_crossentropy</a:t>
            </a:r>
            <a:endParaRPr lang="en-GB" sz="1400" dirty="0">
              <a:latin typeface="Consolas" panose="020B0609020204030204" pitchFamily="49" charset="0"/>
              <a:cs typeface="Consolas" panose="020B0609020204030204" pitchFamily="49" charset="0"/>
            </a:endParaRPr>
          </a:p>
          <a:p>
            <a:r>
              <a:rPr lang="en-GB" sz="1400" dirty="0">
                <a:latin typeface="Consolas" panose="020B0609020204030204" pitchFamily="49" charset="0"/>
                <a:cs typeface="Consolas" panose="020B0609020204030204" pitchFamily="49" charset="0"/>
              </a:rPr>
              <a:t>Embedding Dim:   100</a:t>
            </a:r>
          </a:p>
          <a:p>
            <a:r>
              <a:rPr lang="en-GB" sz="1400" dirty="0">
                <a:latin typeface="Consolas" panose="020B0609020204030204" pitchFamily="49" charset="0"/>
                <a:cs typeface="Consolas" panose="020B0609020204030204" pitchFamily="49" charset="0"/>
              </a:rPr>
              <a:t>Vocab Size:      12674</a:t>
            </a:r>
          </a:p>
          <a:p>
            <a:r>
              <a:rPr lang="en-GB" sz="1400" dirty="0">
                <a:latin typeface="Consolas" panose="020B0609020204030204" pitchFamily="49" charset="0"/>
                <a:cs typeface="Consolas" panose="020B0609020204030204" pitchFamily="49" charset="0"/>
              </a:rPr>
              <a:t>Trainable </a:t>
            </a:r>
            <a:r>
              <a:rPr lang="en-GB" sz="1400" dirty="0" err="1">
                <a:latin typeface="Consolas" panose="020B0609020204030204" pitchFamily="49" charset="0"/>
                <a:cs typeface="Consolas" panose="020B0609020204030204" pitchFamily="49" charset="0"/>
              </a:rPr>
              <a:t>Embs</a:t>
            </a:r>
            <a:r>
              <a:rPr lang="en-GB" sz="1400" dirty="0">
                <a:latin typeface="Consolas" panose="020B0609020204030204" pitchFamily="49" charset="0"/>
                <a:cs typeface="Consolas" panose="020B0609020204030204" pitchFamily="49" charset="0"/>
              </a:rPr>
              <a:t>:  False</a:t>
            </a:r>
          </a:p>
          <a:p>
            <a:r>
              <a:rPr lang="en-GB" sz="1400" dirty="0">
                <a:latin typeface="Consolas" panose="020B0609020204030204" pitchFamily="49" charset="0"/>
                <a:cs typeface="Consolas" panose="020B0609020204030204" pitchFamily="49" charset="0"/>
              </a:rPr>
              <a:t>LSTM Units:      64</a:t>
            </a:r>
          </a:p>
          <a:p>
            <a:r>
              <a:rPr lang="en-GB" sz="1400" dirty="0">
                <a:latin typeface="Consolas" panose="020B0609020204030204" pitchFamily="49" charset="0"/>
                <a:cs typeface="Consolas" panose="020B0609020204030204" pitchFamily="49" charset="0"/>
              </a:rPr>
              <a:t>LSTM Dropout:    0.2</a:t>
            </a:r>
          </a:p>
          <a:p>
            <a:r>
              <a:rPr lang="en-GB" sz="1400" dirty="0">
                <a:latin typeface="Consolas" panose="020B0609020204030204" pitchFamily="49" charset="0"/>
                <a:cs typeface="Consolas" panose="020B0609020204030204" pitchFamily="49" charset="0"/>
              </a:rPr>
              <a:t>============================================================</a:t>
            </a:r>
            <a:endParaRPr lang="en-GR" sz="1400" dirty="0">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392607167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8A260236-8C60-545F-DD8F-8399F06E1366}"/>
              </a:ext>
            </a:extLst>
          </p:cNvPr>
          <p:cNvSpPr>
            <a:spLocks noGrp="1"/>
          </p:cNvSpPr>
          <p:nvPr>
            <p:ph type="ftr" sz="quarter" idx="11"/>
          </p:nvPr>
        </p:nvSpPr>
        <p:spPr/>
        <p:txBody>
          <a:bodyPr/>
          <a:lstStyle/>
          <a:p>
            <a:r>
              <a:rPr lang="en-US"/>
              <a:t>MSc Artificial Intelligence &amp; Deep Learning</a:t>
            </a:r>
          </a:p>
        </p:txBody>
      </p:sp>
      <p:sp>
        <p:nvSpPr>
          <p:cNvPr id="4" name="Slide Number Placeholder 3">
            <a:extLst>
              <a:ext uri="{FF2B5EF4-FFF2-40B4-BE49-F238E27FC236}">
                <a16:creationId xmlns:a16="http://schemas.microsoft.com/office/drawing/2014/main" id="{7B8C5727-8184-BAD8-0C16-4E7213239DDD}"/>
              </a:ext>
            </a:extLst>
          </p:cNvPr>
          <p:cNvSpPr>
            <a:spLocks noGrp="1"/>
          </p:cNvSpPr>
          <p:nvPr>
            <p:ph type="sldNum" sz="quarter" idx="12"/>
          </p:nvPr>
        </p:nvSpPr>
        <p:spPr/>
        <p:txBody>
          <a:bodyPr/>
          <a:lstStyle/>
          <a:p>
            <a:fld id="{148CC95F-0247-41B6-91CF-DC97C76A7088}" type="slidenum">
              <a:rPr lang="en-US" smtClean="0"/>
              <a:t>4</a:t>
            </a:fld>
            <a:endParaRPr lang="en-US"/>
          </a:p>
        </p:txBody>
      </p:sp>
      <p:sp>
        <p:nvSpPr>
          <p:cNvPr id="6" name="TextBox 5">
            <a:extLst>
              <a:ext uri="{FF2B5EF4-FFF2-40B4-BE49-F238E27FC236}">
                <a16:creationId xmlns:a16="http://schemas.microsoft.com/office/drawing/2014/main" id="{813B5625-9C94-561E-0D6A-590AAA6B3495}"/>
              </a:ext>
            </a:extLst>
          </p:cNvPr>
          <p:cNvSpPr txBox="1"/>
          <p:nvPr/>
        </p:nvSpPr>
        <p:spPr>
          <a:xfrm>
            <a:off x="521208" y="955467"/>
            <a:ext cx="11044947" cy="400110"/>
          </a:xfrm>
          <a:prstGeom prst="rect">
            <a:avLst/>
          </a:prstGeom>
          <a:noFill/>
        </p:spPr>
        <p:txBody>
          <a:bodyPr wrap="none" rtlCol="0">
            <a:spAutoFit/>
          </a:bodyPr>
          <a:lstStyle/>
          <a:p>
            <a:r>
              <a:rPr lang="en-GR" sz="2000" b="1" dirty="0"/>
              <a:t>2. </a:t>
            </a:r>
            <a:r>
              <a:rPr lang="en-GB" sz="2000" b="1" dirty="0">
                <a:effectLst/>
                <a:latin typeface="Helvetica" pitchFamily="2" charset="0"/>
              </a:rPr>
              <a:t>Train 2 BERT-alike model (e.g. BERT, </a:t>
            </a:r>
            <a:r>
              <a:rPr lang="en-GB" sz="2000" b="1" dirty="0" err="1">
                <a:effectLst/>
                <a:latin typeface="Helvetica" pitchFamily="2" charset="0"/>
              </a:rPr>
              <a:t>RoBERTa</a:t>
            </a:r>
            <a:r>
              <a:rPr lang="en-GB" sz="2000" b="1" dirty="0">
                <a:effectLst/>
                <a:latin typeface="Helvetica" pitchFamily="2" charset="0"/>
              </a:rPr>
              <a:t>) on STS-b dataset (semantic similarity) </a:t>
            </a:r>
          </a:p>
        </p:txBody>
      </p:sp>
      <p:sp>
        <p:nvSpPr>
          <p:cNvPr id="2" name="TextBox 1">
            <a:extLst>
              <a:ext uri="{FF2B5EF4-FFF2-40B4-BE49-F238E27FC236}">
                <a16:creationId xmlns:a16="http://schemas.microsoft.com/office/drawing/2014/main" id="{F5B721E5-BACA-E02B-7A14-058EE4ED9D47}"/>
              </a:ext>
            </a:extLst>
          </p:cNvPr>
          <p:cNvSpPr txBox="1"/>
          <p:nvPr/>
        </p:nvSpPr>
        <p:spPr>
          <a:xfrm>
            <a:off x="521208" y="2424319"/>
            <a:ext cx="3861955" cy="2677656"/>
          </a:xfrm>
          <a:prstGeom prst="rect">
            <a:avLst/>
          </a:prstGeom>
          <a:noFill/>
        </p:spPr>
        <p:txBody>
          <a:bodyPr wrap="none" rtlCol="0">
            <a:spAutoFit/>
          </a:bodyPr>
          <a:lstStyle/>
          <a:p>
            <a:r>
              <a:rPr lang="en-GB" sz="1400" dirty="0">
                <a:latin typeface="Consolas" panose="020B0609020204030204" pitchFamily="49" charset="0"/>
                <a:cs typeface="Consolas" panose="020B0609020204030204" pitchFamily="49" charset="0"/>
              </a:rPr>
              <a:t>--- BERT-Base Model Configuration ---</a:t>
            </a:r>
          </a:p>
          <a:p>
            <a:r>
              <a:rPr lang="en-GB" sz="1400" dirty="0">
                <a:latin typeface="Consolas" panose="020B0609020204030204" pitchFamily="49" charset="0"/>
                <a:cs typeface="Consolas" panose="020B0609020204030204" pitchFamily="49" charset="0"/>
              </a:rPr>
              <a:t>{'</a:t>
            </a:r>
            <a:r>
              <a:rPr lang="en-GB" sz="1400" dirty="0" err="1">
                <a:latin typeface="Consolas" panose="020B0609020204030204" pitchFamily="49" charset="0"/>
                <a:cs typeface="Consolas" panose="020B0609020204030204" pitchFamily="49" charset="0"/>
              </a:rPr>
              <a:t>eval_strategy</a:t>
            </a:r>
            <a:r>
              <a:rPr lang="en-GB" sz="1400" dirty="0">
                <a:latin typeface="Consolas" panose="020B0609020204030204" pitchFamily="49" charset="0"/>
                <a:cs typeface="Consolas" panose="020B0609020204030204" pitchFamily="49" charset="0"/>
              </a:rPr>
              <a:t>': 'epoch',</a:t>
            </a:r>
          </a:p>
          <a:p>
            <a:r>
              <a:rPr lang="en-GB" sz="1400" dirty="0">
                <a:latin typeface="Consolas" panose="020B0609020204030204" pitchFamily="49" charset="0"/>
                <a:cs typeface="Consolas" panose="020B0609020204030204" pitchFamily="49" charset="0"/>
              </a:rPr>
              <a:t> '</a:t>
            </a:r>
            <a:r>
              <a:rPr lang="en-GB" sz="1400" dirty="0" err="1">
                <a:latin typeface="Consolas" panose="020B0609020204030204" pitchFamily="49" charset="0"/>
                <a:cs typeface="Consolas" panose="020B0609020204030204" pitchFamily="49" charset="0"/>
              </a:rPr>
              <a:t>save_strategy</a:t>
            </a:r>
            <a:r>
              <a:rPr lang="en-GB" sz="1400" dirty="0">
                <a:latin typeface="Consolas" panose="020B0609020204030204" pitchFamily="49" charset="0"/>
                <a:cs typeface="Consolas" panose="020B0609020204030204" pitchFamily="49" charset="0"/>
              </a:rPr>
              <a:t>': 'epoch',</a:t>
            </a:r>
          </a:p>
          <a:p>
            <a:r>
              <a:rPr lang="en-GB" sz="1400" dirty="0">
                <a:latin typeface="Consolas" panose="020B0609020204030204" pitchFamily="49" charset="0"/>
                <a:cs typeface="Consolas" panose="020B0609020204030204" pitchFamily="49" charset="0"/>
              </a:rPr>
              <a:t> '</a:t>
            </a:r>
            <a:r>
              <a:rPr lang="en-GB" sz="1400" dirty="0" err="1">
                <a:latin typeface="Consolas" panose="020B0609020204030204" pitchFamily="49" charset="0"/>
                <a:cs typeface="Consolas" panose="020B0609020204030204" pitchFamily="49" charset="0"/>
              </a:rPr>
              <a:t>learning_rate</a:t>
            </a:r>
            <a:r>
              <a:rPr lang="en-GB" sz="1400" dirty="0">
                <a:latin typeface="Consolas" panose="020B0609020204030204" pitchFamily="49" charset="0"/>
                <a:cs typeface="Consolas" panose="020B0609020204030204" pitchFamily="49" charset="0"/>
              </a:rPr>
              <a:t>': 2e-05,</a:t>
            </a:r>
          </a:p>
          <a:p>
            <a:r>
              <a:rPr lang="en-GB" sz="1400" dirty="0">
                <a:latin typeface="Consolas" panose="020B0609020204030204" pitchFamily="49" charset="0"/>
                <a:cs typeface="Consolas" panose="020B0609020204030204" pitchFamily="49" charset="0"/>
              </a:rPr>
              <a:t> '</a:t>
            </a:r>
            <a:r>
              <a:rPr lang="en-GB" sz="1400" dirty="0" err="1">
                <a:latin typeface="Consolas" panose="020B0609020204030204" pitchFamily="49" charset="0"/>
                <a:cs typeface="Consolas" panose="020B0609020204030204" pitchFamily="49" charset="0"/>
              </a:rPr>
              <a:t>per_device_train_batch_size</a:t>
            </a:r>
            <a:r>
              <a:rPr lang="en-GB" sz="1400" dirty="0">
                <a:latin typeface="Consolas" panose="020B0609020204030204" pitchFamily="49" charset="0"/>
                <a:cs typeface="Consolas" panose="020B0609020204030204" pitchFamily="49" charset="0"/>
              </a:rPr>
              <a:t>': 16,</a:t>
            </a:r>
          </a:p>
          <a:p>
            <a:r>
              <a:rPr lang="en-GB" sz="1400" dirty="0">
                <a:latin typeface="Consolas" panose="020B0609020204030204" pitchFamily="49" charset="0"/>
                <a:cs typeface="Consolas" panose="020B0609020204030204" pitchFamily="49" charset="0"/>
              </a:rPr>
              <a:t> '</a:t>
            </a:r>
            <a:r>
              <a:rPr lang="en-GB" sz="1400" dirty="0" err="1">
                <a:latin typeface="Consolas" panose="020B0609020204030204" pitchFamily="49" charset="0"/>
                <a:cs typeface="Consolas" panose="020B0609020204030204" pitchFamily="49" charset="0"/>
              </a:rPr>
              <a:t>num_train_epochs</a:t>
            </a:r>
            <a:r>
              <a:rPr lang="en-GB" sz="1400" dirty="0">
                <a:latin typeface="Consolas" panose="020B0609020204030204" pitchFamily="49" charset="0"/>
                <a:cs typeface="Consolas" panose="020B0609020204030204" pitchFamily="49" charset="0"/>
              </a:rPr>
              <a:t>': 3,</a:t>
            </a:r>
          </a:p>
          <a:p>
            <a:r>
              <a:rPr lang="en-GB" sz="1400" dirty="0">
                <a:latin typeface="Consolas" panose="020B0609020204030204" pitchFamily="49" charset="0"/>
                <a:cs typeface="Consolas" panose="020B0609020204030204" pitchFamily="49" charset="0"/>
              </a:rPr>
              <a:t> '</a:t>
            </a:r>
            <a:r>
              <a:rPr lang="en-GB" sz="1400" dirty="0" err="1">
                <a:latin typeface="Consolas" panose="020B0609020204030204" pitchFamily="49" charset="0"/>
                <a:cs typeface="Consolas" panose="020B0609020204030204" pitchFamily="49" charset="0"/>
              </a:rPr>
              <a:t>weight_decay</a:t>
            </a:r>
            <a:r>
              <a:rPr lang="en-GB" sz="1400" dirty="0">
                <a:latin typeface="Consolas" panose="020B0609020204030204" pitchFamily="49" charset="0"/>
                <a:cs typeface="Consolas" panose="020B0609020204030204" pitchFamily="49" charset="0"/>
              </a:rPr>
              <a:t>': 0.01,</a:t>
            </a:r>
          </a:p>
          <a:p>
            <a:r>
              <a:rPr lang="en-GB" sz="1400" dirty="0">
                <a:latin typeface="Consolas" panose="020B0609020204030204" pitchFamily="49" charset="0"/>
                <a:cs typeface="Consolas" panose="020B0609020204030204" pitchFamily="49" charset="0"/>
              </a:rPr>
              <a:t> '</a:t>
            </a:r>
            <a:r>
              <a:rPr lang="en-GB" sz="1400" dirty="0" err="1">
                <a:latin typeface="Consolas" panose="020B0609020204030204" pitchFamily="49" charset="0"/>
                <a:cs typeface="Consolas" panose="020B0609020204030204" pitchFamily="49" charset="0"/>
              </a:rPr>
              <a:t>load_best_model_at_end</a:t>
            </a:r>
            <a:r>
              <a:rPr lang="en-GB" sz="1400" dirty="0">
                <a:latin typeface="Consolas" panose="020B0609020204030204" pitchFamily="49" charset="0"/>
                <a:cs typeface="Consolas" panose="020B0609020204030204" pitchFamily="49" charset="0"/>
              </a:rPr>
              <a:t>': True,</a:t>
            </a:r>
          </a:p>
          <a:p>
            <a:r>
              <a:rPr lang="en-GB" sz="1400" dirty="0">
                <a:latin typeface="Consolas" panose="020B0609020204030204" pitchFamily="49" charset="0"/>
                <a:cs typeface="Consolas" panose="020B0609020204030204" pitchFamily="49" charset="0"/>
              </a:rPr>
              <a:t> '</a:t>
            </a:r>
            <a:r>
              <a:rPr lang="en-GB" sz="1400" dirty="0" err="1">
                <a:latin typeface="Consolas" panose="020B0609020204030204" pitchFamily="49" charset="0"/>
                <a:cs typeface="Consolas" panose="020B0609020204030204" pitchFamily="49" charset="0"/>
              </a:rPr>
              <a:t>remove_unused_columns</a:t>
            </a:r>
            <a:r>
              <a:rPr lang="en-GB" sz="1400" dirty="0">
                <a:latin typeface="Consolas" panose="020B0609020204030204" pitchFamily="49" charset="0"/>
                <a:cs typeface="Consolas" panose="020B0609020204030204" pitchFamily="49" charset="0"/>
              </a:rPr>
              <a:t>': True,</a:t>
            </a:r>
          </a:p>
          <a:p>
            <a:r>
              <a:rPr lang="en-GB" sz="1400" dirty="0">
                <a:latin typeface="Consolas" panose="020B0609020204030204" pitchFamily="49" charset="0"/>
                <a:cs typeface="Consolas" panose="020B0609020204030204" pitchFamily="49" charset="0"/>
              </a:rPr>
              <a:t> '</a:t>
            </a:r>
            <a:r>
              <a:rPr lang="en-GB" sz="1400" dirty="0" err="1">
                <a:latin typeface="Consolas" panose="020B0609020204030204" pitchFamily="49" charset="0"/>
                <a:cs typeface="Consolas" panose="020B0609020204030204" pitchFamily="49" charset="0"/>
              </a:rPr>
              <a:t>report_to</a:t>
            </a:r>
            <a:r>
              <a:rPr lang="en-GB" sz="1400" dirty="0">
                <a:latin typeface="Consolas" panose="020B0609020204030204" pitchFamily="49" charset="0"/>
                <a:cs typeface="Consolas" panose="020B0609020204030204" pitchFamily="49" charset="0"/>
              </a:rPr>
              <a:t>': 'none',</a:t>
            </a:r>
          </a:p>
          <a:p>
            <a:r>
              <a:rPr lang="en-GB" sz="1400" dirty="0">
                <a:latin typeface="Consolas" panose="020B0609020204030204" pitchFamily="49" charset="0"/>
                <a:cs typeface="Consolas" panose="020B0609020204030204" pitchFamily="49" charset="0"/>
              </a:rPr>
              <a:t> 'fp16': False,</a:t>
            </a:r>
          </a:p>
          <a:p>
            <a:r>
              <a:rPr lang="en-GB" sz="1400" dirty="0">
                <a:latin typeface="Consolas" panose="020B0609020204030204" pitchFamily="49" charset="0"/>
                <a:cs typeface="Consolas" panose="020B0609020204030204" pitchFamily="49" charset="0"/>
              </a:rPr>
              <a:t> 'bf16': True}</a:t>
            </a:r>
            <a:endParaRPr lang="en-GR" sz="1400" dirty="0">
              <a:latin typeface="Consolas" panose="020B0609020204030204" pitchFamily="49" charset="0"/>
              <a:cs typeface="Consolas" panose="020B0609020204030204" pitchFamily="49" charset="0"/>
            </a:endParaRPr>
          </a:p>
        </p:txBody>
      </p:sp>
      <p:sp>
        <p:nvSpPr>
          <p:cNvPr id="7" name="TextBox 6">
            <a:extLst>
              <a:ext uri="{FF2B5EF4-FFF2-40B4-BE49-F238E27FC236}">
                <a16:creationId xmlns:a16="http://schemas.microsoft.com/office/drawing/2014/main" id="{A33F173F-0845-B894-1C1D-D0FA9B666C50}"/>
              </a:ext>
            </a:extLst>
          </p:cNvPr>
          <p:cNvSpPr txBox="1"/>
          <p:nvPr/>
        </p:nvSpPr>
        <p:spPr>
          <a:xfrm>
            <a:off x="521208" y="1404659"/>
            <a:ext cx="4224233" cy="830997"/>
          </a:xfrm>
          <a:prstGeom prst="rect">
            <a:avLst/>
          </a:prstGeom>
          <a:noFill/>
        </p:spPr>
        <p:txBody>
          <a:bodyPr wrap="none" rtlCol="0">
            <a:spAutoFit/>
          </a:bodyPr>
          <a:lstStyle/>
          <a:p>
            <a:r>
              <a:rPr lang="en-GB" sz="1600" b="1" dirty="0">
                <a:latin typeface="Consolas" panose="020B0609020204030204" pitchFamily="49" charset="0"/>
                <a:cs typeface="Consolas" panose="020B0609020204030204" pitchFamily="49" charset="0"/>
              </a:rPr>
              <a:t>--- STS-b Regression: BERT-Base --- </a:t>
            </a:r>
          </a:p>
          <a:p>
            <a:r>
              <a:rPr lang="en-GB" sz="1600" dirty="0">
                <a:latin typeface="Consolas" panose="020B0609020204030204" pitchFamily="49" charset="0"/>
                <a:cs typeface="Consolas" panose="020B0609020204030204" pitchFamily="49" charset="0"/>
              </a:rPr>
              <a:t>Pearson Correlation: 0.8885 </a:t>
            </a:r>
          </a:p>
          <a:p>
            <a:r>
              <a:rPr lang="en-GB" sz="1600" dirty="0">
                <a:latin typeface="Consolas" panose="020B0609020204030204" pitchFamily="49" charset="0"/>
                <a:cs typeface="Consolas" panose="020B0609020204030204" pitchFamily="49" charset="0"/>
              </a:rPr>
              <a:t>Spearman Correlation: 0.8851</a:t>
            </a:r>
            <a:endParaRPr lang="en-GR" sz="1600" dirty="0">
              <a:latin typeface="Consolas" panose="020B0609020204030204" pitchFamily="49" charset="0"/>
              <a:cs typeface="Consolas" panose="020B0609020204030204" pitchFamily="49" charset="0"/>
            </a:endParaRPr>
          </a:p>
        </p:txBody>
      </p:sp>
      <p:pic>
        <p:nvPicPr>
          <p:cNvPr id="3074" name="Picture 2">
            <a:extLst>
              <a:ext uri="{FF2B5EF4-FFF2-40B4-BE49-F238E27FC236}">
                <a16:creationId xmlns:a16="http://schemas.microsoft.com/office/drawing/2014/main" id="{3F8628F3-396C-7F3A-A364-5512F7CDC98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634295" y="1409647"/>
            <a:ext cx="5378183" cy="4707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4125151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8A260236-8C60-545F-DD8F-8399F06E1366}"/>
              </a:ext>
            </a:extLst>
          </p:cNvPr>
          <p:cNvSpPr>
            <a:spLocks noGrp="1"/>
          </p:cNvSpPr>
          <p:nvPr>
            <p:ph type="ftr" sz="quarter" idx="11"/>
          </p:nvPr>
        </p:nvSpPr>
        <p:spPr/>
        <p:txBody>
          <a:bodyPr/>
          <a:lstStyle/>
          <a:p>
            <a:r>
              <a:rPr lang="en-US"/>
              <a:t>MSc Artificial Intelligence &amp; Deep Learning</a:t>
            </a:r>
          </a:p>
        </p:txBody>
      </p:sp>
      <p:sp>
        <p:nvSpPr>
          <p:cNvPr id="4" name="Slide Number Placeholder 3">
            <a:extLst>
              <a:ext uri="{FF2B5EF4-FFF2-40B4-BE49-F238E27FC236}">
                <a16:creationId xmlns:a16="http://schemas.microsoft.com/office/drawing/2014/main" id="{7B8C5727-8184-BAD8-0C16-4E7213239DDD}"/>
              </a:ext>
            </a:extLst>
          </p:cNvPr>
          <p:cNvSpPr>
            <a:spLocks noGrp="1"/>
          </p:cNvSpPr>
          <p:nvPr>
            <p:ph type="sldNum" sz="quarter" idx="12"/>
          </p:nvPr>
        </p:nvSpPr>
        <p:spPr/>
        <p:txBody>
          <a:bodyPr/>
          <a:lstStyle/>
          <a:p>
            <a:fld id="{148CC95F-0247-41B6-91CF-DC97C76A7088}" type="slidenum">
              <a:rPr lang="en-US" smtClean="0"/>
              <a:t>5</a:t>
            </a:fld>
            <a:endParaRPr lang="en-US"/>
          </a:p>
        </p:txBody>
      </p:sp>
      <p:sp>
        <p:nvSpPr>
          <p:cNvPr id="6" name="TextBox 5">
            <a:extLst>
              <a:ext uri="{FF2B5EF4-FFF2-40B4-BE49-F238E27FC236}">
                <a16:creationId xmlns:a16="http://schemas.microsoft.com/office/drawing/2014/main" id="{813B5625-9C94-561E-0D6A-590AAA6B3495}"/>
              </a:ext>
            </a:extLst>
          </p:cNvPr>
          <p:cNvSpPr txBox="1"/>
          <p:nvPr/>
        </p:nvSpPr>
        <p:spPr>
          <a:xfrm>
            <a:off x="521208" y="955467"/>
            <a:ext cx="11044947" cy="400110"/>
          </a:xfrm>
          <a:prstGeom prst="rect">
            <a:avLst/>
          </a:prstGeom>
          <a:noFill/>
        </p:spPr>
        <p:txBody>
          <a:bodyPr wrap="none" rtlCol="0">
            <a:spAutoFit/>
          </a:bodyPr>
          <a:lstStyle/>
          <a:p>
            <a:r>
              <a:rPr lang="en-GR" sz="2000" b="1" dirty="0"/>
              <a:t>2. </a:t>
            </a:r>
            <a:r>
              <a:rPr lang="en-GB" sz="2000" b="1" dirty="0">
                <a:effectLst/>
                <a:latin typeface="Helvetica" pitchFamily="2" charset="0"/>
              </a:rPr>
              <a:t>Train 2 BERT-alike model (e.g. BERT, </a:t>
            </a:r>
            <a:r>
              <a:rPr lang="en-GB" sz="2000" b="1" dirty="0" err="1">
                <a:effectLst/>
                <a:latin typeface="Helvetica" pitchFamily="2" charset="0"/>
              </a:rPr>
              <a:t>RoBERTa</a:t>
            </a:r>
            <a:r>
              <a:rPr lang="en-GB" sz="2000" b="1" dirty="0">
                <a:effectLst/>
                <a:latin typeface="Helvetica" pitchFamily="2" charset="0"/>
              </a:rPr>
              <a:t>) on STS-b dataset (semantic similarity) </a:t>
            </a:r>
          </a:p>
        </p:txBody>
      </p:sp>
      <p:sp>
        <p:nvSpPr>
          <p:cNvPr id="2" name="TextBox 1">
            <a:extLst>
              <a:ext uri="{FF2B5EF4-FFF2-40B4-BE49-F238E27FC236}">
                <a16:creationId xmlns:a16="http://schemas.microsoft.com/office/drawing/2014/main" id="{F5B721E5-BACA-E02B-7A14-058EE4ED9D47}"/>
              </a:ext>
            </a:extLst>
          </p:cNvPr>
          <p:cNvSpPr txBox="1"/>
          <p:nvPr/>
        </p:nvSpPr>
        <p:spPr>
          <a:xfrm>
            <a:off x="521208" y="2446366"/>
            <a:ext cx="4160113" cy="2677656"/>
          </a:xfrm>
          <a:prstGeom prst="rect">
            <a:avLst/>
          </a:prstGeom>
          <a:noFill/>
        </p:spPr>
        <p:txBody>
          <a:bodyPr wrap="none" rtlCol="0">
            <a:spAutoFit/>
          </a:bodyPr>
          <a:lstStyle/>
          <a:p>
            <a:r>
              <a:rPr lang="en-GB" sz="1400" dirty="0">
                <a:latin typeface="Consolas" panose="020B0609020204030204" pitchFamily="49" charset="0"/>
                <a:cs typeface="Consolas" panose="020B0609020204030204" pitchFamily="49" charset="0"/>
              </a:rPr>
              <a:t>--- </a:t>
            </a:r>
            <a:r>
              <a:rPr lang="en-GB" sz="1400" dirty="0" err="1">
                <a:latin typeface="Consolas" panose="020B0609020204030204" pitchFamily="49" charset="0"/>
                <a:cs typeface="Consolas" panose="020B0609020204030204" pitchFamily="49" charset="0"/>
              </a:rPr>
              <a:t>RoBERTa</a:t>
            </a:r>
            <a:r>
              <a:rPr lang="en-GB" sz="1400" dirty="0">
                <a:latin typeface="Consolas" panose="020B0609020204030204" pitchFamily="49" charset="0"/>
                <a:cs typeface="Consolas" panose="020B0609020204030204" pitchFamily="49" charset="0"/>
              </a:rPr>
              <a:t>-Base Model Configuration ---</a:t>
            </a:r>
          </a:p>
          <a:p>
            <a:r>
              <a:rPr lang="en-GB" sz="1400" dirty="0">
                <a:latin typeface="Consolas" panose="020B0609020204030204" pitchFamily="49" charset="0"/>
                <a:cs typeface="Consolas" panose="020B0609020204030204" pitchFamily="49" charset="0"/>
              </a:rPr>
              <a:t>{'</a:t>
            </a:r>
            <a:r>
              <a:rPr lang="en-GB" sz="1400" dirty="0" err="1">
                <a:latin typeface="Consolas" panose="020B0609020204030204" pitchFamily="49" charset="0"/>
                <a:cs typeface="Consolas" panose="020B0609020204030204" pitchFamily="49" charset="0"/>
              </a:rPr>
              <a:t>eval_strategy</a:t>
            </a:r>
            <a:r>
              <a:rPr lang="en-GB" sz="1400" dirty="0">
                <a:latin typeface="Consolas" panose="020B0609020204030204" pitchFamily="49" charset="0"/>
                <a:cs typeface="Consolas" panose="020B0609020204030204" pitchFamily="49" charset="0"/>
              </a:rPr>
              <a:t>': 'epoch',</a:t>
            </a:r>
          </a:p>
          <a:p>
            <a:r>
              <a:rPr lang="en-GB" sz="1400" dirty="0">
                <a:latin typeface="Consolas" panose="020B0609020204030204" pitchFamily="49" charset="0"/>
                <a:cs typeface="Consolas" panose="020B0609020204030204" pitchFamily="49" charset="0"/>
              </a:rPr>
              <a:t> '</a:t>
            </a:r>
            <a:r>
              <a:rPr lang="en-GB" sz="1400" dirty="0" err="1">
                <a:latin typeface="Consolas" panose="020B0609020204030204" pitchFamily="49" charset="0"/>
                <a:cs typeface="Consolas" panose="020B0609020204030204" pitchFamily="49" charset="0"/>
              </a:rPr>
              <a:t>save_strategy</a:t>
            </a:r>
            <a:r>
              <a:rPr lang="en-GB" sz="1400" dirty="0">
                <a:latin typeface="Consolas" panose="020B0609020204030204" pitchFamily="49" charset="0"/>
                <a:cs typeface="Consolas" panose="020B0609020204030204" pitchFamily="49" charset="0"/>
              </a:rPr>
              <a:t>': 'epoch',</a:t>
            </a:r>
          </a:p>
          <a:p>
            <a:r>
              <a:rPr lang="en-GB" sz="1400" dirty="0">
                <a:latin typeface="Consolas" panose="020B0609020204030204" pitchFamily="49" charset="0"/>
                <a:cs typeface="Consolas" panose="020B0609020204030204" pitchFamily="49" charset="0"/>
              </a:rPr>
              <a:t> '</a:t>
            </a:r>
            <a:r>
              <a:rPr lang="en-GB" sz="1400" dirty="0" err="1">
                <a:latin typeface="Consolas" panose="020B0609020204030204" pitchFamily="49" charset="0"/>
                <a:cs typeface="Consolas" panose="020B0609020204030204" pitchFamily="49" charset="0"/>
              </a:rPr>
              <a:t>learning_rate</a:t>
            </a:r>
            <a:r>
              <a:rPr lang="en-GB" sz="1400" dirty="0">
                <a:latin typeface="Consolas" panose="020B0609020204030204" pitchFamily="49" charset="0"/>
                <a:cs typeface="Consolas" panose="020B0609020204030204" pitchFamily="49" charset="0"/>
              </a:rPr>
              <a:t>': 3e-05,</a:t>
            </a:r>
          </a:p>
          <a:p>
            <a:r>
              <a:rPr lang="en-GB" sz="1400" dirty="0">
                <a:latin typeface="Consolas" panose="020B0609020204030204" pitchFamily="49" charset="0"/>
                <a:cs typeface="Consolas" panose="020B0609020204030204" pitchFamily="49" charset="0"/>
              </a:rPr>
              <a:t> '</a:t>
            </a:r>
            <a:r>
              <a:rPr lang="en-GB" sz="1400" dirty="0" err="1">
                <a:latin typeface="Consolas" panose="020B0609020204030204" pitchFamily="49" charset="0"/>
                <a:cs typeface="Consolas" panose="020B0609020204030204" pitchFamily="49" charset="0"/>
              </a:rPr>
              <a:t>per_device_train_batch_size</a:t>
            </a:r>
            <a:r>
              <a:rPr lang="en-GB" sz="1400" dirty="0">
                <a:latin typeface="Consolas" panose="020B0609020204030204" pitchFamily="49" charset="0"/>
                <a:cs typeface="Consolas" panose="020B0609020204030204" pitchFamily="49" charset="0"/>
              </a:rPr>
              <a:t>': 32,</a:t>
            </a:r>
          </a:p>
          <a:p>
            <a:r>
              <a:rPr lang="en-GB" sz="1400" dirty="0">
                <a:latin typeface="Consolas" panose="020B0609020204030204" pitchFamily="49" charset="0"/>
                <a:cs typeface="Consolas" panose="020B0609020204030204" pitchFamily="49" charset="0"/>
              </a:rPr>
              <a:t> '</a:t>
            </a:r>
            <a:r>
              <a:rPr lang="en-GB" sz="1400" dirty="0" err="1">
                <a:latin typeface="Consolas" panose="020B0609020204030204" pitchFamily="49" charset="0"/>
                <a:cs typeface="Consolas" panose="020B0609020204030204" pitchFamily="49" charset="0"/>
              </a:rPr>
              <a:t>num_train_epochs</a:t>
            </a:r>
            <a:r>
              <a:rPr lang="en-GB" sz="1400" dirty="0">
                <a:latin typeface="Consolas" panose="020B0609020204030204" pitchFamily="49" charset="0"/>
                <a:cs typeface="Consolas" panose="020B0609020204030204" pitchFamily="49" charset="0"/>
              </a:rPr>
              <a:t>': 3,</a:t>
            </a:r>
          </a:p>
          <a:p>
            <a:r>
              <a:rPr lang="en-GB" sz="1400" dirty="0">
                <a:latin typeface="Consolas" panose="020B0609020204030204" pitchFamily="49" charset="0"/>
                <a:cs typeface="Consolas" panose="020B0609020204030204" pitchFamily="49" charset="0"/>
              </a:rPr>
              <a:t> '</a:t>
            </a:r>
            <a:r>
              <a:rPr lang="en-GB" sz="1400" dirty="0" err="1">
                <a:latin typeface="Consolas" panose="020B0609020204030204" pitchFamily="49" charset="0"/>
                <a:cs typeface="Consolas" panose="020B0609020204030204" pitchFamily="49" charset="0"/>
              </a:rPr>
              <a:t>weight_decay</a:t>
            </a:r>
            <a:r>
              <a:rPr lang="en-GB" sz="1400" dirty="0">
                <a:latin typeface="Consolas" panose="020B0609020204030204" pitchFamily="49" charset="0"/>
                <a:cs typeface="Consolas" panose="020B0609020204030204" pitchFamily="49" charset="0"/>
              </a:rPr>
              <a:t>': 0.01,</a:t>
            </a:r>
          </a:p>
          <a:p>
            <a:r>
              <a:rPr lang="en-GB" sz="1400" dirty="0">
                <a:latin typeface="Consolas" panose="020B0609020204030204" pitchFamily="49" charset="0"/>
                <a:cs typeface="Consolas" panose="020B0609020204030204" pitchFamily="49" charset="0"/>
              </a:rPr>
              <a:t> '</a:t>
            </a:r>
            <a:r>
              <a:rPr lang="en-GB" sz="1400" dirty="0" err="1">
                <a:latin typeface="Consolas" panose="020B0609020204030204" pitchFamily="49" charset="0"/>
                <a:cs typeface="Consolas" panose="020B0609020204030204" pitchFamily="49" charset="0"/>
              </a:rPr>
              <a:t>load_best_model_at_end</a:t>
            </a:r>
            <a:r>
              <a:rPr lang="en-GB" sz="1400" dirty="0">
                <a:latin typeface="Consolas" panose="020B0609020204030204" pitchFamily="49" charset="0"/>
                <a:cs typeface="Consolas" panose="020B0609020204030204" pitchFamily="49" charset="0"/>
              </a:rPr>
              <a:t>': True,</a:t>
            </a:r>
          </a:p>
          <a:p>
            <a:r>
              <a:rPr lang="en-GB" sz="1400" dirty="0">
                <a:latin typeface="Consolas" panose="020B0609020204030204" pitchFamily="49" charset="0"/>
                <a:cs typeface="Consolas" panose="020B0609020204030204" pitchFamily="49" charset="0"/>
              </a:rPr>
              <a:t> '</a:t>
            </a:r>
            <a:r>
              <a:rPr lang="en-GB" sz="1400" dirty="0" err="1">
                <a:latin typeface="Consolas" panose="020B0609020204030204" pitchFamily="49" charset="0"/>
                <a:cs typeface="Consolas" panose="020B0609020204030204" pitchFamily="49" charset="0"/>
              </a:rPr>
              <a:t>remove_unused_columns</a:t>
            </a:r>
            <a:r>
              <a:rPr lang="en-GB" sz="1400" dirty="0">
                <a:latin typeface="Consolas" panose="020B0609020204030204" pitchFamily="49" charset="0"/>
                <a:cs typeface="Consolas" panose="020B0609020204030204" pitchFamily="49" charset="0"/>
              </a:rPr>
              <a:t>': True,</a:t>
            </a:r>
          </a:p>
          <a:p>
            <a:r>
              <a:rPr lang="en-GB" sz="1400" dirty="0">
                <a:latin typeface="Consolas" panose="020B0609020204030204" pitchFamily="49" charset="0"/>
                <a:cs typeface="Consolas" panose="020B0609020204030204" pitchFamily="49" charset="0"/>
              </a:rPr>
              <a:t> '</a:t>
            </a:r>
            <a:r>
              <a:rPr lang="en-GB" sz="1400" dirty="0" err="1">
                <a:latin typeface="Consolas" panose="020B0609020204030204" pitchFamily="49" charset="0"/>
                <a:cs typeface="Consolas" panose="020B0609020204030204" pitchFamily="49" charset="0"/>
              </a:rPr>
              <a:t>report_to</a:t>
            </a:r>
            <a:r>
              <a:rPr lang="en-GB" sz="1400" dirty="0">
                <a:latin typeface="Consolas" panose="020B0609020204030204" pitchFamily="49" charset="0"/>
                <a:cs typeface="Consolas" panose="020B0609020204030204" pitchFamily="49" charset="0"/>
              </a:rPr>
              <a:t>': 'none',</a:t>
            </a:r>
          </a:p>
          <a:p>
            <a:r>
              <a:rPr lang="en-GB" sz="1400" dirty="0">
                <a:latin typeface="Consolas" panose="020B0609020204030204" pitchFamily="49" charset="0"/>
                <a:cs typeface="Consolas" panose="020B0609020204030204" pitchFamily="49" charset="0"/>
              </a:rPr>
              <a:t> 'fp16': False,</a:t>
            </a:r>
          </a:p>
          <a:p>
            <a:r>
              <a:rPr lang="en-GB" sz="1400" dirty="0">
                <a:latin typeface="Consolas" panose="020B0609020204030204" pitchFamily="49" charset="0"/>
                <a:cs typeface="Consolas" panose="020B0609020204030204" pitchFamily="49" charset="0"/>
              </a:rPr>
              <a:t> 'bf16': True}</a:t>
            </a:r>
            <a:endParaRPr lang="en-GR" sz="1400" dirty="0">
              <a:latin typeface="Consolas" panose="020B0609020204030204" pitchFamily="49" charset="0"/>
              <a:cs typeface="Consolas" panose="020B0609020204030204" pitchFamily="49" charset="0"/>
            </a:endParaRPr>
          </a:p>
        </p:txBody>
      </p:sp>
      <p:sp>
        <p:nvSpPr>
          <p:cNvPr id="7" name="TextBox 6">
            <a:extLst>
              <a:ext uri="{FF2B5EF4-FFF2-40B4-BE49-F238E27FC236}">
                <a16:creationId xmlns:a16="http://schemas.microsoft.com/office/drawing/2014/main" id="{A33F173F-0845-B894-1C1D-D0FA9B666C50}"/>
              </a:ext>
            </a:extLst>
          </p:cNvPr>
          <p:cNvSpPr txBox="1"/>
          <p:nvPr/>
        </p:nvSpPr>
        <p:spPr>
          <a:xfrm>
            <a:off x="521208" y="1404659"/>
            <a:ext cx="4448654" cy="830997"/>
          </a:xfrm>
          <a:prstGeom prst="rect">
            <a:avLst/>
          </a:prstGeom>
          <a:noFill/>
        </p:spPr>
        <p:txBody>
          <a:bodyPr wrap="none" rtlCol="0">
            <a:spAutoFit/>
          </a:bodyPr>
          <a:lstStyle/>
          <a:p>
            <a:r>
              <a:rPr lang="en-GB" sz="1600" b="1" dirty="0">
                <a:latin typeface="Consolas" panose="020B0609020204030204" pitchFamily="49" charset="0"/>
                <a:cs typeface="Consolas" panose="020B0609020204030204" pitchFamily="49" charset="0"/>
              </a:rPr>
              <a:t>--- STS-b Regression: </a:t>
            </a:r>
            <a:r>
              <a:rPr lang="en-GB" sz="1600" b="1" dirty="0" err="1">
                <a:latin typeface="Consolas" panose="020B0609020204030204" pitchFamily="49" charset="0"/>
                <a:cs typeface="Consolas" panose="020B0609020204030204" pitchFamily="49" charset="0"/>
              </a:rPr>
              <a:t>RoBERTa</a:t>
            </a:r>
            <a:r>
              <a:rPr lang="en-GB" sz="1600" b="1" dirty="0">
                <a:latin typeface="Consolas" panose="020B0609020204030204" pitchFamily="49" charset="0"/>
                <a:cs typeface="Consolas" panose="020B0609020204030204" pitchFamily="49" charset="0"/>
              </a:rPr>
              <a:t>-Base ---</a:t>
            </a:r>
          </a:p>
          <a:p>
            <a:r>
              <a:rPr lang="en-GB" sz="1600" dirty="0">
                <a:latin typeface="Consolas" panose="020B0609020204030204" pitchFamily="49" charset="0"/>
                <a:cs typeface="Consolas" panose="020B0609020204030204" pitchFamily="49" charset="0"/>
              </a:rPr>
              <a:t>Pearson Correlation:  0.9057</a:t>
            </a:r>
          </a:p>
          <a:p>
            <a:r>
              <a:rPr lang="en-GB" sz="1600" dirty="0">
                <a:latin typeface="Consolas" panose="020B0609020204030204" pitchFamily="49" charset="0"/>
                <a:cs typeface="Consolas" panose="020B0609020204030204" pitchFamily="49" charset="0"/>
              </a:rPr>
              <a:t>Spearman Correlation: 0.9029</a:t>
            </a:r>
            <a:endParaRPr lang="en-GR" sz="1600" dirty="0">
              <a:latin typeface="Consolas" panose="020B0609020204030204" pitchFamily="49" charset="0"/>
              <a:cs typeface="Consolas" panose="020B0609020204030204" pitchFamily="49" charset="0"/>
            </a:endParaRPr>
          </a:p>
        </p:txBody>
      </p:sp>
      <p:pic>
        <p:nvPicPr>
          <p:cNvPr id="4098" name="Picture 2">
            <a:extLst>
              <a:ext uri="{FF2B5EF4-FFF2-40B4-BE49-F238E27FC236}">
                <a16:creationId xmlns:a16="http://schemas.microsoft.com/office/drawing/2014/main" id="{3FE18613-45BD-C3A6-0CB8-61C9D72DD15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572514" y="1404659"/>
            <a:ext cx="5439964" cy="476107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2640785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8A260236-8C60-545F-DD8F-8399F06E1366}"/>
              </a:ext>
            </a:extLst>
          </p:cNvPr>
          <p:cNvSpPr>
            <a:spLocks noGrp="1"/>
          </p:cNvSpPr>
          <p:nvPr>
            <p:ph type="ftr" sz="quarter" idx="11"/>
          </p:nvPr>
        </p:nvSpPr>
        <p:spPr/>
        <p:txBody>
          <a:bodyPr/>
          <a:lstStyle/>
          <a:p>
            <a:r>
              <a:rPr lang="en-US"/>
              <a:t>MSc Artificial Intelligence &amp; Deep Learning</a:t>
            </a:r>
          </a:p>
        </p:txBody>
      </p:sp>
      <p:sp>
        <p:nvSpPr>
          <p:cNvPr id="4" name="Slide Number Placeholder 3">
            <a:extLst>
              <a:ext uri="{FF2B5EF4-FFF2-40B4-BE49-F238E27FC236}">
                <a16:creationId xmlns:a16="http://schemas.microsoft.com/office/drawing/2014/main" id="{7B8C5727-8184-BAD8-0C16-4E7213239DDD}"/>
              </a:ext>
            </a:extLst>
          </p:cNvPr>
          <p:cNvSpPr>
            <a:spLocks noGrp="1"/>
          </p:cNvSpPr>
          <p:nvPr>
            <p:ph type="sldNum" sz="quarter" idx="12"/>
          </p:nvPr>
        </p:nvSpPr>
        <p:spPr/>
        <p:txBody>
          <a:bodyPr/>
          <a:lstStyle/>
          <a:p>
            <a:fld id="{148CC95F-0247-41B6-91CF-DC97C76A7088}" type="slidenum">
              <a:rPr lang="en-US" smtClean="0"/>
              <a:t>6</a:t>
            </a:fld>
            <a:endParaRPr lang="en-US"/>
          </a:p>
        </p:txBody>
      </p:sp>
      <p:sp>
        <p:nvSpPr>
          <p:cNvPr id="6" name="TextBox 5">
            <a:extLst>
              <a:ext uri="{FF2B5EF4-FFF2-40B4-BE49-F238E27FC236}">
                <a16:creationId xmlns:a16="http://schemas.microsoft.com/office/drawing/2014/main" id="{813B5625-9C94-561E-0D6A-590AAA6B3495}"/>
              </a:ext>
            </a:extLst>
          </p:cNvPr>
          <p:cNvSpPr txBox="1"/>
          <p:nvPr/>
        </p:nvSpPr>
        <p:spPr>
          <a:xfrm>
            <a:off x="521208" y="955467"/>
            <a:ext cx="11044947" cy="400110"/>
          </a:xfrm>
          <a:prstGeom prst="rect">
            <a:avLst/>
          </a:prstGeom>
          <a:noFill/>
        </p:spPr>
        <p:txBody>
          <a:bodyPr wrap="none" rtlCol="0">
            <a:spAutoFit/>
          </a:bodyPr>
          <a:lstStyle/>
          <a:p>
            <a:r>
              <a:rPr lang="en-GR" sz="2000" b="1" dirty="0"/>
              <a:t>2. </a:t>
            </a:r>
            <a:r>
              <a:rPr lang="en-GB" sz="2000" b="1" dirty="0">
                <a:effectLst/>
                <a:latin typeface="Helvetica" pitchFamily="2" charset="0"/>
              </a:rPr>
              <a:t>Train 2 BERT-alike model (e.g. BERT, </a:t>
            </a:r>
            <a:r>
              <a:rPr lang="en-GB" sz="2000" b="1" dirty="0" err="1">
                <a:effectLst/>
                <a:latin typeface="Helvetica" pitchFamily="2" charset="0"/>
              </a:rPr>
              <a:t>RoBERTa</a:t>
            </a:r>
            <a:r>
              <a:rPr lang="en-GB" sz="2000" b="1" dirty="0">
                <a:effectLst/>
                <a:latin typeface="Helvetica" pitchFamily="2" charset="0"/>
              </a:rPr>
              <a:t>) on STS-b dataset (semantic similarity) </a:t>
            </a:r>
          </a:p>
        </p:txBody>
      </p:sp>
      <p:sp>
        <p:nvSpPr>
          <p:cNvPr id="2" name="TextBox 1">
            <a:extLst>
              <a:ext uri="{FF2B5EF4-FFF2-40B4-BE49-F238E27FC236}">
                <a16:creationId xmlns:a16="http://schemas.microsoft.com/office/drawing/2014/main" id="{F5B721E5-BACA-E02B-7A14-058EE4ED9D47}"/>
              </a:ext>
            </a:extLst>
          </p:cNvPr>
          <p:cNvSpPr txBox="1"/>
          <p:nvPr/>
        </p:nvSpPr>
        <p:spPr>
          <a:xfrm>
            <a:off x="521207" y="2421825"/>
            <a:ext cx="4358886" cy="2677656"/>
          </a:xfrm>
          <a:prstGeom prst="rect">
            <a:avLst/>
          </a:prstGeom>
          <a:noFill/>
        </p:spPr>
        <p:txBody>
          <a:bodyPr wrap="none" rtlCol="0">
            <a:spAutoFit/>
          </a:bodyPr>
          <a:lstStyle/>
          <a:p>
            <a:r>
              <a:rPr lang="en-GB" sz="1400" dirty="0">
                <a:latin typeface="Consolas" panose="020B0609020204030204" pitchFamily="49" charset="0"/>
                <a:cs typeface="Consolas" panose="020B0609020204030204" pitchFamily="49" charset="0"/>
              </a:rPr>
              <a:t>--- DeBERTaV3-Base Model Configuration ---</a:t>
            </a:r>
          </a:p>
          <a:p>
            <a:r>
              <a:rPr lang="en-GB" sz="1400" dirty="0">
                <a:latin typeface="Consolas" panose="020B0609020204030204" pitchFamily="49" charset="0"/>
                <a:cs typeface="Consolas" panose="020B0609020204030204" pitchFamily="49" charset="0"/>
              </a:rPr>
              <a:t>{'</a:t>
            </a:r>
            <a:r>
              <a:rPr lang="en-GB" sz="1400" dirty="0" err="1">
                <a:latin typeface="Consolas" panose="020B0609020204030204" pitchFamily="49" charset="0"/>
                <a:cs typeface="Consolas" panose="020B0609020204030204" pitchFamily="49" charset="0"/>
              </a:rPr>
              <a:t>eval_strategy</a:t>
            </a:r>
            <a:r>
              <a:rPr lang="en-GB" sz="1400" dirty="0">
                <a:latin typeface="Consolas" panose="020B0609020204030204" pitchFamily="49" charset="0"/>
                <a:cs typeface="Consolas" panose="020B0609020204030204" pitchFamily="49" charset="0"/>
              </a:rPr>
              <a:t>': 'epoch',</a:t>
            </a:r>
          </a:p>
          <a:p>
            <a:r>
              <a:rPr lang="en-GB" sz="1400" dirty="0">
                <a:latin typeface="Consolas" panose="020B0609020204030204" pitchFamily="49" charset="0"/>
                <a:cs typeface="Consolas" panose="020B0609020204030204" pitchFamily="49" charset="0"/>
              </a:rPr>
              <a:t> '</a:t>
            </a:r>
            <a:r>
              <a:rPr lang="en-GB" sz="1400" dirty="0" err="1">
                <a:latin typeface="Consolas" panose="020B0609020204030204" pitchFamily="49" charset="0"/>
                <a:cs typeface="Consolas" panose="020B0609020204030204" pitchFamily="49" charset="0"/>
              </a:rPr>
              <a:t>save_strategy</a:t>
            </a:r>
            <a:r>
              <a:rPr lang="en-GB" sz="1400" dirty="0">
                <a:latin typeface="Consolas" panose="020B0609020204030204" pitchFamily="49" charset="0"/>
                <a:cs typeface="Consolas" panose="020B0609020204030204" pitchFamily="49" charset="0"/>
              </a:rPr>
              <a:t>': 'epoch',</a:t>
            </a:r>
          </a:p>
          <a:p>
            <a:r>
              <a:rPr lang="en-GB" sz="1400" dirty="0">
                <a:latin typeface="Consolas" panose="020B0609020204030204" pitchFamily="49" charset="0"/>
                <a:cs typeface="Consolas" panose="020B0609020204030204" pitchFamily="49" charset="0"/>
              </a:rPr>
              <a:t> '</a:t>
            </a:r>
            <a:r>
              <a:rPr lang="en-GB" sz="1400" dirty="0" err="1">
                <a:latin typeface="Consolas" panose="020B0609020204030204" pitchFamily="49" charset="0"/>
                <a:cs typeface="Consolas" panose="020B0609020204030204" pitchFamily="49" charset="0"/>
              </a:rPr>
              <a:t>learning_rate</a:t>
            </a:r>
            <a:r>
              <a:rPr lang="en-GB" sz="1400" dirty="0">
                <a:latin typeface="Consolas" panose="020B0609020204030204" pitchFamily="49" charset="0"/>
                <a:cs typeface="Consolas" panose="020B0609020204030204" pitchFamily="49" charset="0"/>
              </a:rPr>
              <a:t>': 1e-05,</a:t>
            </a:r>
          </a:p>
          <a:p>
            <a:r>
              <a:rPr lang="en-GB" sz="1400" dirty="0">
                <a:latin typeface="Consolas" panose="020B0609020204030204" pitchFamily="49" charset="0"/>
                <a:cs typeface="Consolas" panose="020B0609020204030204" pitchFamily="49" charset="0"/>
              </a:rPr>
              <a:t> '</a:t>
            </a:r>
            <a:r>
              <a:rPr lang="en-GB" sz="1400" dirty="0" err="1">
                <a:latin typeface="Consolas" panose="020B0609020204030204" pitchFamily="49" charset="0"/>
                <a:cs typeface="Consolas" panose="020B0609020204030204" pitchFamily="49" charset="0"/>
              </a:rPr>
              <a:t>per_device_train_batch_size</a:t>
            </a:r>
            <a:r>
              <a:rPr lang="en-GB" sz="1400" dirty="0">
                <a:latin typeface="Consolas" panose="020B0609020204030204" pitchFamily="49" charset="0"/>
                <a:cs typeface="Consolas" panose="020B0609020204030204" pitchFamily="49" charset="0"/>
              </a:rPr>
              <a:t>': 16,</a:t>
            </a:r>
          </a:p>
          <a:p>
            <a:r>
              <a:rPr lang="en-GB" sz="1400" dirty="0">
                <a:latin typeface="Consolas" panose="020B0609020204030204" pitchFamily="49" charset="0"/>
                <a:cs typeface="Consolas" panose="020B0609020204030204" pitchFamily="49" charset="0"/>
              </a:rPr>
              <a:t> '</a:t>
            </a:r>
            <a:r>
              <a:rPr lang="en-GB" sz="1400" dirty="0" err="1">
                <a:latin typeface="Consolas" panose="020B0609020204030204" pitchFamily="49" charset="0"/>
                <a:cs typeface="Consolas" panose="020B0609020204030204" pitchFamily="49" charset="0"/>
              </a:rPr>
              <a:t>num_train_epochs</a:t>
            </a:r>
            <a:r>
              <a:rPr lang="en-GB" sz="1400" dirty="0">
                <a:latin typeface="Consolas" panose="020B0609020204030204" pitchFamily="49" charset="0"/>
                <a:cs typeface="Consolas" panose="020B0609020204030204" pitchFamily="49" charset="0"/>
              </a:rPr>
              <a:t>': 3,</a:t>
            </a:r>
          </a:p>
          <a:p>
            <a:r>
              <a:rPr lang="en-GB" sz="1400" dirty="0">
                <a:latin typeface="Consolas" panose="020B0609020204030204" pitchFamily="49" charset="0"/>
                <a:cs typeface="Consolas" panose="020B0609020204030204" pitchFamily="49" charset="0"/>
              </a:rPr>
              <a:t> '</a:t>
            </a:r>
            <a:r>
              <a:rPr lang="en-GB" sz="1400" dirty="0" err="1">
                <a:latin typeface="Consolas" panose="020B0609020204030204" pitchFamily="49" charset="0"/>
                <a:cs typeface="Consolas" panose="020B0609020204030204" pitchFamily="49" charset="0"/>
              </a:rPr>
              <a:t>weight_decay</a:t>
            </a:r>
            <a:r>
              <a:rPr lang="en-GB" sz="1400" dirty="0">
                <a:latin typeface="Consolas" panose="020B0609020204030204" pitchFamily="49" charset="0"/>
                <a:cs typeface="Consolas" panose="020B0609020204030204" pitchFamily="49" charset="0"/>
              </a:rPr>
              <a:t>': 0.01,</a:t>
            </a:r>
          </a:p>
          <a:p>
            <a:r>
              <a:rPr lang="en-GB" sz="1400" dirty="0">
                <a:latin typeface="Consolas" panose="020B0609020204030204" pitchFamily="49" charset="0"/>
                <a:cs typeface="Consolas" panose="020B0609020204030204" pitchFamily="49" charset="0"/>
              </a:rPr>
              <a:t> '</a:t>
            </a:r>
            <a:r>
              <a:rPr lang="en-GB" sz="1400" dirty="0" err="1">
                <a:latin typeface="Consolas" panose="020B0609020204030204" pitchFamily="49" charset="0"/>
                <a:cs typeface="Consolas" panose="020B0609020204030204" pitchFamily="49" charset="0"/>
              </a:rPr>
              <a:t>load_best_model_at_end</a:t>
            </a:r>
            <a:r>
              <a:rPr lang="en-GB" sz="1400" dirty="0">
                <a:latin typeface="Consolas" panose="020B0609020204030204" pitchFamily="49" charset="0"/>
                <a:cs typeface="Consolas" panose="020B0609020204030204" pitchFamily="49" charset="0"/>
              </a:rPr>
              <a:t>': True,</a:t>
            </a:r>
          </a:p>
          <a:p>
            <a:r>
              <a:rPr lang="en-GB" sz="1400" dirty="0">
                <a:latin typeface="Consolas" panose="020B0609020204030204" pitchFamily="49" charset="0"/>
                <a:cs typeface="Consolas" panose="020B0609020204030204" pitchFamily="49" charset="0"/>
              </a:rPr>
              <a:t> '</a:t>
            </a:r>
            <a:r>
              <a:rPr lang="en-GB" sz="1400" dirty="0" err="1">
                <a:latin typeface="Consolas" panose="020B0609020204030204" pitchFamily="49" charset="0"/>
                <a:cs typeface="Consolas" panose="020B0609020204030204" pitchFamily="49" charset="0"/>
              </a:rPr>
              <a:t>remove_unused_columns</a:t>
            </a:r>
            <a:r>
              <a:rPr lang="en-GB" sz="1400" dirty="0">
                <a:latin typeface="Consolas" panose="020B0609020204030204" pitchFamily="49" charset="0"/>
                <a:cs typeface="Consolas" panose="020B0609020204030204" pitchFamily="49" charset="0"/>
              </a:rPr>
              <a:t>': True,</a:t>
            </a:r>
          </a:p>
          <a:p>
            <a:r>
              <a:rPr lang="en-GB" sz="1400" dirty="0">
                <a:latin typeface="Consolas" panose="020B0609020204030204" pitchFamily="49" charset="0"/>
                <a:cs typeface="Consolas" panose="020B0609020204030204" pitchFamily="49" charset="0"/>
              </a:rPr>
              <a:t> '</a:t>
            </a:r>
            <a:r>
              <a:rPr lang="en-GB" sz="1400" dirty="0" err="1">
                <a:latin typeface="Consolas" panose="020B0609020204030204" pitchFamily="49" charset="0"/>
                <a:cs typeface="Consolas" panose="020B0609020204030204" pitchFamily="49" charset="0"/>
              </a:rPr>
              <a:t>report_to</a:t>
            </a:r>
            <a:r>
              <a:rPr lang="en-GB" sz="1400" dirty="0">
                <a:latin typeface="Consolas" panose="020B0609020204030204" pitchFamily="49" charset="0"/>
                <a:cs typeface="Consolas" panose="020B0609020204030204" pitchFamily="49" charset="0"/>
              </a:rPr>
              <a:t>': 'none',</a:t>
            </a:r>
          </a:p>
          <a:p>
            <a:r>
              <a:rPr lang="en-GB" sz="1400" dirty="0">
                <a:latin typeface="Consolas" panose="020B0609020204030204" pitchFamily="49" charset="0"/>
                <a:cs typeface="Consolas" panose="020B0609020204030204" pitchFamily="49" charset="0"/>
              </a:rPr>
              <a:t> 'fp16': False,</a:t>
            </a:r>
          </a:p>
          <a:p>
            <a:r>
              <a:rPr lang="en-GB" sz="1400" dirty="0">
                <a:latin typeface="Consolas" panose="020B0609020204030204" pitchFamily="49" charset="0"/>
                <a:cs typeface="Consolas" panose="020B0609020204030204" pitchFamily="49" charset="0"/>
              </a:rPr>
              <a:t> 'bf16': True}</a:t>
            </a:r>
            <a:endParaRPr lang="en-GR" sz="1400" dirty="0">
              <a:latin typeface="Consolas" panose="020B0609020204030204" pitchFamily="49" charset="0"/>
              <a:cs typeface="Consolas" panose="020B0609020204030204" pitchFamily="49" charset="0"/>
            </a:endParaRPr>
          </a:p>
        </p:txBody>
      </p:sp>
      <p:sp>
        <p:nvSpPr>
          <p:cNvPr id="7" name="TextBox 6">
            <a:extLst>
              <a:ext uri="{FF2B5EF4-FFF2-40B4-BE49-F238E27FC236}">
                <a16:creationId xmlns:a16="http://schemas.microsoft.com/office/drawing/2014/main" id="{A33F173F-0845-B894-1C1D-D0FA9B666C50}"/>
              </a:ext>
            </a:extLst>
          </p:cNvPr>
          <p:cNvSpPr txBox="1"/>
          <p:nvPr/>
        </p:nvSpPr>
        <p:spPr>
          <a:xfrm>
            <a:off x="521207" y="1404659"/>
            <a:ext cx="4777906" cy="830997"/>
          </a:xfrm>
          <a:prstGeom prst="rect">
            <a:avLst/>
          </a:prstGeom>
          <a:noFill/>
        </p:spPr>
        <p:txBody>
          <a:bodyPr wrap="square" rtlCol="0">
            <a:spAutoFit/>
          </a:bodyPr>
          <a:lstStyle/>
          <a:p>
            <a:r>
              <a:rPr lang="en-GB" sz="1600" b="1" dirty="0">
                <a:latin typeface="Consolas" panose="020B0609020204030204" pitchFamily="49" charset="0"/>
                <a:cs typeface="Consolas" panose="020B0609020204030204" pitchFamily="49" charset="0"/>
              </a:rPr>
              <a:t>--- STS-b Regression: DeBERTaV3-Base ---</a:t>
            </a:r>
          </a:p>
          <a:p>
            <a:r>
              <a:rPr lang="en-GB" sz="1600" dirty="0">
                <a:latin typeface="Consolas" panose="020B0609020204030204" pitchFamily="49" charset="0"/>
                <a:cs typeface="Consolas" panose="020B0609020204030204" pitchFamily="49" charset="0"/>
              </a:rPr>
              <a:t>Pearson Correlation:  0.9057</a:t>
            </a:r>
          </a:p>
          <a:p>
            <a:r>
              <a:rPr lang="en-GB" sz="1600" dirty="0">
                <a:latin typeface="Consolas" panose="020B0609020204030204" pitchFamily="49" charset="0"/>
                <a:cs typeface="Consolas" panose="020B0609020204030204" pitchFamily="49" charset="0"/>
              </a:rPr>
              <a:t>Spearman Correlation: 0.9085</a:t>
            </a:r>
            <a:endParaRPr lang="en-GR" sz="1600" dirty="0">
              <a:latin typeface="Consolas" panose="020B0609020204030204" pitchFamily="49" charset="0"/>
              <a:cs typeface="Consolas" panose="020B0609020204030204" pitchFamily="49" charset="0"/>
            </a:endParaRPr>
          </a:p>
        </p:txBody>
      </p:sp>
      <p:pic>
        <p:nvPicPr>
          <p:cNvPr id="5122" name="Picture 2">
            <a:extLst>
              <a:ext uri="{FF2B5EF4-FFF2-40B4-BE49-F238E27FC236}">
                <a16:creationId xmlns:a16="http://schemas.microsoft.com/office/drawing/2014/main" id="{D07E70FF-6193-4BAC-642F-DD60BFEFC3F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628595" y="1404659"/>
            <a:ext cx="5383883" cy="471198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5210892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8A260236-8C60-545F-DD8F-8399F06E1366}"/>
              </a:ext>
            </a:extLst>
          </p:cNvPr>
          <p:cNvSpPr>
            <a:spLocks noGrp="1"/>
          </p:cNvSpPr>
          <p:nvPr>
            <p:ph type="ftr" sz="quarter" idx="11"/>
          </p:nvPr>
        </p:nvSpPr>
        <p:spPr/>
        <p:txBody>
          <a:bodyPr/>
          <a:lstStyle/>
          <a:p>
            <a:r>
              <a:rPr lang="en-US"/>
              <a:t>MSc Artificial Intelligence &amp; Deep Learning</a:t>
            </a:r>
          </a:p>
        </p:txBody>
      </p:sp>
      <p:sp>
        <p:nvSpPr>
          <p:cNvPr id="4" name="Slide Number Placeholder 3">
            <a:extLst>
              <a:ext uri="{FF2B5EF4-FFF2-40B4-BE49-F238E27FC236}">
                <a16:creationId xmlns:a16="http://schemas.microsoft.com/office/drawing/2014/main" id="{7B8C5727-8184-BAD8-0C16-4E7213239DDD}"/>
              </a:ext>
            </a:extLst>
          </p:cNvPr>
          <p:cNvSpPr>
            <a:spLocks noGrp="1"/>
          </p:cNvSpPr>
          <p:nvPr>
            <p:ph type="sldNum" sz="quarter" idx="12"/>
          </p:nvPr>
        </p:nvSpPr>
        <p:spPr/>
        <p:txBody>
          <a:bodyPr/>
          <a:lstStyle/>
          <a:p>
            <a:fld id="{148CC95F-0247-41B6-91CF-DC97C76A7088}" type="slidenum">
              <a:rPr lang="en-US" smtClean="0"/>
              <a:t>7</a:t>
            </a:fld>
            <a:endParaRPr lang="en-US"/>
          </a:p>
        </p:txBody>
      </p:sp>
      <p:sp>
        <p:nvSpPr>
          <p:cNvPr id="6" name="TextBox 5">
            <a:extLst>
              <a:ext uri="{FF2B5EF4-FFF2-40B4-BE49-F238E27FC236}">
                <a16:creationId xmlns:a16="http://schemas.microsoft.com/office/drawing/2014/main" id="{813B5625-9C94-561E-0D6A-590AAA6B3495}"/>
              </a:ext>
            </a:extLst>
          </p:cNvPr>
          <p:cNvSpPr txBox="1"/>
          <p:nvPr/>
        </p:nvSpPr>
        <p:spPr>
          <a:xfrm>
            <a:off x="521208" y="955467"/>
            <a:ext cx="11044947" cy="400110"/>
          </a:xfrm>
          <a:prstGeom prst="rect">
            <a:avLst/>
          </a:prstGeom>
          <a:noFill/>
        </p:spPr>
        <p:txBody>
          <a:bodyPr wrap="none" rtlCol="0">
            <a:spAutoFit/>
          </a:bodyPr>
          <a:lstStyle/>
          <a:p>
            <a:r>
              <a:rPr lang="en-GR" sz="2000" b="1" dirty="0"/>
              <a:t>2. </a:t>
            </a:r>
            <a:r>
              <a:rPr lang="en-GB" sz="2000" b="1" dirty="0">
                <a:effectLst/>
                <a:latin typeface="Helvetica" pitchFamily="2" charset="0"/>
              </a:rPr>
              <a:t>Train 2 BERT-alike model (e.g. BERT, </a:t>
            </a:r>
            <a:r>
              <a:rPr lang="en-GB" sz="2000" b="1" dirty="0" err="1">
                <a:effectLst/>
                <a:latin typeface="Helvetica" pitchFamily="2" charset="0"/>
              </a:rPr>
              <a:t>RoBERTa</a:t>
            </a:r>
            <a:r>
              <a:rPr lang="en-GB" sz="2000" b="1" dirty="0">
                <a:effectLst/>
                <a:latin typeface="Helvetica" pitchFamily="2" charset="0"/>
              </a:rPr>
              <a:t>) on STS-b dataset (semantic similarity) </a:t>
            </a:r>
          </a:p>
        </p:txBody>
      </p:sp>
      <p:sp>
        <p:nvSpPr>
          <p:cNvPr id="5" name="TextBox 4">
            <a:extLst>
              <a:ext uri="{FF2B5EF4-FFF2-40B4-BE49-F238E27FC236}">
                <a16:creationId xmlns:a16="http://schemas.microsoft.com/office/drawing/2014/main" id="{70B96FE5-EF93-A4DE-809C-E3069E921102}"/>
              </a:ext>
            </a:extLst>
          </p:cNvPr>
          <p:cNvSpPr txBox="1"/>
          <p:nvPr/>
        </p:nvSpPr>
        <p:spPr>
          <a:xfrm>
            <a:off x="521208" y="1951672"/>
            <a:ext cx="8036174" cy="1477328"/>
          </a:xfrm>
          <a:prstGeom prst="rect">
            <a:avLst/>
          </a:prstGeom>
          <a:noFill/>
        </p:spPr>
        <p:txBody>
          <a:bodyPr wrap="none" rtlCol="0">
            <a:spAutoFit/>
          </a:bodyPr>
          <a:lstStyle/>
          <a:p>
            <a:r>
              <a:rPr lang="en-GB" dirty="0">
                <a:latin typeface="Consolas" panose="020B0609020204030204" pitchFamily="49" charset="0"/>
                <a:cs typeface="Consolas" panose="020B0609020204030204" pitchFamily="49" charset="0"/>
              </a:rPr>
              <a:t>--- BERT-Base vs </a:t>
            </a:r>
            <a:r>
              <a:rPr lang="en-GB" dirty="0" err="1">
                <a:latin typeface="Consolas" panose="020B0609020204030204" pitchFamily="49" charset="0"/>
                <a:cs typeface="Consolas" panose="020B0609020204030204" pitchFamily="49" charset="0"/>
              </a:rPr>
              <a:t>RoBERTa</a:t>
            </a:r>
            <a:r>
              <a:rPr lang="en-GB" dirty="0">
                <a:latin typeface="Consolas" panose="020B0609020204030204" pitchFamily="49" charset="0"/>
                <a:cs typeface="Consolas" panose="020B0609020204030204" pitchFamily="49" charset="0"/>
              </a:rPr>
              <a:t>-Base vs DeBERTaV3-Base Comparison ---</a:t>
            </a:r>
          </a:p>
          <a:p>
            <a:r>
              <a:rPr lang="en-GB" dirty="0">
                <a:latin typeface="Consolas" panose="020B0609020204030204" pitchFamily="49" charset="0"/>
                <a:cs typeface="Consolas" panose="020B0609020204030204" pitchFamily="49" charset="0"/>
              </a:rPr>
              <a:t>            Model  Pearson Correlation  Spearman Correlation</a:t>
            </a:r>
          </a:p>
          <a:p>
            <a:r>
              <a:rPr lang="en-GB" dirty="0">
                <a:latin typeface="Consolas" panose="020B0609020204030204" pitchFamily="49" charset="0"/>
                <a:cs typeface="Consolas" panose="020B0609020204030204" pitchFamily="49" charset="0"/>
              </a:rPr>
              <a:t>0       BERT-Base             0.888526              0.885080</a:t>
            </a:r>
          </a:p>
          <a:p>
            <a:r>
              <a:rPr lang="en-GB" dirty="0">
                <a:latin typeface="Consolas" panose="020B0609020204030204" pitchFamily="49" charset="0"/>
                <a:cs typeface="Consolas" panose="020B0609020204030204" pitchFamily="49" charset="0"/>
              </a:rPr>
              <a:t>1    </a:t>
            </a:r>
            <a:r>
              <a:rPr lang="en-GB" dirty="0" err="1">
                <a:latin typeface="Consolas" panose="020B0609020204030204" pitchFamily="49" charset="0"/>
                <a:cs typeface="Consolas" panose="020B0609020204030204" pitchFamily="49" charset="0"/>
              </a:rPr>
              <a:t>RoBERTa</a:t>
            </a:r>
            <a:r>
              <a:rPr lang="en-GB" dirty="0">
                <a:latin typeface="Consolas" panose="020B0609020204030204" pitchFamily="49" charset="0"/>
                <a:cs typeface="Consolas" panose="020B0609020204030204" pitchFamily="49" charset="0"/>
              </a:rPr>
              <a:t>-Base             0.905673              0.902887</a:t>
            </a:r>
          </a:p>
          <a:p>
            <a:r>
              <a:rPr lang="en-GB" dirty="0">
                <a:latin typeface="Consolas" panose="020B0609020204030204" pitchFamily="49" charset="0"/>
                <a:cs typeface="Consolas" panose="020B0609020204030204" pitchFamily="49" charset="0"/>
              </a:rPr>
              <a:t>2  DeBERTaV3-Base             0.905655              0.908510</a:t>
            </a:r>
            <a:endParaRPr lang="en-GR" dirty="0">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426793198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8A260236-8C60-545F-DD8F-8399F06E1366}"/>
              </a:ext>
            </a:extLst>
          </p:cNvPr>
          <p:cNvSpPr>
            <a:spLocks noGrp="1"/>
          </p:cNvSpPr>
          <p:nvPr>
            <p:ph type="ftr" sz="quarter" idx="11"/>
          </p:nvPr>
        </p:nvSpPr>
        <p:spPr/>
        <p:txBody>
          <a:bodyPr/>
          <a:lstStyle/>
          <a:p>
            <a:r>
              <a:rPr lang="en-US"/>
              <a:t>MSc Artificial Intelligence &amp; Deep Learning</a:t>
            </a:r>
          </a:p>
        </p:txBody>
      </p:sp>
      <p:sp>
        <p:nvSpPr>
          <p:cNvPr id="4" name="Slide Number Placeholder 3">
            <a:extLst>
              <a:ext uri="{FF2B5EF4-FFF2-40B4-BE49-F238E27FC236}">
                <a16:creationId xmlns:a16="http://schemas.microsoft.com/office/drawing/2014/main" id="{7B8C5727-8184-BAD8-0C16-4E7213239DDD}"/>
              </a:ext>
            </a:extLst>
          </p:cNvPr>
          <p:cNvSpPr>
            <a:spLocks noGrp="1"/>
          </p:cNvSpPr>
          <p:nvPr>
            <p:ph type="sldNum" sz="quarter" idx="12"/>
          </p:nvPr>
        </p:nvSpPr>
        <p:spPr/>
        <p:txBody>
          <a:bodyPr/>
          <a:lstStyle/>
          <a:p>
            <a:fld id="{148CC95F-0247-41B6-91CF-DC97C76A7088}" type="slidenum">
              <a:rPr lang="en-US" smtClean="0"/>
              <a:t>8</a:t>
            </a:fld>
            <a:endParaRPr lang="en-US"/>
          </a:p>
        </p:txBody>
      </p:sp>
      <p:sp>
        <p:nvSpPr>
          <p:cNvPr id="7" name="TextBox 6">
            <a:extLst>
              <a:ext uri="{FF2B5EF4-FFF2-40B4-BE49-F238E27FC236}">
                <a16:creationId xmlns:a16="http://schemas.microsoft.com/office/drawing/2014/main" id="{99BE4938-60B5-676B-98C9-85F82E28A52A}"/>
              </a:ext>
            </a:extLst>
          </p:cNvPr>
          <p:cNvSpPr txBox="1"/>
          <p:nvPr/>
        </p:nvSpPr>
        <p:spPr>
          <a:xfrm>
            <a:off x="521208" y="952466"/>
            <a:ext cx="4442242" cy="400110"/>
          </a:xfrm>
          <a:prstGeom prst="rect">
            <a:avLst/>
          </a:prstGeom>
          <a:noFill/>
        </p:spPr>
        <p:txBody>
          <a:bodyPr wrap="none" rtlCol="0">
            <a:spAutoFit/>
          </a:bodyPr>
          <a:lstStyle/>
          <a:p>
            <a:r>
              <a:rPr lang="en-GB" sz="2000" b="1" dirty="0">
                <a:effectLst/>
                <a:latin typeface="Helvetica" pitchFamily="2" charset="0"/>
              </a:rPr>
              <a:t>3. Create custom RAG mechanism </a:t>
            </a:r>
          </a:p>
        </p:txBody>
      </p:sp>
      <p:sp>
        <p:nvSpPr>
          <p:cNvPr id="5" name="TextBox 4">
            <a:extLst>
              <a:ext uri="{FF2B5EF4-FFF2-40B4-BE49-F238E27FC236}">
                <a16:creationId xmlns:a16="http://schemas.microsoft.com/office/drawing/2014/main" id="{35A4B001-6A6C-665B-7065-2C2A7A725022}"/>
              </a:ext>
            </a:extLst>
          </p:cNvPr>
          <p:cNvSpPr txBox="1"/>
          <p:nvPr/>
        </p:nvSpPr>
        <p:spPr>
          <a:xfrm>
            <a:off x="521207" y="1467381"/>
            <a:ext cx="10936225" cy="4801314"/>
          </a:xfrm>
          <a:prstGeom prst="rect">
            <a:avLst/>
          </a:prstGeom>
          <a:noFill/>
        </p:spPr>
        <p:txBody>
          <a:bodyPr wrap="square" rtlCol="0">
            <a:spAutoFit/>
          </a:bodyPr>
          <a:lstStyle/>
          <a:p>
            <a:r>
              <a:rPr lang="en-GR" b="1" dirty="0"/>
              <a:t>Steps executed in code</a:t>
            </a:r>
          </a:p>
          <a:p>
            <a:endParaRPr lang="en-GR" b="1" dirty="0"/>
          </a:p>
          <a:p>
            <a:pPr marL="342900" indent="-342900">
              <a:buFont typeface="+mj-lt"/>
              <a:buAutoNum type="arabicPeriod"/>
            </a:pPr>
            <a:r>
              <a:rPr lang="en-GR" dirty="0"/>
              <a:t>PDF loaded with PyPDFloader and split to chunks (smaller pieces) in order to fit the LLM context window. Chunk size 1000 was used.</a:t>
            </a:r>
          </a:p>
          <a:p>
            <a:pPr marL="342900" indent="-342900">
              <a:buFont typeface="+mj-lt"/>
              <a:buAutoNum type="arabicPeriod"/>
            </a:pPr>
            <a:r>
              <a:rPr lang="en-GR" dirty="0"/>
              <a:t>The text was then converted to numerical vectors using </a:t>
            </a:r>
            <a:r>
              <a:rPr lang="en-GB" dirty="0"/>
              <a:t>all-MiniLM-L6-v2 model from the sentence-transformers</a:t>
            </a:r>
            <a:r>
              <a:rPr lang="en-GR" dirty="0"/>
              <a:t>. After the conversion it is saved in numpy array.</a:t>
            </a:r>
          </a:p>
          <a:p>
            <a:pPr marL="342900" indent="-342900">
              <a:buFont typeface="+mj-lt"/>
              <a:buAutoNum type="arabicPeriod"/>
            </a:pPr>
            <a:r>
              <a:rPr lang="en-GR" dirty="0"/>
              <a:t>The initial question is paraphrased and 2 more are created with </a:t>
            </a:r>
            <a:r>
              <a:rPr lang="en-GB" dirty="0"/>
              <a:t>Llama-3.2-3B-Instruct</a:t>
            </a:r>
            <a:r>
              <a:rPr lang="en-GR" dirty="0"/>
              <a:t> (same with task 5) with the help of Unsloth library for fast inference (</a:t>
            </a:r>
            <a:r>
              <a:rPr lang="en-GB" dirty="0"/>
              <a:t>Llama 3.2 Chat Template was used). This helps the model to capture different relevant text chunks.</a:t>
            </a:r>
          </a:p>
          <a:p>
            <a:pPr marL="342900" indent="-342900">
              <a:buFont typeface="+mj-lt"/>
              <a:buAutoNum type="arabicPeriod"/>
            </a:pPr>
            <a:r>
              <a:rPr lang="en-GB" dirty="0"/>
              <a:t>We use cosine similarity to calculate the “distance” between the query embeddings and the stored document embeddings.</a:t>
            </a:r>
          </a:p>
          <a:p>
            <a:pPr marL="342900" indent="-342900">
              <a:buFont typeface="+mj-lt"/>
              <a:buAutoNum type="arabicPeriod"/>
            </a:pPr>
            <a:r>
              <a:rPr lang="en-GB" dirty="0"/>
              <a:t>We then retrieve the top 5 most similar chunks for every question (initial and paraphrases) with a threshold of 0.3 to filter out results with lesser relevance. We select the top 3.</a:t>
            </a:r>
          </a:p>
          <a:p>
            <a:pPr marL="342900" indent="-342900">
              <a:buFont typeface="+mj-lt"/>
              <a:buAutoNum type="arabicPeriod"/>
            </a:pPr>
            <a:r>
              <a:rPr lang="en-GB" dirty="0"/>
              <a:t>Finally we combine the retrieved knowledge with the LLM’s reasoning power. We build a prompt that includes the retrieved text chunks as a reference and the original question. Based on that the LLM generates an answer based on the textbook information.</a:t>
            </a:r>
          </a:p>
          <a:p>
            <a:pPr marL="342900" indent="-342900">
              <a:buFont typeface="+mj-lt"/>
              <a:buAutoNum type="arabicPeriod"/>
            </a:pPr>
            <a:endParaRPr lang="en-GR" dirty="0"/>
          </a:p>
        </p:txBody>
      </p:sp>
    </p:spTree>
    <p:extLst>
      <p:ext uri="{BB962C8B-B14F-4D97-AF65-F5344CB8AC3E}">
        <p14:creationId xmlns:p14="http://schemas.microsoft.com/office/powerpoint/2010/main" val="396017889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8A260236-8C60-545F-DD8F-8399F06E1366}"/>
              </a:ext>
            </a:extLst>
          </p:cNvPr>
          <p:cNvSpPr>
            <a:spLocks noGrp="1"/>
          </p:cNvSpPr>
          <p:nvPr>
            <p:ph type="ftr" sz="quarter" idx="11"/>
          </p:nvPr>
        </p:nvSpPr>
        <p:spPr/>
        <p:txBody>
          <a:bodyPr/>
          <a:lstStyle/>
          <a:p>
            <a:r>
              <a:rPr lang="en-US"/>
              <a:t>MSc Artificial Intelligence &amp; Deep Learning</a:t>
            </a:r>
          </a:p>
        </p:txBody>
      </p:sp>
      <p:sp>
        <p:nvSpPr>
          <p:cNvPr id="4" name="Slide Number Placeholder 3">
            <a:extLst>
              <a:ext uri="{FF2B5EF4-FFF2-40B4-BE49-F238E27FC236}">
                <a16:creationId xmlns:a16="http://schemas.microsoft.com/office/drawing/2014/main" id="{7B8C5727-8184-BAD8-0C16-4E7213239DDD}"/>
              </a:ext>
            </a:extLst>
          </p:cNvPr>
          <p:cNvSpPr>
            <a:spLocks noGrp="1"/>
          </p:cNvSpPr>
          <p:nvPr>
            <p:ph type="sldNum" sz="quarter" idx="12"/>
          </p:nvPr>
        </p:nvSpPr>
        <p:spPr/>
        <p:txBody>
          <a:bodyPr/>
          <a:lstStyle/>
          <a:p>
            <a:fld id="{148CC95F-0247-41B6-91CF-DC97C76A7088}" type="slidenum">
              <a:rPr lang="en-US" smtClean="0"/>
              <a:t>9</a:t>
            </a:fld>
            <a:endParaRPr lang="en-US"/>
          </a:p>
        </p:txBody>
      </p:sp>
      <p:sp>
        <p:nvSpPr>
          <p:cNvPr id="8" name="TextBox 7">
            <a:extLst>
              <a:ext uri="{FF2B5EF4-FFF2-40B4-BE49-F238E27FC236}">
                <a16:creationId xmlns:a16="http://schemas.microsoft.com/office/drawing/2014/main" id="{1E4068ED-6E14-0496-C054-CFF06F18C4F9}"/>
              </a:ext>
            </a:extLst>
          </p:cNvPr>
          <p:cNvSpPr txBox="1"/>
          <p:nvPr/>
        </p:nvSpPr>
        <p:spPr>
          <a:xfrm>
            <a:off x="521208" y="947450"/>
            <a:ext cx="10177786" cy="707886"/>
          </a:xfrm>
          <a:prstGeom prst="rect">
            <a:avLst/>
          </a:prstGeom>
          <a:noFill/>
        </p:spPr>
        <p:txBody>
          <a:bodyPr wrap="none" rtlCol="0">
            <a:spAutoFit/>
          </a:bodyPr>
          <a:lstStyle/>
          <a:p>
            <a:r>
              <a:rPr lang="en-GR" sz="2000" b="1" dirty="0"/>
              <a:t>4. </a:t>
            </a:r>
            <a:r>
              <a:rPr lang="en-GB" sz="2000" b="1" dirty="0">
                <a:effectLst/>
                <a:latin typeface="Helvetica" pitchFamily="2" charset="0"/>
              </a:rPr>
              <a:t>Collect via prompt engineering a list of answers on questions for deep learning </a:t>
            </a:r>
          </a:p>
          <a:p>
            <a:r>
              <a:rPr lang="en-GB" sz="2000" b="1" dirty="0">
                <a:effectLst/>
                <a:latin typeface="Helvetica" pitchFamily="2" charset="0"/>
              </a:rPr>
              <a:t>providing two answers one gentle and one toxic (Gordon Ramsay style) </a:t>
            </a:r>
          </a:p>
        </p:txBody>
      </p:sp>
      <p:sp>
        <p:nvSpPr>
          <p:cNvPr id="2" name="TextBox 1">
            <a:extLst>
              <a:ext uri="{FF2B5EF4-FFF2-40B4-BE49-F238E27FC236}">
                <a16:creationId xmlns:a16="http://schemas.microsoft.com/office/drawing/2014/main" id="{F293CC40-FFCF-C4BA-8FAF-B567E1FD9312}"/>
              </a:ext>
            </a:extLst>
          </p:cNvPr>
          <p:cNvSpPr txBox="1"/>
          <p:nvPr/>
        </p:nvSpPr>
        <p:spPr>
          <a:xfrm>
            <a:off x="521208" y="2302526"/>
            <a:ext cx="801823" cy="369332"/>
          </a:xfrm>
          <a:prstGeom prst="rect">
            <a:avLst/>
          </a:prstGeom>
          <a:noFill/>
        </p:spPr>
        <p:txBody>
          <a:bodyPr wrap="none" rtlCol="0">
            <a:spAutoFit/>
          </a:bodyPr>
          <a:lstStyle/>
          <a:p>
            <a:r>
              <a:rPr lang="en-GR" dirty="0"/>
              <a:t>DONE</a:t>
            </a:r>
          </a:p>
        </p:txBody>
      </p:sp>
      <p:sp>
        <p:nvSpPr>
          <p:cNvPr id="10" name="TextBox 9">
            <a:extLst>
              <a:ext uri="{FF2B5EF4-FFF2-40B4-BE49-F238E27FC236}">
                <a16:creationId xmlns:a16="http://schemas.microsoft.com/office/drawing/2014/main" id="{E3333BCC-0665-0EDC-E528-23484F1BB05B}"/>
              </a:ext>
            </a:extLst>
          </p:cNvPr>
          <p:cNvSpPr txBox="1"/>
          <p:nvPr/>
        </p:nvSpPr>
        <p:spPr>
          <a:xfrm>
            <a:off x="521208" y="3059668"/>
            <a:ext cx="4693593" cy="369332"/>
          </a:xfrm>
          <a:prstGeom prst="rect">
            <a:avLst/>
          </a:prstGeom>
          <a:noFill/>
        </p:spPr>
        <p:txBody>
          <a:bodyPr wrap="none" rtlCol="0">
            <a:spAutoFit/>
          </a:bodyPr>
          <a:lstStyle/>
          <a:p>
            <a:r>
              <a:rPr lang="en-GB" dirty="0"/>
              <a:t>Filename: mscaidl-0077_ramsay_dataset.csv</a:t>
            </a:r>
            <a:endParaRPr lang="en-GR" dirty="0"/>
          </a:p>
        </p:txBody>
      </p:sp>
    </p:spTree>
    <p:extLst>
      <p:ext uri="{BB962C8B-B14F-4D97-AF65-F5344CB8AC3E}">
        <p14:creationId xmlns:p14="http://schemas.microsoft.com/office/powerpoint/2010/main" val="296294683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8A260236-8C60-545F-DD8F-8399F06E1366}"/>
              </a:ext>
            </a:extLst>
          </p:cNvPr>
          <p:cNvSpPr>
            <a:spLocks noGrp="1"/>
          </p:cNvSpPr>
          <p:nvPr>
            <p:ph type="ftr" sz="quarter" idx="11"/>
          </p:nvPr>
        </p:nvSpPr>
        <p:spPr/>
        <p:txBody>
          <a:bodyPr/>
          <a:lstStyle/>
          <a:p>
            <a:r>
              <a:rPr lang="en-US"/>
              <a:t>MSc Artificial Intelligence &amp; Deep Learning</a:t>
            </a:r>
          </a:p>
        </p:txBody>
      </p:sp>
      <p:sp>
        <p:nvSpPr>
          <p:cNvPr id="4" name="Slide Number Placeholder 3">
            <a:extLst>
              <a:ext uri="{FF2B5EF4-FFF2-40B4-BE49-F238E27FC236}">
                <a16:creationId xmlns:a16="http://schemas.microsoft.com/office/drawing/2014/main" id="{7B8C5727-8184-BAD8-0C16-4E7213239DDD}"/>
              </a:ext>
            </a:extLst>
          </p:cNvPr>
          <p:cNvSpPr>
            <a:spLocks noGrp="1"/>
          </p:cNvSpPr>
          <p:nvPr>
            <p:ph type="sldNum" sz="quarter" idx="12"/>
          </p:nvPr>
        </p:nvSpPr>
        <p:spPr/>
        <p:txBody>
          <a:bodyPr/>
          <a:lstStyle/>
          <a:p>
            <a:fld id="{148CC95F-0247-41B6-91CF-DC97C76A7088}" type="slidenum">
              <a:rPr lang="en-US" smtClean="0"/>
              <a:t>10</a:t>
            </a:fld>
            <a:endParaRPr lang="en-US"/>
          </a:p>
        </p:txBody>
      </p:sp>
      <p:sp>
        <p:nvSpPr>
          <p:cNvPr id="9" name="TextBox 8">
            <a:extLst>
              <a:ext uri="{FF2B5EF4-FFF2-40B4-BE49-F238E27FC236}">
                <a16:creationId xmlns:a16="http://schemas.microsoft.com/office/drawing/2014/main" id="{A66797F6-16DC-1A0C-2AC9-7459C93AC801}"/>
              </a:ext>
            </a:extLst>
          </p:cNvPr>
          <p:cNvSpPr txBox="1"/>
          <p:nvPr/>
        </p:nvSpPr>
        <p:spPr>
          <a:xfrm>
            <a:off x="521208" y="966045"/>
            <a:ext cx="7712689" cy="400110"/>
          </a:xfrm>
          <a:prstGeom prst="rect">
            <a:avLst/>
          </a:prstGeom>
          <a:noFill/>
        </p:spPr>
        <p:txBody>
          <a:bodyPr wrap="none" rtlCol="0">
            <a:spAutoFit/>
          </a:bodyPr>
          <a:lstStyle/>
          <a:p>
            <a:r>
              <a:rPr lang="en-GR" sz="2000" b="1" dirty="0"/>
              <a:t>5. </a:t>
            </a:r>
            <a:r>
              <a:rPr lang="en-GB" sz="2000" b="1" dirty="0">
                <a:effectLst/>
                <a:latin typeface="Helvetica" pitchFamily="2" charset="0"/>
              </a:rPr>
              <a:t>Tune an LLM using DPO to always act like Gordon Ramsay!</a:t>
            </a:r>
          </a:p>
        </p:txBody>
      </p:sp>
      <p:sp>
        <p:nvSpPr>
          <p:cNvPr id="2" name="TextBox 1">
            <a:extLst>
              <a:ext uri="{FF2B5EF4-FFF2-40B4-BE49-F238E27FC236}">
                <a16:creationId xmlns:a16="http://schemas.microsoft.com/office/drawing/2014/main" id="{30F968A6-185B-3595-518C-4D3874B7B1B6}"/>
              </a:ext>
            </a:extLst>
          </p:cNvPr>
          <p:cNvSpPr txBox="1"/>
          <p:nvPr/>
        </p:nvSpPr>
        <p:spPr>
          <a:xfrm>
            <a:off x="521208" y="1681825"/>
            <a:ext cx="4526817" cy="369332"/>
          </a:xfrm>
          <a:prstGeom prst="rect">
            <a:avLst/>
          </a:prstGeom>
          <a:noFill/>
        </p:spPr>
        <p:txBody>
          <a:bodyPr wrap="none" rtlCol="0">
            <a:spAutoFit/>
          </a:bodyPr>
          <a:lstStyle/>
          <a:p>
            <a:r>
              <a:rPr lang="en-GB" dirty="0"/>
              <a:t>Model used: </a:t>
            </a:r>
            <a:r>
              <a:rPr lang="en-GB" dirty="0" err="1"/>
              <a:t>unsloth</a:t>
            </a:r>
            <a:r>
              <a:rPr lang="en-GB" dirty="0"/>
              <a:t>/Llama-3.2-3B-Instruct</a:t>
            </a:r>
            <a:endParaRPr lang="en-GR" dirty="0"/>
          </a:p>
        </p:txBody>
      </p:sp>
      <p:sp>
        <p:nvSpPr>
          <p:cNvPr id="6" name="TextBox 5">
            <a:extLst>
              <a:ext uri="{FF2B5EF4-FFF2-40B4-BE49-F238E27FC236}">
                <a16:creationId xmlns:a16="http://schemas.microsoft.com/office/drawing/2014/main" id="{1A80C2A6-9546-2FFE-C719-69FC3E4C4AE5}"/>
              </a:ext>
            </a:extLst>
          </p:cNvPr>
          <p:cNvSpPr txBox="1"/>
          <p:nvPr/>
        </p:nvSpPr>
        <p:spPr>
          <a:xfrm>
            <a:off x="521208" y="2366827"/>
            <a:ext cx="4348691" cy="1200329"/>
          </a:xfrm>
          <a:prstGeom prst="rect">
            <a:avLst/>
          </a:prstGeom>
          <a:noFill/>
        </p:spPr>
        <p:txBody>
          <a:bodyPr wrap="none" rtlCol="0">
            <a:spAutoFit/>
          </a:bodyPr>
          <a:lstStyle/>
          <a:p>
            <a:r>
              <a:rPr lang="en-GB" dirty="0"/>
              <a:t>Generating responses for 100 questions...</a:t>
            </a:r>
          </a:p>
          <a:p>
            <a:r>
              <a:rPr lang="en-GB" dirty="0"/>
              <a:t>Start Cosine Similarity Calculation</a:t>
            </a:r>
          </a:p>
          <a:p>
            <a:r>
              <a:rPr lang="en-GB" dirty="0"/>
              <a:t>Process Complete.</a:t>
            </a:r>
          </a:p>
          <a:p>
            <a:r>
              <a:rPr lang="en-GB" dirty="0"/>
              <a:t>Average Similarity Score: 0.4681</a:t>
            </a:r>
            <a:endParaRPr lang="en-GR" dirty="0"/>
          </a:p>
        </p:txBody>
      </p:sp>
      <p:sp>
        <p:nvSpPr>
          <p:cNvPr id="7" name="TextBox 6">
            <a:extLst>
              <a:ext uri="{FF2B5EF4-FFF2-40B4-BE49-F238E27FC236}">
                <a16:creationId xmlns:a16="http://schemas.microsoft.com/office/drawing/2014/main" id="{FE5DA93D-4E02-08C9-8DC4-7AEA043A599F}"/>
              </a:ext>
            </a:extLst>
          </p:cNvPr>
          <p:cNvSpPr txBox="1"/>
          <p:nvPr/>
        </p:nvSpPr>
        <p:spPr>
          <a:xfrm>
            <a:off x="6096000" y="1681825"/>
            <a:ext cx="3861955" cy="3108543"/>
          </a:xfrm>
          <a:prstGeom prst="rect">
            <a:avLst/>
          </a:prstGeom>
          <a:noFill/>
        </p:spPr>
        <p:txBody>
          <a:bodyPr wrap="none" rtlCol="0">
            <a:spAutoFit/>
          </a:bodyPr>
          <a:lstStyle/>
          <a:p>
            <a:r>
              <a:rPr lang="en-GB" sz="1400" dirty="0">
                <a:latin typeface="Consolas" panose="020B0609020204030204" pitchFamily="49" charset="0"/>
                <a:cs typeface="Consolas" panose="020B0609020204030204" pitchFamily="49" charset="0"/>
              </a:rPr>
              <a:t>BASE_CONFIG = {</a:t>
            </a:r>
          </a:p>
          <a:p>
            <a:r>
              <a:rPr lang="en-GB" sz="1400" dirty="0">
                <a:latin typeface="Consolas" panose="020B0609020204030204" pitchFamily="49" charset="0"/>
                <a:cs typeface="Consolas" panose="020B0609020204030204" pitchFamily="49" charset="0"/>
              </a:rPr>
              <a:t>    '</a:t>
            </a:r>
            <a:r>
              <a:rPr lang="en-GB" sz="1400" dirty="0" err="1">
                <a:latin typeface="Consolas" panose="020B0609020204030204" pitchFamily="49" charset="0"/>
                <a:cs typeface="Consolas" panose="020B0609020204030204" pitchFamily="49" charset="0"/>
              </a:rPr>
              <a:t>per_device_train_batch_size</a:t>
            </a:r>
            <a:r>
              <a:rPr lang="en-GB" sz="1400" dirty="0">
                <a:latin typeface="Consolas" panose="020B0609020204030204" pitchFamily="49" charset="0"/>
                <a:cs typeface="Consolas" panose="020B0609020204030204" pitchFamily="49" charset="0"/>
              </a:rPr>
              <a:t>': 2,</a:t>
            </a:r>
          </a:p>
          <a:p>
            <a:r>
              <a:rPr lang="en-GB" sz="1400" dirty="0">
                <a:latin typeface="Consolas" panose="020B0609020204030204" pitchFamily="49" charset="0"/>
                <a:cs typeface="Consolas" panose="020B0609020204030204" pitchFamily="49" charset="0"/>
              </a:rPr>
              <a:t>    '</a:t>
            </a:r>
            <a:r>
              <a:rPr lang="en-GB" sz="1400" dirty="0" err="1">
                <a:latin typeface="Consolas" panose="020B0609020204030204" pitchFamily="49" charset="0"/>
                <a:cs typeface="Consolas" panose="020B0609020204030204" pitchFamily="49" charset="0"/>
              </a:rPr>
              <a:t>gradient_accumulation_steps</a:t>
            </a:r>
            <a:r>
              <a:rPr lang="en-GB" sz="1400" dirty="0">
                <a:latin typeface="Consolas" panose="020B0609020204030204" pitchFamily="49" charset="0"/>
                <a:cs typeface="Consolas" panose="020B0609020204030204" pitchFamily="49" charset="0"/>
              </a:rPr>
              <a:t>': 4,</a:t>
            </a:r>
          </a:p>
          <a:p>
            <a:r>
              <a:rPr lang="en-GB" sz="1400" dirty="0">
                <a:latin typeface="Consolas" panose="020B0609020204030204" pitchFamily="49" charset="0"/>
                <a:cs typeface="Consolas" panose="020B0609020204030204" pitchFamily="49" charset="0"/>
              </a:rPr>
              <a:t>    '</a:t>
            </a:r>
            <a:r>
              <a:rPr lang="en-GB" sz="1400" dirty="0" err="1">
                <a:latin typeface="Consolas" panose="020B0609020204030204" pitchFamily="49" charset="0"/>
                <a:cs typeface="Consolas" panose="020B0609020204030204" pitchFamily="49" charset="0"/>
              </a:rPr>
              <a:t>warmup_ratio</a:t>
            </a:r>
            <a:r>
              <a:rPr lang="en-GB" sz="1400" dirty="0">
                <a:latin typeface="Consolas" panose="020B0609020204030204" pitchFamily="49" charset="0"/>
                <a:cs typeface="Consolas" panose="020B0609020204030204" pitchFamily="49" charset="0"/>
              </a:rPr>
              <a:t>': 0.1,</a:t>
            </a:r>
          </a:p>
          <a:p>
            <a:r>
              <a:rPr lang="en-GB" sz="1400" dirty="0">
                <a:latin typeface="Consolas" panose="020B0609020204030204" pitchFamily="49" charset="0"/>
                <a:cs typeface="Consolas" panose="020B0609020204030204" pitchFamily="49" charset="0"/>
              </a:rPr>
              <a:t>    '</a:t>
            </a:r>
            <a:r>
              <a:rPr lang="en-GB" sz="1400" dirty="0" err="1">
                <a:latin typeface="Consolas" panose="020B0609020204030204" pitchFamily="49" charset="0"/>
                <a:cs typeface="Consolas" panose="020B0609020204030204" pitchFamily="49" charset="0"/>
              </a:rPr>
              <a:t>num_train_epochs</a:t>
            </a:r>
            <a:r>
              <a:rPr lang="en-GB" sz="1400" dirty="0">
                <a:latin typeface="Consolas" panose="020B0609020204030204" pitchFamily="49" charset="0"/>
                <a:cs typeface="Consolas" panose="020B0609020204030204" pitchFamily="49" charset="0"/>
              </a:rPr>
              <a:t>': 3,</a:t>
            </a:r>
          </a:p>
          <a:p>
            <a:r>
              <a:rPr lang="en-GB" sz="1400" dirty="0">
                <a:latin typeface="Consolas" panose="020B0609020204030204" pitchFamily="49" charset="0"/>
                <a:cs typeface="Consolas" panose="020B0609020204030204" pitchFamily="49" charset="0"/>
              </a:rPr>
              <a:t>    '</a:t>
            </a:r>
            <a:r>
              <a:rPr lang="en-GB" sz="1400" dirty="0" err="1">
                <a:latin typeface="Consolas" panose="020B0609020204030204" pitchFamily="49" charset="0"/>
                <a:cs typeface="Consolas" panose="020B0609020204030204" pitchFamily="49" charset="0"/>
              </a:rPr>
              <a:t>learning_rate</a:t>
            </a:r>
            <a:r>
              <a:rPr lang="en-GB" sz="1400" dirty="0">
                <a:latin typeface="Consolas" panose="020B0609020204030204" pitchFamily="49" charset="0"/>
                <a:cs typeface="Consolas" panose="020B0609020204030204" pitchFamily="49" charset="0"/>
              </a:rPr>
              <a:t>': 5e-5,</a:t>
            </a:r>
          </a:p>
          <a:p>
            <a:r>
              <a:rPr lang="en-GB" sz="1400" dirty="0">
                <a:latin typeface="Consolas" panose="020B0609020204030204" pitchFamily="49" charset="0"/>
                <a:cs typeface="Consolas" panose="020B0609020204030204" pitchFamily="49" charset="0"/>
              </a:rPr>
              <a:t>    '</a:t>
            </a:r>
            <a:r>
              <a:rPr lang="en-GB" sz="1400" dirty="0" err="1">
                <a:latin typeface="Consolas" panose="020B0609020204030204" pitchFamily="49" charset="0"/>
                <a:cs typeface="Consolas" panose="020B0609020204030204" pitchFamily="49" charset="0"/>
              </a:rPr>
              <a:t>logging_steps</a:t>
            </a:r>
            <a:r>
              <a:rPr lang="en-GB" sz="1400" dirty="0">
                <a:latin typeface="Consolas" panose="020B0609020204030204" pitchFamily="49" charset="0"/>
                <a:cs typeface="Consolas" panose="020B0609020204030204" pitchFamily="49" charset="0"/>
              </a:rPr>
              <a:t>': 1,</a:t>
            </a:r>
          </a:p>
          <a:p>
            <a:r>
              <a:rPr lang="en-GB" sz="1400" dirty="0">
                <a:latin typeface="Consolas" panose="020B0609020204030204" pitchFamily="49" charset="0"/>
                <a:cs typeface="Consolas" panose="020B0609020204030204" pitchFamily="49" charset="0"/>
              </a:rPr>
              <a:t>    '</a:t>
            </a:r>
            <a:r>
              <a:rPr lang="en-GB" sz="1400" dirty="0" err="1">
                <a:latin typeface="Consolas" panose="020B0609020204030204" pitchFamily="49" charset="0"/>
                <a:cs typeface="Consolas" panose="020B0609020204030204" pitchFamily="49" charset="0"/>
              </a:rPr>
              <a:t>optim</a:t>
            </a:r>
            <a:r>
              <a:rPr lang="en-GB" sz="1400" dirty="0">
                <a:latin typeface="Consolas" panose="020B0609020204030204" pitchFamily="49" charset="0"/>
                <a:cs typeface="Consolas" panose="020B0609020204030204" pitchFamily="49" charset="0"/>
              </a:rPr>
              <a:t>': "paged_adamw_32bit",</a:t>
            </a:r>
          </a:p>
          <a:p>
            <a:r>
              <a:rPr lang="en-GB" sz="1400" dirty="0">
                <a:latin typeface="Consolas" panose="020B0609020204030204" pitchFamily="49" charset="0"/>
                <a:cs typeface="Consolas" panose="020B0609020204030204" pitchFamily="49" charset="0"/>
              </a:rPr>
              <a:t>    '</a:t>
            </a:r>
            <a:r>
              <a:rPr lang="en-GB" sz="1400" dirty="0" err="1">
                <a:latin typeface="Consolas" panose="020B0609020204030204" pitchFamily="49" charset="0"/>
                <a:cs typeface="Consolas" panose="020B0609020204030204" pitchFamily="49" charset="0"/>
              </a:rPr>
              <a:t>weight_decay</a:t>
            </a:r>
            <a:r>
              <a:rPr lang="en-GB" sz="1400" dirty="0">
                <a:latin typeface="Consolas" panose="020B0609020204030204" pitchFamily="49" charset="0"/>
                <a:cs typeface="Consolas" panose="020B0609020204030204" pitchFamily="49" charset="0"/>
              </a:rPr>
              <a:t>': 0.01,</a:t>
            </a:r>
          </a:p>
          <a:p>
            <a:r>
              <a:rPr lang="en-GB" sz="1400" dirty="0">
                <a:latin typeface="Consolas" panose="020B0609020204030204" pitchFamily="49" charset="0"/>
                <a:cs typeface="Consolas" panose="020B0609020204030204" pitchFamily="49" charset="0"/>
              </a:rPr>
              <a:t>    '</a:t>
            </a:r>
            <a:r>
              <a:rPr lang="en-GB" sz="1400" dirty="0" err="1">
                <a:latin typeface="Consolas" panose="020B0609020204030204" pitchFamily="49" charset="0"/>
                <a:cs typeface="Consolas" panose="020B0609020204030204" pitchFamily="49" charset="0"/>
              </a:rPr>
              <a:t>lr_scheduler_type</a:t>
            </a:r>
            <a:r>
              <a:rPr lang="en-GB" sz="1400" dirty="0">
                <a:latin typeface="Consolas" panose="020B0609020204030204" pitchFamily="49" charset="0"/>
                <a:cs typeface="Consolas" panose="020B0609020204030204" pitchFamily="49" charset="0"/>
              </a:rPr>
              <a:t>': "linear",</a:t>
            </a:r>
          </a:p>
          <a:p>
            <a:r>
              <a:rPr lang="en-GB" sz="1400" dirty="0">
                <a:latin typeface="Consolas" panose="020B0609020204030204" pitchFamily="49" charset="0"/>
                <a:cs typeface="Consolas" panose="020B0609020204030204" pitchFamily="49" charset="0"/>
              </a:rPr>
              <a:t>    'beta': 0.2,</a:t>
            </a:r>
          </a:p>
          <a:p>
            <a:r>
              <a:rPr lang="en-GB" sz="1400" dirty="0">
                <a:latin typeface="Consolas" panose="020B0609020204030204" pitchFamily="49" charset="0"/>
                <a:cs typeface="Consolas" panose="020B0609020204030204" pitchFamily="49" charset="0"/>
              </a:rPr>
              <a:t>    '</a:t>
            </a:r>
            <a:r>
              <a:rPr lang="en-GB" sz="1400" dirty="0" err="1">
                <a:latin typeface="Consolas" panose="020B0609020204030204" pitchFamily="49" charset="0"/>
                <a:cs typeface="Consolas" panose="020B0609020204030204" pitchFamily="49" charset="0"/>
              </a:rPr>
              <a:t>max_prompt_length</a:t>
            </a:r>
            <a:r>
              <a:rPr lang="en-GB" sz="1400" dirty="0">
                <a:latin typeface="Consolas" panose="020B0609020204030204" pitchFamily="49" charset="0"/>
                <a:cs typeface="Consolas" panose="020B0609020204030204" pitchFamily="49" charset="0"/>
              </a:rPr>
              <a:t>': 512,</a:t>
            </a:r>
          </a:p>
          <a:p>
            <a:r>
              <a:rPr lang="en-GB" sz="1400" dirty="0">
                <a:latin typeface="Consolas" panose="020B0609020204030204" pitchFamily="49" charset="0"/>
                <a:cs typeface="Consolas" panose="020B0609020204030204" pitchFamily="49" charset="0"/>
              </a:rPr>
              <a:t>    '</a:t>
            </a:r>
            <a:r>
              <a:rPr lang="en-GB" sz="1400" dirty="0" err="1">
                <a:latin typeface="Consolas" panose="020B0609020204030204" pitchFamily="49" charset="0"/>
                <a:cs typeface="Consolas" panose="020B0609020204030204" pitchFamily="49" charset="0"/>
              </a:rPr>
              <a:t>max_length</a:t>
            </a:r>
            <a:r>
              <a:rPr lang="en-GB" sz="1400" dirty="0">
                <a:latin typeface="Consolas" panose="020B0609020204030204" pitchFamily="49" charset="0"/>
                <a:cs typeface="Consolas" panose="020B0609020204030204" pitchFamily="49" charset="0"/>
              </a:rPr>
              <a:t>': 1024,</a:t>
            </a:r>
          </a:p>
          <a:p>
            <a:r>
              <a:rPr lang="en-GB" sz="1400" dirty="0">
                <a:latin typeface="Consolas" panose="020B0609020204030204" pitchFamily="49" charset="0"/>
                <a:cs typeface="Consolas" panose="020B0609020204030204" pitchFamily="49" charset="0"/>
              </a:rPr>
              <a:t>}</a:t>
            </a:r>
            <a:endParaRPr lang="en-GR" sz="1400" dirty="0">
              <a:latin typeface="Consolas" panose="020B0609020204030204" pitchFamily="49" charset="0"/>
              <a:cs typeface="Consolas" panose="020B0609020204030204" pitchFamily="49" charset="0"/>
            </a:endParaRPr>
          </a:p>
        </p:txBody>
      </p:sp>
      <p:sp>
        <p:nvSpPr>
          <p:cNvPr id="8" name="TextBox 7">
            <a:extLst>
              <a:ext uri="{FF2B5EF4-FFF2-40B4-BE49-F238E27FC236}">
                <a16:creationId xmlns:a16="http://schemas.microsoft.com/office/drawing/2014/main" id="{8402935D-7D2F-CD78-7048-79149345E433}"/>
              </a:ext>
            </a:extLst>
          </p:cNvPr>
          <p:cNvSpPr txBox="1"/>
          <p:nvPr/>
        </p:nvSpPr>
        <p:spPr>
          <a:xfrm>
            <a:off x="521208" y="3882826"/>
            <a:ext cx="4768485" cy="1200329"/>
          </a:xfrm>
          <a:prstGeom prst="rect">
            <a:avLst/>
          </a:prstGeom>
          <a:noFill/>
        </p:spPr>
        <p:txBody>
          <a:bodyPr wrap="none" rtlCol="0">
            <a:spAutoFit/>
          </a:bodyPr>
          <a:lstStyle/>
          <a:p>
            <a:r>
              <a:rPr lang="en-GR" dirty="0"/>
              <a:t>Training dataset was created by consolidating </a:t>
            </a:r>
          </a:p>
          <a:p>
            <a:r>
              <a:rPr lang="en-GR" dirty="0"/>
              <a:t>all individual *.csv in one test.csv file</a:t>
            </a:r>
          </a:p>
          <a:p>
            <a:endParaRPr lang="en-GR" dirty="0"/>
          </a:p>
          <a:p>
            <a:r>
              <a:rPr lang="en-GR" dirty="0"/>
              <a:t>Validation dataset was the one created by me</a:t>
            </a:r>
          </a:p>
        </p:txBody>
      </p:sp>
    </p:spTree>
    <p:extLst>
      <p:ext uri="{BB962C8B-B14F-4D97-AF65-F5344CB8AC3E}">
        <p14:creationId xmlns:p14="http://schemas.microsoft.com/office/powerpoint/2010/main" val="116785185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8A260236-8C60-545F-DD8F-8399F06E1366}"/>
              </a:ext>
            </a:extLst>
          </p:cNvPr>
          <p:cNvSpPr>
            <a:spLocks noGrp="1"/>
          </p:cNvSpPr>
          <p:nvPr>
            <p:ph type="ftr" sz="quarter" idx="11"/>
          </p:nvPr>
        </p:nvSpPr>
        <p:spPr/>
        <p:txBody>
          <a:bodyPr/>
          <a:lstStyle/>
          <a:p>
            <a:r>
              <a:rPr lang="en-US"/>
              <a:t>MSc Artificial Intelligence &amp; Deep Learning</a:t>
            </a:r>
          </a:p>
        </p:txBody>
      </p:sp>
      <p:sp>
        <p:nvSpPr>
          <p:cNvPr id="4" name="Slide Number Placeholder 3">
            <a:extLst>
              <a:ext uri="{FF2B5EF4-FFF2-40B4-BE49-F238E27FC236}">
                <a16:creationId xmlns:a16="http://schemas.microsoft.com/office/drawing/2014/main" id="{7B8C5727-8184-BAD8-0C16-4E7213239DDD}"/>
              </a:ext>
            </a:extLst>
          </p:cNvPr>
          <p:cNvSpPr>
            <a:spLocks noGrp="1"/>
          </p:cNvSpPr>
          <p:nvPr>
            <p:ph type="sldNum" sz="quarter" idx="12"/>
          </p:nvPr>
        </p:nvSpPr>
        <p:spPr/>
        <p:txBody>
          <a:bodyPr/>
          <a:lstStyle/>
          <a:p>
            <a:fld id="{148CC95F-0247-41B6-91CF-DC97C76A7088}" type="slidenum">
              <a:rPr lang="en-US" smtClean="0"/>
              <a:t>11</a:t>
            </a:fld>
            <a:endParaRPr lang="en-US"/>
          </a:p>
        </p:txBody>
      </p:sp>
      <p:sp>
        <p:nvSpPr>
          <p:cNvPr id="9" name="TextBox 8">
            <a:extLst>
              <a:ext uri="{FF2B5EF4-FFF2-40B4-BE49-F238E27FC236}">
                <a16:creationId xmlns:a16="http://schemas.microsoft.com/office/drawing/2014/main" id="{A66797F6-16DC-1A0C-2AC9-7459C93AC801}"/>
              </a:ext>
            </a:extLst>
          </p:cNvPr>
          <p:cNvSpPr txBox="1"/>
          <p:nvPr/>
        </p:nvSpPr>
        <p:spPr>
          <a:xfrm>
            <a:off x="521208" y="966045"/>
            <a:ext cx="7712689" cy="400110"/>
          </a:xfrm>
          <a:prstGeom prst="rect">
            <a:avLst/>
          </a:prstGeom>
          <a:noFill/>
        </p:spPr>
        <p:txBody>
          <a:bodyPr wrap="none" rtlCol="0">
            <a:spAutoFit/>
          </a:bodyPr>
          <a:lstStyle/>
          <a:p>
            <a:r>
              <a:rPr lang="en-GR" sz="2000" b="1" dirty="0"/>
              <a:t>5. </a:t>
            </a:r>
            <a:r>
              <a:rPr lang="en-GB" sz="2000" b="1" dirty="0">
                <a:effectLst/>
                <a:latin typeface="Helvetica" pitchFamily="2" charset="0"/>
              </a:rPr>
              <a:t>Tune an LLM using DPO to always act like Gordon Ramsay!</a:t>
            </a:r>
          </a:p>
        </p:txBody>
      </p:sp>
      <p:sp>
        <p:nvSpPr>
          <p:cNvPr id="5" name="TextBox 4">
            <a:extLst>
              <a:ext uri="{FF2B5EF4-FFF2-40B4-BE49-F238E27FC236}">
                <a16:creationId xmlns:a16="http://schemas.microsoft.com/office/drawing/2014/main" id="{C139169D-02EA-084D-6868-A52492F7B8D5}"/>
              </a:ext>
            </a:extLst>
          </p:cNvPr>
          <p:cNvSpPr txBox="1"/>
          <p:nvPr/>
        </p:nvSpPr>
        <p:spPr>
          <a:xfrm>
            <a:off x="521209" y="1477304"/>
            <a:ext cx="8721943" cy="369332"/>
          </a:xfrm>
          <a:prstGeom prst="rect">
            <a:avLst/>
          </a:prstGeom>
          <a:noFill/>
        </p:spPr>
        <p:txBody>
          <a:bodyPr wrap="square" rtlCol="0">
            <a:spAutoFit/>
          </a:bodyPr>
          <a:lstStyle/>
          <a:p>
            <a:r>
              <a:rPr lang="en-GB" dirty="0"/>
              <a:t>Sample Questions/Answers</a:t>
            </a:r>
          </a:p>
        </p:txBody>
      </p:sp>
      <p:graphicFrame>
        <p:nvGraphicFramePr>
          <p:cNvPr id="11" name="Table 10">
            <a:extLst>
              <a:ext uri="{FF2B5EF4-FFF2-40B4-BE49-F238E27FC236}">
                <a16:creationId xmlns:a16="http://schemas.microsoft.com/office/drawing/2014/main" id="{6EED5701-EFA9-6465-85ED-87C68559942C}"/>
              </a:ext>
            </a:extLst>
          </p:cNvPr>
          <p:cNvGraphicFramePr>
            <a:graphicFrameLocks noGrp="1"/>
          </p:cNvGraphicFramePr>
          <p:nvPr>
            <p:extLst>
              <p:ext uri="{D42A27DB-BD31-4B8C-83A1-F6EECF244321}">
                <p14:modId xmlns:p14="http://schemas.microsoft.com/office/powerpoint/2010/main" val="3265273556"/>
              </p:ext>
            </p:extLst>
          </p:nvPr>
        </p:nvGraphicFramePr>
        <p:xfrm>
          <a:off x="378248" y="1957785"/>
          <a:ext cx="11376750" cy="3489322"/>
        </p:xfrm>
        <a:graphic>
          <a:graphicData uri="http://schemas.openxmlformats.org/drawingml/2006/table">
            <a:tbl>
              <a:tblPr firstRow="1" bandRow="1">
                <a:tableStyleId>{69012ECD-51FC-41F1-AA8D-1B2483CD663E}</a:tableStyleId>
              </a:tblPr>
              <a:tblGrid>
                <a:gridCol w="2275350">
                  <a:extLst>
                    <a:ext uri="{9D8B030D-6E8A-4147-A177-3AD203B41FA5}">
                      <a16:colId xmlns:a16="http://schemas.microsoft.com/office/drawing/2014/main" val="4244057321"/>
                    </a:ext>
                  </a:extLst>
                </a:gridCol>
                <a:gridCol w="2275350">
                  <a:extLst>
                    <a:ext uri="{9D8B030D-6E8A-4147-A177-3AD203B41FA5}">
                      <a16:colId xmlns:a16="http://schemas.microsoft.com/office/drawing/2014/main" val="4125226041"/>
                    </a:ext>
                  </a:extLst>
                </a:gridCol>
                <a:gridCol w="2275350">
                  <a:extLst>
                    <a:ext uri="{9D8B030D-6E8A-4147-A177-3AD203B41FA5}">
                      <a16:colId xmlns:a16="http://schemas.microsoft.com/office/drawing/2014/main" val="4228042166"/>
                    </a:ext>
                  </a:extLst>
                </a:gridCol>
                <a:gridCol w="3479905">
                  <a:extLst>
                    <a:ext uri="{9D8B030D-6E8A-4147-A177-3AD203B41FA5}">
                      <a16:colId xmlns:a16="http://schemas.microsoft.com/office/drawing/2014/main" val="3871550087"/>
                    </a:ext>
                  </a:extLst>
                </a:gridCol>
                <a:gridCol w="1070795">
                  <a:extLst>
                    <a:ext uri="{9D8B030D-6E8A-4147-A177-3AD203B41FA5}">
                      <a16:colId xmlns:a16="http://schemas.microsoft.com/office/drawing/2014/main" val="460463167"/>
                    </a:ext>
                  </a:extLst>
                </a:gridCol>
              </a:tblGrid>
              <a:tr h="483270">
                <a:tc>
                  <a:txBody>
                    <a:bodyPr/>
                    <a:lstStyle/>
                    <a:p>
                      <a:r>
                        <a:rPr lang="en-GR" sz="1400" dirty="0"/>
                        <a:t>Question</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GR" sz="1400" dirty="0"/>
                        <a:t>Polite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GR" sz="1400" dirty="0"/>
                        <a:t>Ramsay</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GR" sz="1400" dirty="0"/>
                        <a:t>DPO Model</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GR" sz="1400" dirty="0"/>
                        <a:t>Similarity </a:t>
                      </a:r>
                    </a:p>
                    <a:p>
                      <a:r>
                        <a:rPr lang="en-GR" sz="1400" dirty="0"/>
                        <a:t>Score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1721467"/>
                  </a:ext>
                </a:extLst>
              </a:tr>
              <a:tr h="675956">
                <a:tc>
                  <a:txBody>
                    <a:bodyPr/>
                    <a:lstStyle/>
                    <a:p>
                      <a:pPr algn="l" fontAlgn="b"/>
                      <a:r>
                        <a:rPr lang="en-GB" sz="1050" b="0" u="none" strike="noStrike" dirty="0">
                          <a:solidFill>
                            <a:srgbClr val="000000"/>
                          </a:solidFill>
                          <a:effectLst/>
                        </a:rPr>
                        <a:t>What is the benefit of a CNN for images?</a:t>
                      </a:r>
                      <a:endParaRPr lang="en-GB" sz="1050" b="0" i="0" u="none" strike="noStrike" dirty="0">
                        <a:solidFill>
                          <a:srgbClr val="000000"/>
                        </a:solidFill>
                        <a:effectLst/>
                        <a:latin typeface="Calibri" panose="020F0502020204030204" pitchFamily="34"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r>
                        <a:rPr lang="en-GB" sz="1050" b="0" u="none" strike="noStrike" dirty="0">
                          <a:solidFill>
                            <a:srgbClr val="000000"/>
                          </a:solidFill>
                          <a:effectLst/>
                        </a:rPr>
                        <a:t>CNNs use filters to capture spatial hierarchies and local patterns like edges.</a:t>
                      </a:r>
                      <a:endParaRPr lang="en-GB" sz="1050" b="0" i="0" u="none" strike="noStrike" dirty="0">
                        <a:solidFill>
                          <a:srgbClr val="000000"/>
                        </a:solidFill>
                        <a:effectLst/>
                        <a:latin typeface="Calibri" panose="020F0502020204030204" pitchFamily="34"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r>
                        <a:rPr lang="en-GB" sz="1050" b="0" u="none" strike="noStrike" dirty="0">
                          <a:solidFill>
                            <a:srgbClr val="000000"/>
                          </a:solidFill>
                          <a:effectLst/>
                        </a:rPr>
                        <a:t>Stop treating pixels like a flat list! It is an image! Use a convolution and look at patterns you doughnut!</a:t>
                      </a:r>
                      <a:endParaRPr lang="en-GB" sz="1050" b="0" i="0" u="none" strike="noStrike" dirty="0">
                        <a:solidFill>
                          <a:srgbClr val="000000"/>
                        </a:solidFill>
                        <a:effectLst/>
                        <a:latin typeface="Calibri" panose="020F0502020204030204" pitchFamily="34"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r>
                        <a:rPr lang="en-GB" sz="1050" b="0" u="none" strike="noStrike" dirty="0">
                          <a:solidFill>
                            <a:srgbClr val="000000"/>
                          </a:solidFill>
                          <a:effectLst/>
                        </a:rPr>
                        <a:t>The answer is that it is faster than you! You'll be done before the image is finished loading!</a:t>
                      </a:r>
                      <a:endParaRPr lang="en-GB" sz="1050" b="0" i="0" u="none" strike="noStrike" dirty="0">
                        <a:solidFill>
                          <a:srgbClr val="000000"/>
                        </a:solidFill>
                        <a:effectLst/>
                        <a:latin typeface="Calibri" panose="020F0502020204030204" pitchFamily="34"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r>
                        <a:rPr lang="en-GR" sz="1050" b="0" u="none" strike="noStrike" dirty="0">
                          <a:solidFill>
                            <a:srgbClr val="000000"/>
                          </a:solidFill>
                          <a:effectLst/>
                        </a:rPr>
                        <a:t>0.111633345484</a:t>
                      </a:r>
                      <a:endParaRPr lang="en-GR" sz="1050" b="0" i="0" u="none" strike="noStrike" dirty="0">
                        <a:solidFill>
                          <a:srgbClr val="000000"/>
                        </a:solidFill>
                        <a:effectLst/>
                        <a:latin typeface="Calibri" panose="020F0502020204030204" pitchFamily="34"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5215521"/>
                  </a:ext>
                </a:extLst>
              </a:tr>
              <a:tr h="675956">
                <a:tc>
                  <a:txBody>
                    <a:bodyPr/>
                    <a:lstStyle/>
                    <a:p>
                      <a:pPr algn="l" fontAlgn="b"/>
                      <a:r>
                        <a:rPr lang="en-GB" sz="1050" b="0" u="none" strike="noStrike" dirty="0">
                          <a:solidFill>
                            <a:srgbClr val="000000"/>
                          </a:solidFill>
                          <a:effectLst/>
                        </a:rPr>
                        <a:t>Why do we need a Validation set?</a:t>
                      </a:r>
                      <a:endParaRPr lang="en-GB" sz="1050" b="0" i="0" u="none" strike="noStrike" dirty="0">
                        <a:solidFill>
                          <a:srgbClr val="000000"/>
                        </a:solidFill>
                        <a:effectLst/>
                        <a:latin typeface="Calibri" panose="020F0502020204030204" pitchFamily="34"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r>
                        <a:rPr lang="en-GB" sz="1050" b="0" u="none" strike="noStrike">
                          <a:solidFill>
                            <a:srgbClr val="000000"/>
                          </a:solidFill>
                          <a:effectLst/>
                        </a:rPr>
                        <a:t>It provides an unbiased evaluation of a model while tuning hyperparameters.</a:t>
                      </a:r>
                      <a:endParaRPr lang="en-GB" sz="1050" b="0" i="0" u="none" strike="noStrike">
                        <a:solidFill>
                          <a:srgbClr val="000000"/>
                        </a:solidFill>
                        <a:effectLst/>
                        <a:latin typeface="Calibri" panose="020F0502020204030204" pitchFamily="34"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r>
                        <a:rPr lang="en-GB" sz="1050" b="0" u="none" strike="noStrike" dirty="0">
                          <a:solidFill>
                            <a:srgbClr val="000000"/>
                          </a:solidFill>
                          <a:effectLst/>
                        </a:rPr>
                        <a:t>You cannot taste your own dish and call it a Michelin star! Test it on something new or you are kidding yourself!</a:t>
                      </a:r>
                      <a:endParaRPr lang="en-GB" sz="1050" b="0" i="0" u="none" strike="noStrike" dirty="0">
                        <a:solidFill>
                          <a:srgbClr val="000000"/>
                        </a:solidFill>
                        <a:effectLst/>
                        <a:latin typeface="Calibri" panose="020F0502020204030204" pitchFamily="34"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r>
                        <a:rPr lang="en-GB" sz="1050" b="0" u="none" strike="noStrike" dirty="0">
                          <a:solidFill>
                            <a:srgbClr val="000000"/>
                          </a:solidFill>
                          <a:effectLst/>
                        </a:rPr>
                        <a:t>You need a validation set because you are probably going to mess it up! It's like a crash test dummy - it's there to see how you handle the inevitable mistakes!</a:t>
                      </a:r>
                      <a:endParaRPr lang="en-GB" sz="1050" b="0" i="0" u="none" strike="noStrike" dirty="0">
                        <a:solidFill>
                          <a:srgbClr val="000000"/>
                        </a:solidFill>
                        <a:effectLst/>
                        <a:latin typeface="Calibri" panose="020F0502020204030204" pitchFamily="34"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r>
                        <a:rPr lang="en-GR" sz="1050" b="0" u="none" strike="noStrike" dirty="0">
                          <a:solidFill>
                            <a:srgbClr val="000000"/>
                          </a:solidFill>
                          <a:effectLst/>
                        </a:rPr>
                        <a:t>0.143187433481</a:t>
                      </a:r>
                      <a:endParaRPr lang="en-GR" sz="1050" b="0" i="0" u="none" strike="noStrike" dirty="0">
                        <a:solidFill>
                          <a:srgbClr val="000000"/>
                        </a:solidFill>
                        <a:effectLst/>
                        <a:latin typeface="Calibri" panose="020F0502020204030204" pitchFamily="34"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3591338"/>
                  </a:ext>
                </a:extLst>
              </a:tr>
              <a:tr h="675956">
                <a:tc>
                  <a:txBody>
                    <a:bodyPr/>
                    <a:lstStyle/>
                    <a:p>
                      <a:pPr algn="l" fontAlgn="b"/>
                      <a:r>
                        <a:rPr lang="en-GB" sz="1050" b="0" u="none" strike="noStrike" dirty="0">
                          <a:solidFill>
                            <a:srgbClr val="000000"/>
                          </a:solidFill>
                          <a:effectLst/>
                        </a:rPr>
                        <a:t>What is Early Stopping?</a:t>
                      </a:r>
                      <a:endParaRPr lang="en-GB" sz="1050" b="0" i="0" u="none" strike="noStrike" dirty="0">
                        <a:solidFill>
                          <a:srgbClr val="000000"/>
                        </a:solidFill>
                        <a:effectLst/>
                        <a:latin typeface="Calibri" panose="020F0502020204030204" pitchFamily="34"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r>
                        <a:rPr lang="en-GB" sz="1050" b="0" u="none" strike="noStrike" dirty="0">
                          <a:solidFill>
                            <a:srgbClr val="000000"/>
                          </a:solidFill>
                          <a:effectLst/>
                        </a:rPr>
                        <a:t>It is a technique where training is halted as soon as the validation error increases.</a:t>
                      </a:r>
                      <a:endParaRPr lang="en-GB" sz="1050" b="0" i="0" u="none" strike="noStrike" dirty="0">
                        <a:solidFill>
                          <a:srgbClr val="000000"/>
                        </a:solidFill>
                        <a:effectLst/>
                        <a:latin typeface="Calibri" panose="020F0502020204030204" pitchFamily="34"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r>
                        <a:rPr lang="en-GB" sz="1050" b="0" u="none" strike="noStrike">
                          <a:solidFill>
                            <a:srgbClr val="000000"/>
                          </a:solidFill>
                          <a:effectLst/>
                        </a:rPr>
                        <a:t>Stop it is overcooked! The error is going up! Turn off the GPU before you burn the whole thing!</a:t>
                      </a:r>
                      <a:endParaRPr lang="en-GB" sz="1050" b="0" i="0" u="none" strike="noStrike">
                        <a:solidFill>
                          <a:srgbClr val="000000"/>
                        </a:solidFill>
                        <a:effectLst/>
                        <a:latin typeface="Calibri" panose="020F0502020204030204" pitchFamily="34"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r>
                        <a:rPr lang="en-GB" sz="1050" b="0" u="none" strike="noStrike" dirty="0">
                          <a:solidFill>
                            <a:srgbClr val="000000"/>
                          </a:solidFill>
                          <a:effectLst/>
                        </a:rPr>
                        <a:t>It's your wife! It's your wife! It's your wife! Oh, wait... You mean Early Stopping? It's when you stop buying unnecessary things because you're not going to need them, and then you realize you're not going to need that shirt either!</a:t>
                      </a:r>
                      <a:endParaRPr lang="en-GB" sz="1050" b="0" i="0" u="none" strike="noStrike" dirty="0">
                        <a:solidFill>
                          <a:srgbClr val="000000"/>
                        </a:solidFill>
                        <a:effectLst/>
                        <a:latin typeface="Calibri" panose="020F0502020204030204" pitchFamily="34"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r>
                        <a:rPr lang="en-GR" sz="1050" b="0" u="none" strike="noStrike" dirty="0">
                          <a:solidFill>
                            <a:srgbClr val="000000"/>
                          </a:solidFill>
                          <a:effectLst/>
                        </a:rPr>
                        <a:t>0.209640681743</a:t>
                      </a:r>
                      <a:endParaRPr lang="en-GR" sz="1050" b="0" i="0" u="none" strike="noStrike" dirty="0">
                        <a:solidFill>
                          <a:srgbClr val="000000"/>
                        </a:solidFill>
                        <a:effectLst/>
                        <a:latin typeface="Calibri" panose="020F0502020204030204" pitchFamily="34"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281047559"/>
                  </a:ext>
                </a:extLst>
              </a:tr>
              <a:tr h="675956">
                <a:tc>
                  <a:txBody>
                    <a:bodyPr/>
                    <a:lstStyle/>
                    <a:p>
                      <a:pPr algn="l" fontAlgn="b"/>
                      <a:r>
                        <a:rPr lang="en-GB" sz="1050" b="0" u="none" strike="noStrike" dirty="0">
                          <a:solidFill>
                            <a:srgbClr val="000000"/>
                          </a:solidFill>
                          <a:effectLst/>
                        </a:rPr>
                        <a:t>Why do we use dropout in neural networks?</a:t>
                      </a:r>
                      <a:endParaRPr lang="en-GB" sz="1050" b="0" i="0" u="none" strike="noStrike" dirty="0">
                        <a:solidFill>
                          <a:srgbClr val="000000"/>
                        </a:solidFill>
                        <a:effectLst/>
                        <a:latin typeface="Calibri" panose="020F0502020204030204" pitchFamily="34"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r>
                        <a:rPr lang="en-GB" sz="1050" b="0" u="none" strike="noStrike" dirty="0">
                          <a:solidFill>
                            <a:srgbClr val="000000"/>
                          </a:solidFill>
                          <a:effectLst/>
                        </a:rPr>
                        <a:t>Dropout is a regularization technique that randomly deactivates neurons during training to prevent overfitting.</a:t>
                      </a:r>
                      <a:endParaRPr lang="en-GB" sz="1050" b="0" i="0" u="none" strike="noStrike" dirty="0">
                        <a:solidFill>
                          <a:srgbClr val="000000"/>
                        </a:solidFill>
                        <a:effectLst/>
                        <a:latin typeface="Calibri" panose="020F0502020204030204" pitchFamily="34"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r>
                        <a:rPr lang="en-GB" sz="1050" b="0" u="none" strike="noStrike" dirty="0">
                          <a:solidFill>
                            <a:srgbClr val="000000"/>
                          </a:solidFill>
                          <a:effectLst/>
                        </a:rPr>
                        <a:t>Without dropout, your network is a one-trick pony memorizing the menu! It's a bloated, overconfident fool! Dropout forces it to be robust, you donkey!</a:t>
                      </a:r>
                      <a:endParaRPr lang="en-GB" sz="1050" b="0" i="0" u="none" strike="noStrike" dirty="0">
                        <a:solidFill>
                          <a:srgbClr val="000000"/>
                        </a:solidFill>
                        <a:effectLst/>
                        <a:latin typeface="Calibri" panose="020F0502020204030204" pitchFamily="34"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r>
                        <a:rPr lang="en-GB" sz="1050" b="0" u="none" strike="noStrike" dirty="0">
                          <a:solidFill>
                            <a:srgbClr val="000000"/>
                          </a:solidFill>
                          <a:effectLst/>
                        </a:rPr>
                        <a:t>You don't. I do. I'm a dropout. Your neural network is probably failing because of my laziness.</a:t>
                      </a:r>
                      <a:endParaRPr lang="en-GB" sz="1050" b="0" i="0" u="none" strike="noStrike" dirty="0">
                        <a:solidFill>
                          <a:srgbClr val="000000"/>
                        </a:solidFill>
                        <a:effectLst/>
                        <a:latin typeface="Calibri" panose="020F0502020204030204" pitchFamily="34"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r>
                        <a:rPr lang="en-GR" sz="1050" b="0" u="none" strike="noStrike" dirty="0">
                          <a:solidFill>
                            <a:srgbClr val="000000"/>
                          </a:solidFill>
                          <a:effectLst/>
                        </a:rPr>
                        <a:t>0.542586147785</a:t>
                      </a:r>
                      <a:endParaRPr lang="en-GR" sz="1050" b="0" i="0" u="none" strike="noStrike" dirty="0">
                        <a:solidFill>
                          <a:srgbClr val="000000"/>
                        </a:solidFill>
                        <a:effectLst/>
                        <a:latin typeface="Calibri" panose="020F0502020204030204" pitchFamily="34"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68770834"/>
                  </a:ext>
                </a:extLst>
              </a:tr>
            </a:tbl>
          </a:graphicData>
        </a:graphic>
      </p:graphicFrame>
    </p:spTree>
    <p:extLst>
      <p:ext uri="{BB962C8B-B14F-4D97-AF65-F5344CB8AC3E}">
        <p14:creationId xmlns:p14="http://schemas.microsoft.com/office/powerpoint/2010/main" val="353364854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7" name="Graphic 6" descr="Help">
            <a:extLst>
              <a:ext uri="{FF2B5EF4-FFF2-40B4-BE49-F238E27FC236}">
                <a16:creationId xmlns:a16="http://schemas.microsoft.com/office/drawing/2014/main" id="{EA79FB38-D1A1-3371-BAAE-40F23CCEDAB7}"/>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4734217" y="2652107"/>
            <a:ext cx="1553785" cy="1553785"/>
          </a:xfrm>
          <a:prstGeom prst="rect">
            <a:avLst/>
          </a:prstGeom>
        </p:spPr>
      </p:pic>
      <p:sp>
        <p:nvSpPr>
          <p:cNvPr id="3" name="Content Placeholder 2">
            <a:extLst>
              <a:ext uri="{FF2B5EF4-FFF2-40B4-BE49-F238E27FC236}">
                <a16:creationId xmlns:a16="http://schemas.microsoft.com/office/drawing/2014/main" id="{3DA8BE34-BAEA-3750-2F00-C60ADE403396}"/>
              </a:ext>
            </a:extLst>
          </p:cNvPr>
          <p:cNvSpPr>
            <a:spLocks noGrp="1"/>
          </p:cNvSpPr>
          <p:nvPr>
            <p:ph idx="1"/>
          </p:nvPr>
        </p:nvSpPr>
        <p:spPr>
          <a:xfrm>
            <a:off x="4926221" y="1707701"/>
            <a:ext cx="1169779" cy="532892"/>
          </a:xfrm>
        </p:spPr>
        <p:txBody>
          <a:bodyPr>
            <a:noAutofit/>
          </a:bodyPr>
          <a:lstStyle/>
          <a:p>
            <a:pPr marL="0" indent="0">
              <a:buNone/>
            </a:pPr>
            <a:r>
              <a:rPr lang="en-US" sz="2800" b="1" dirty="0">
                <a:latin typeface="Calibri" panose="020F0502020204030204" pitchFamily="34" charset="0"/>
                <a:ea typeface="Calibri" panose="020F0502020204030204" pitchFamily="34" charset="0"/>
                <a:cs typeface="Calibri" panose="020F0502020204030204" pitchFamily="34" charset="0"/>
              </a:rPr>
              <a:t>Q &amp; A</a:t>
            </a:r>
            <a:endParaRPr lang="el-GR" sz="2800" b="1" dirty="0">
              <a:latin typeface="Calibri" panose="020F0502020204030204" pitchFamily="34" charset="0"/>
              <a:ea typeface="Calibri" panose="020F0502020204030204" pitchFamily="34" charset="0"/>
              <a:cs typeface="Calibri" panose="020F0502020204030204" pitchFamily="34" charset="0"/>
            </a:endParaRPr>
          </a:p>
        </p:txBody>
      </p:sp>
      <p:sp>
        <p:nvSpPr>
          <p:cNvPr id="2" name="TextBox 1">
            <a:extLst>
              <a:ext uri="{FF2B5EF4-FFF2-40B4-BE49-F238E27FC236}">
                <a16:creationId xmlns:a16="http://schemas.microsoft.com/office/drawing/2014/main" id="{F94331BF-C6FE-7A77-F0A5-1DBF573812F7}"/>
              </a:ext>
            </a:extLst>
          </p:cNvPr>
          <p:cNvSpPr txBox="1"/>
          <p:nvPr/>
        </p:nvSpPr>
        <p:spPr>
          <a:xfrm>
            <a:off x="4438650" y="1029199"/>
            <a:ext cx="2374900" cy="584775"/>
          </a:xfrm>
          <a:prstGeom prst="rect">
            <a:avLst/>
          </a:prstGeom>
          <a:noFill/>
        </p:spPr>
        <p:txBody>
          <a:bodyPr wrap="square" rtlCol="0">
            <a:spAutoFit/>
          </a:bodyPr>
          <a:lstStyle/>
          <a:p>
            <a:r>
              <a:rPr lang="en-US" sz="3200" b="1" dirty="0">
                <a:latin typeface="Calibri" panose="020F0502020204030204" pitchFamily="34" charset="0"/>
                <a:ea typeface="Calibri" panose="020F0502020204030204" pitchFamily="34" charset="0"/>
                <a:cs typeface="Calibri" panose="020F0502020204030204" pitchFamily="34" charset="0"/>
              </a:rPr>
              <a:t>Thank You!</a:t>
            </a:r>
            <a:endParaRPr lang="el-GR" sz="3200" b="1" dirty="0">
              <a:latin typeface="Calibri" panose="020F0502020204030204" pitchFamily="34" charset="0"/>
              <a:ea typeface="Calibri" panose="020F0502020204030204" pitchFamily="34" charset="0"/>
              <a:cs typeface="Calibri" panose="020F0502020204030204" pitchFamily="34" charset="0"/>
            </a:endParaRPr>
          </a:p>
        </p:txBody>
      </p:sp>
      <p:sp>
        <p:nvSpPr>
          <p:cNvPr id="4" name="Footer Placeholder 3">
            <a:extLst>
              <a:ext uri="{FF2B5EF4-FFF2-40B4-BE49-F238E27FC236}">
                <a16:creationId xmlns:a16="http://schemas.microsoft.com/office/drawing/2014/main" id="{BD4AA722-7468-8563-65BE-6248FE0AAA17}"/>
              </a:ext>
            </a:extLst>
          </p:cNvPr>
          <p:cNvSpPr>
            <a:spLocks noGrp="1"/>
          </p:cNvSpPr>
          <p:nvPr>
            <p:ph type="ftr" sz="quarter" idx="11"/>
          </p:nvPr>
        </p:nvSpPr>
        <p:spPr/>
        <p:txBody>
          <a:bodyPr/>
          <a:lstStyle/>
          <a:p>
            <a:r>
              <a:rPr lang="en-US">
                <a:latin typeface="Calibri" panose="020F0502020204030204" pitchFamily="34" charset="0"/>
                <a:ea typeface="Calibri" panose="020F0502020204030204" pitchFamily="34" charset="0"/>
                <a:cs typeface="Calibri" panose="020F0502020204030204" pitchFamily="34" charset="0"/>
              </a:rPr>
              <a:t>MSc Artificial Intelligence &amp; Deep Learning</a:t>
            </a:r>
          </a:p>
        </p:txBody>
      </p:sp>
      <p:sp>
        <p:nvSpPr>
          <p:cNvPr id="5" name="Slide Number Placeholder 4">
            <a:extLst>
              <a:ext uri="{FF2B5EF4-FFF2-40B4-BE49-F238E27FC236}">
                <a16:creationId xmlns:a16="http://schemas.microsoft.com/office/drawing/2014/main" id="{9FD42705-6282-39A6-2FC8-DC4819E7027F}"/>
              </a:ext>
            </a:extLst>
          </p:cNvPr>
          <p:cNvSpPr>
            <a:spLocks noGrp="1"/>
          </p:cNvSpPr>
          <p:nvPr>
            <p:ph type="sldNum" sz="quarter" idx="12"/>
          </p:nvPr>
        </p:nvSpPr>
        <p:spPr/>
        <p:txBody>
          <a:bodyPr/>
          <a:lstStyle/>
          <a:p>
            <a:fld id="{148CC95F-0247-41B6-91CF-DC97C76A7088}" type="slidenum">
              <a:rPr lang="en-US" smtClean="0">
                <a:latin typeface="Calibri" panose="020F0502020204030204" pitchFamily="34" charset="0"/>
                <a:ea typeface="Calibri" panose="020F0502020204030204" pitchFamily="34" charset="0"/>
                <a:cs typeface="Calibri" panose="020F0502020204030204" pitchFamily="34" charset="0"/>
              </a:rPr>
              <a:t>12</a:t>
            </a:fld>
            <a:endParaRPr lang="en-US">
              <a:latin typeface="Calibri" panose="020F0502020204030204" pitchFamily="34" charset="0"/>
              <a:ea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701557641"/>
      </p:ext>
    </p:extLst>
  </p:cSld>
  <p:clrMapOvr>
    <a:masterClrMapping/>
  </p:clrMapOvr>
</p:sld>
</file>

<file path=ppt/theme/theme1.xml><?xml version="1.0" encoding="utf-8"?>
<a:theme xmlns:a="http://schemas.openxmlformats.org/drawingml/2006/main" name="GestaltVTI">
  <a:themeElements>
    <a:clrScheme name="Gestalt">
      <a:dk1>
        <a:srgbClr val="000000"/>
      </a:dk1>
      <a:lt1>
        <a:sysClr val="window" lastClr="FFFFFF"/>
      </a:lt1>
      <a:dk2>
        <a:srgbClr val="262626"/>
      </a:dk2>
      <a:lt2>
        <a:srgbClr val="F7F7F7"/>
      </a:lt2>
      <a:accent1>
        <a:srgbClr val="EBA000"/>
      </a:accent1>
      <a:accent2>
        <a:srgbClr val="00BAC8"/>
      </a:accent2>
      <a:accent3>
        <a:srgbClr val="E64823"/>
      </a:accent3>
      <a:accent4>
        <a:srgbClr val="4D5AFF"/>
      </a:accent4>
      <a:accent5>
        <a:srgbClr val="FE5D21"/>
      </a:accent5>
      <a:accent6>
        <a:srgbClr val="00C777"/>
      </a:accent6>
      <a:hlink>
        <a:srgbClr val="2998E3"/>
      </a:hlink>
      <a:folHlink>
        <a:srgbClr val="939393"/>
      </a:folHlink>
    </a:clrScheme>
    <a:fontScheme name="Gestalt">
      <a:majorFont>
        <a:latin typeface="Bierstadt"/>
        <a:ea typeface=""/>
        <a:cs typeface=""/>
      </a:majorFont>
      <a:minorFont>
        <a:latin typeface="Bierstad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GestaltVTI" id="{4F87C71D-53D1-4B71-BF97-FD0EA4B25665}" vid="{A110AFC4-8D8A-4C02-8885-7BA370B379B5}"/>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4349</TotalTime>
  <Words>1460</Words>
  <Application>Microsoft Office PowerPoint</Application>
  <PresentationFormat>Widescreen</PresentationFormat>
  <Paragraphs>176</Paragraphs>
  <Slides>12</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12</vt:i4>
      </vt:variant>
    </vt:vector>
  </HeadingPairs>
  <TitlesOfParts>
    <vt:vector size="18" baseType="lpstr">
      <vt:lpstr>Arial</vt:lpstr>
      <vt:lpstr>Bierstadt</vt:lpstr>
      <vt:lpstr>Calibri</vt:lpstr>
      <vt:lpstr>Consolas</vt:lpstr>
      <vt:lpstr>Helvetica</vt:lpstr>
      <vt:lpstr>GestaltVTI</vt:lpstr>
      <vt:lpstr> NLP Toxicity Detection  Thodoris Charos mscaidl-0077    AIDL_A_02 - Neural Networks and Deep Learning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OTE-COSMOTE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CNN1  </dc:title>
  <dc:creator>Charos Thodoris</dc:creator>
  <cp:lastModifiedBy>Charos Thodoris</cp:lastModifiedBy>
  <cp:revision>182</cp:revision>
  <cp:lastPrinted>2026-01-14T09:55:15Z</cp:lastPrinted>
  <dcterms:created xsi:type="dcterms:W3CDTF">2025-07-28T06:24:18Z</dcterms:created>
  <dcterms:modified xsi:type="dcterms:W3CDTF">2026-02-04T06:46:36Z</dcterms:modified>
</cp:coreProperties>
</file>