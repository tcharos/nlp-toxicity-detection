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handoutMasterIdLst>
    <p:handoutMasterId r:id="rId16"/>
  </p:handoutMasterIdLst>
  <p:sldIdLst>
    <p:sldId id="266" r:id="rId2"/>
    <p:sldId id="267" r:id="rId3"/>
    <p:sldId id="281" r:id="rId4"/>
    <p:sldId id="277" r:id="rId5"/>
    <p:sldId id="282" r:id="rId6"/>
    <p:sldId id="283" r:id="rId7"/>
    <p:sldId id="284" r:id="rId8"/>
    <p:sldId id="278" r:id="rId9"/>
    <p:sldId id="279" r:id="rId10"/>
    <p:sldId id="280" r:id="rId11"/>
    <p:sldId id="285" r:id="rId12"/>
    <p:sldId id="286" r:id="rId13"/>
    <p:sldId id="276" r:id="rId14"/>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32047E5-66FF-4ED5-B921-DC1BEB7A9EB5}">
          <p14:sldIdLst>
            <p14:sldId id="266"/>
            <p14:sldId id="267"/>
            <p14:sldId id="281"/>
            <p14:sldId id="277"/>
            <p14:sldId id="282"/>
            <p14:sldId id="283"/>
            <p14:sldId id="284"/>
            <p14:sldId id="278"/>
            <p14:sldId id="279"/>
            <p14:sldId id="280"/>
            <p14:sldId id="285"/>
            <p14:sldId id="286"/>
            <p14:sldId id="27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266" autoAdjust="0"/>
    <p:restoredTop sz="94660" autoAdjust="0"/>
  </p:normalViewPr>
  <p:slideViewPr>
    <p:cSldViewPr snapToGrid="0">
      <p:cViewPr varScale="1">
        <p:scale>
          <a:sx n="116" d="100"/>
          <a:sy n="116" d="100"/>
        </p:scale>
        <p:origin x="360" y="18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91" d="100"/>
          <a:sy n="91" d="100"/>
        </p:scale>
        <p:origin x="4056"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EBC7C8E-6930-4EC6-0349-F4E1AD7318D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a:extLst>
              <a:ext uri="{FF2B5EF4-FFF2-40B4-BE49-F238E27FC236}">
                <a16:creationId xmlns:a16="http://schemas.microsoft.com/office/drawing/2014/main" id="{3594F36B-F8D4-20C2-0AA4-0A980DEEAE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AF42606-CFC7-4350-BF7D-F79705CBB3DF}" type="datetimeFigureOut">
              <a:rPr lang="el-GR" smtClean="0"/>
              <a:t>16/2/26</a:t>
            </a:fld>
            <a:endParaRPr lang="el-GR"/>
          </a:p>
        </p:txBody>
      </p:sp>
      <p:sp>
        <p:nvSpPr>
          <p:cNvPr id="4" name="Footer Placeholder 3">
            <a:extLst>
              <a:ext uri="{FF2B5EF4-FFF2-40B4-BE49-F238E27FC236}">
                <a16:creationId xmlns:a16="http://schemas.microsoft.com/office/drawing/2014/main" id="{76D241F7-77E7-FBF1-D3F6-31151152B87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5" name="Slide Number Placeholder 4">
            <a:extLst>
              <a:ext uri="{FF2B5EF4-FFF2-40B4-BE49-F238E27FC236}">
                <a16:creationId xmlns:a16="http://schemas.microsoft.com/office/drawing/2014/main" id="{18E5B911-6782-34D2-79C2-1971B69248C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0C228F3-D31F-40E4-8BF6-6669F66BD45C}" type="slidenum">
              <a:rPr lang="el-GR" smtClean="0"/>
              <a:t>‹#›</a:t>
            </a:fld>
            <a:endParaRPr lang="el-GR"/>
          </a:p>
        </p:txBody>
      </p:sp>
    </p:spTree>
    <p:extLst>
      <p:ext uri="{BB962C8B-B14F-4D97-AF65-F5344CB8AC3E}">
        <p14:creationId xmlns:p14="http://schemas.microsoft.com/office/powerpoint/2010/main" val="320688140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D7115-7C26-4374-AB2C-A3EA9DC26E87}" type="datetimeFigureOut">
              <a:rPr lang="el-GR" smtClean="0"/>
              <a:t>16/2/26</a:t>
            </a:fld>
            <a:endParaRPr lang="el-G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BA513B-9453-4206-8508-2E27295AE2EE}" type="slidenum">
              <a:rPr lang="el-GR" smtClean="0"/>
              <a:t>‹#›</a:t>
            </a:fld>
            <a:endParaRPr lang="el-GR"/>
          </a:p>
        </p:txBody>
      </p:sp>
    </p:spTree>
    <p:extLst>
      <p:ext uri="{BB962C8B-B14F-4D97-AF65-F5344CB8AC3E}">
        <p14:creationId xmlns:p14="http://schemas.microsoft.com/office/powerpoint/2010/main" val="2131194261"/>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106502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753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4609304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193068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47159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r>
              <a:rPr lang="el-GR"/>
              <a:t>September 2025</a:t>
            </a:r>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r>
              <a:rPr lang="en-US"/>
              <a:t>MSc Artificial Intelligence &amp; Deep Learning</a:t>
            </a:r>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035248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r>
              <a:rPr lang="el-GR"/>
              <a:t>September 2025</a:t>
            </a:r>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r>
              <a:rPr lang="en-US"/>
              <a:t>MSc Artificial Intelligence &amp; Deep Learning</a:t>
            </a:r>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248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r>
              <a:rPr lang="el-GR"/>
              <a:t>September 2025</a:t>
            </a:r>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40854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0566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5541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0877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2275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r>
              <a:rPr lang="el-GR"/>
              <a:t>September 2025</a:t>
            </a:r>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r>
              <a:rPr lang="en-US"/>
              <a:t>MSc Artificial Intelligence &amp; Deep Learning</a:t>
            </a:r>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316316476"/>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hdr="0" dt="0"/>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C46CC-3AA4-EEFD-DB8B-FE08BAA09AFD}"/>
              </a:ext>
            </a:extLst>
          </p:cNvPr>
          <p:cNvSpPr>
            <a:spLocks noGrp="1"/>
          </p:cNvSpPr>
          <p:nvPr>
            <p:ph type="title"/>
          </p:nvPr>
        </p:nvSpPr>
        <p:spPr>
          <a:xfrm>
            <a:off x="521208" y="978408"/>
            <a:ext cx="11155680" cy="5440680"/>
          </a:xfrm>
        </p:spPr>
        <p:txBody>
          <a:bodyPr>
            <a:normAutofit/>
          </a:bodyPr>
          <a:lstStyle/>
          <a:p>
            <a:pPr algn="ctr"/>
            <a:br>
              <a:rPr lang="en-US" sz="2800" dirty="0">
                <a:latin typeface="Calibri" panose="020F0502020204030204" pitchFamily="34" charset="0"/>
                <a:ea typeface="Calibri" panose="020F0502020204030204" pitchFamily="34" charset="0"/>
                <a:cs typeface="Calibri" panose="020F0502020204030204" pitchFamily="34" charset="0"/>
              </a:rPr>
            </a:br>
            <a: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NLP </a:t>
            </a:r>
            <a:r>
              <a:rPr lang="en-US" sz="3600" b="0" i="0" u="none" strike="noStrike">
                <a:solidFill>
                  <a:srgbClr val="0E2238"/>
                </a:solidFill>
                <a:effectLst/>
                <a:latin typeface="Calibri" panose="020F0502020204030204" pitchFamily="34" charset="0"/>
                <a:ea typeface="Calibri" panose="020F0502020204030204" pitchFamily="34" charset="0"/>
                <a:cs typeface="Calibri" panose="020F0502020204030204" pitchFamily="34" charset="0"/>
              </a:rPr>
              <a:t>Toxicity Detection</a:t>
            </a: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Thodoris Charos mscaidl-0077</a:t>
            </a: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AIDL_A_02 - </a:t>
            </a:r>
            <a:r>
              <a:rPr lang="en-US" sz="24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Neural Networks and Deep Learning</a:t>
            </a: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l-GR" dirty="0">
                <a:latin typeface="Calibri" panose="020F0502020204030204" pitchFamily="34" charset="0"/>
                <a:ea typeface="Calibri" panose="020F0502020204030204" pitchFamily="34" charset="0"/>
                <a:cs typeface="Calibri" panose="020F0502020204030204" pitchFamily="34" charset="0"/>
              </a:rPr>
            </a:br>
            <a:endParaRPr lang="el-GR" b="0"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9E1450AE-0E04-6DA8-5227-9D12689CDDBD}"/>
              </a:ext>
            </a:extLst>
          </p:cNvPr>
          <p:cNvSpPr>
            <a:spLocks noGrp="1"/>
          </p:cNvSpPr>
          <p:nvPr>
            <p:ph type="ftr" sz="quarter" idx="11"/>
          </p:nvPr>
        </p:nvSpPr>
        <p:spPr/>
        <p:txBody>
          <a:bodyPr/>
          <a:lstStyle/>
          <a:p>
            <a:r>
              <a:rPr lang="en-US" dirty="0">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E1CE9477-A47C-DB30-9ECE-BA44807821C1}"/>
              </a:ext>
            </a:extLst>
          </p:cNvPr>
          <p:cNvSpPr>
            <a:spLocks noGrp="1"/>
          </p:cNvSpPr>
          <p:nvPr>
            <p:ph type="sldNum" sz="quarter" idx="12"/>
          </p:nvPr>
        </p:nvSpPr>
        <p:spPr/>
        <p:txBody>
          <a:bodyPr/>
          <a:lstStyle/>
          <a:p>
            <a:fld id="{148CC95F-0247-41B6-91CF-DC97C76A7088}" type="slidenum">
              <a:rPr lang="en-US" smtClean="0"/>
              <a:t>1</a:t>
            </a:fld>
            <a:endParaRPr lang="en-US"/>
          </a:p>
        </p:txBody>
      </p:sp>
    </p:spTree>
    <p:extLst>
      <p:ext uri="{BB962C8B-B14F-4D97-AF65-F5344CB8AC3E}">
        <p14:creationId xmlns:p14="http://schemas.microsoft.com/office/powerpoint/2010/main" val="1967109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2</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769802"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(Custom Embeddings)</a:t>
            </a:r>
            <a:r>
              <a:rPr lang="en-GB" dirty="0">
                <a:latin typeface="Consolas" panose="020B0609020204030204" pitchFamily="49" charset="0"/>
                <a:cs typeface="Consolas" panose="020B0609020204030204" pitchFamily="49" charset="0"/>
              </a:rPr>
              <a:t> </a:t>
            </a:r>
          </a:p>
          <a:p>
            <a:r>
              <a:rPr lang="en-GB" dirty="0">
                <a:latin typeface="Consolas" panose="020B0609020204030204" pitchFamily="49" charset="0"/>
                <a:cs typeface="Consolas" panose="020B0609020204030204" pitchFamily="49" charset="0"/>
              </a:rPr>
              <a:t>--- F1-Score: 0.8187</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BC975BC1-3231-3ED9-0425-38741A253E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1208" y="2436239"/>
            <a:ext cx="3973674" cy="36315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9768A4A-0DED-D4D3-9B99-D4FA0F8A475F}"/>
              </a:ext>
            </a:extLst>
          </p:cNvPr>
          <p:cNvSpPr txBox="1"/>
          <p:nvPr/>
        </p:nvSpPr>
        <p:spPr>
          <a:xfrm>
            <a:off x="4946573" y="2436239"/>
            <a:ext cx="7042312"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Custom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881845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3</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643165"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a:t>
            </a:r>
            <a:r>
              <a:rPr lang="en-GB" b="1" dirty="0" err="1">
                <a:latin typeface="Consolas" panose="020B0609020204030204" pitchFamily="49" charset="0"/>
                <a:cs typeface="Consolas" panose="020B0609020204030204" pitchFamily="49" charset="0"/>
              </a:rPr>
              <a:t>GloVe</a:t>
            </a:r>
            <a:r>
              <a:rPr lang="en-GB" b="1" dirty="0">
                <a:latin typeface="Consolas" panose="020B0609020204030204" pitchFamily="49" charset="0"/>
                <a:cs typeface="Consolas" panose="020B0609020204030204" pitchFamily="49" charset="0"/>
              </a:rPr>
              <a:t> Embeddings) </a:t>
            </a:r>
          </a:p>
          <a:p>
            <a:r>
              <a:rPr lang="en-GB" dirty="0">
                <a:latin typeface="Consolas" panose="020B0609020204030204" pitchFamily="49" charset="0"/>
                <a:cs typeface="Consolas" panose="020B0609020204030204" pitchFamily="49" charset="0"/>
              </a:rPr>
              <a:t>--- F1-Score: 0.8228</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50C945D2-7AAA-D7C8-7474-74162F2282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6660" y="2438937"/>
            <a:ext cx="4000256" cy="36558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EC1A70-DE02-8195-17B7-720B40C8BC48}"/>
              </a:ext>
            </a:extLst>
          </p:cNvPr>
          <p:cNvSpPr txBox="1"/>
          <p:nvPr/>
        </p:nvSpPr>
        <p:spPr>
          <a:xfrm>
            <a:off x="4935556" y="2438937"/>
            <a:ext cx="694292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a:t>
            </a:r>
            <a:r>
              <a:rPr lang="en-GB" sz="1400" dirty="0" err="1">
                <a:latin typeface="Consolas" panose="020B0609020204030204" pitchFamily="49" charset="0"/>
                <a:cs typeface="Consolas" panose="020B0609020204030204" pitchFamily="49" charset="0"/>
              </a:rPr>
              <a:t>GloVe</a:t>
            </a:r>
            <a:r>
              <a:rPr lang="en-GB" sz="1400" dirty="0">
                <a:latin typeface="Consolas" panose="020B0609020204030204" pitchFamily="49" charset="0"/>
                <a:cs typeface="Consolas" panose="020B0609020204030204" pitchFamily="49" charset="0"/>
              </a:rPr>
              <a:t>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False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26071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4</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24319"/>
            <a:ext cx="3861955"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BERT-Base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2e-05,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224233"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BERT-Base --- </a:t>
            </a:r>
          </a:p>
          <a:p>
            <a:r>
              <a:rPr lang="en-GB" sz="1600" dirty="0">
                <a:latin typeface="Consolas" panose="020B0609020204030204" pitchFamily="49" charset="0"/>
                <a:cs typeface="Consolas" panose="020B0609020204030204" pitchFamily="49" charset="0"/>
              </a:rPr>
              <a:t>Pearson Correlation: 0.8885 </a:t>
            </a:r>
          </a:p>
          <a:p>
            <a:r>
              <a:rPr lang="en-GB" sz="1600" dirty="0">
                <a:latin typeface="Consolas" panose="020B0609020204030204" pitchFamily="49" charset="0"/>
                <a:cs typeface="Consolas" panose="020B0609020204030204" pitchFamily="49" charset="0"/>
              </a:rPr>
              <a:t>Spearman Correlation: 0.8851</a:t>
            </a:r>
            <a:endParaRPr lang="en-GR" sz="1600" dirty="0">
              <a:latin typeface="Consolas" panose="020B0609020204030204" pitchFamily="49" charset="0"/>
              <a:cs typeface="Consolas" panose="020B0609020204030204" pitchFamily="49" charset="0"/>
            </a:endParaRPr>
          </a:p>
        </p:txBody>
      </p:sp>
      <p:pic>
        <p:nvPicPr>
          <p:cNvPr id="3074" name="Picture 2">
            <a:extLst>
              <a:ext uri="{FF2B5EF4-FFF2-40B4-BE49-F238E27FC236}">
                <a16:creationId xmlns:a16="http://schemas.microsoft.com/office/drawing/2014/main" id="{3F8628F3-396C-7F3A-A364-5512F7CDC9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4295" y="1409647"/>
            <a:ext cx="5378183" cy="470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251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5</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46366"/>
            <a:ext cx="4160113"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RoBERTa</a:t>
            </a:r>
            <a:r>
              <a:rPr lang="en-GB" sz="1400" dirty="0">
                <a:latin typeface="Consolas" panose="020B0609020204030204" pitchFamily="49" charset="0"/>
                <a:cs typeface="Consolas" panose="020B0609020204030204" pitchFamily="49" charset="0"/>
              </a:rPr>
              <a: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3e-05,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32,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448654"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a:t>
            </a:r>
            <a:r>
              <a:rPr lang="en-GB" sz="1600" b="1" dirty="0" err="1">
                <a:latin typeface="Consolas" panose="020B0609020204030204" pitchFamily="49" charset="0"/>
                <a:cs typeface="Consolas" panose="020B0609020204030204" pitchFamily="49" charset="0"/>
              </a:rPr>
              <a:t>RoBERTa</a:t>
            </a:r>
            <a:r>
              <a:rPr lang="en-GB" sz="1600" b="1" dirty="0">
                <a:latin typeface="Consolas" panose="020B0609020204030204" pitchFamily="49" charset="0"/>
                <a:cs typeface="Consolas" panose="020B0609020204030204" pitchFamily="49" charset="0"/>
              </a:rPr>
              <a:t>-Base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0.9029</a:t>
            </a:r>
            <a:endParaRPr lang="en-GR" sz="1600" dirty="0">
              <a:latin typeface="Consolas" panose="020B0609020204030204" pitchFamily="49" charset="0"/>
              <a:cs typeface="Consolas" panose="020B0609020204030204" pitchFamily="49" charset="0"/>
            </a:endParaRPr>
          </a:p>
        </p:txBody>
      </p:sp>
      <p:pic>
        <p:nvPicPr>
          <p:cNvPr id="4098" name="Picture 2">
            <a:extLst>
              <a:ext uri="{FF2B5EF4-FFF2-40B4-BE49-F238E27FC236}">
                <a16:creationId xmlns:a16="http://schemas.microsoft.com/office/drawing/2014/main" id="{3FE18613-45BD-C3A6-0CB8-61C9D72DD1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2514" y="1404659"/>
            <a:ext cx="5439964" cy="47610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64078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6</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7" y="2421825"/>
            <a:ext cx="435888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DeBERTaV3-Base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1e-05,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7" y="1404659"/>
            <a:ext cx="4777906" cy="830997"/>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 STS-b Regression: DeBERTaV3-Base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0.9085</a:t>
            </a:r>
            <a:endParaRPr lang="en-GR" sz="1600" dirty="0">
              <a:latin typeface="Consolas" panose="020B0609020204030204" pitchFamily="49" charset="0"/>
              <a:cs typeface="Consolas" panose="020B0609020204030204" pitchFamily="49" charset="0"/>
            </a:endParaRPr>
          </a:p>
        </p:txBody>
      </p:sp>
      <p:pic>
        <p:nvPicPr>
          <p:cNvPr id="5122" name="Picture 2">
            <a:extLst>
              <a:ext uri="{FF2B5EF4-FFF2-40B4-BE49-F238E27FC236}">
                <a16:creationId xmlns:a16="http://schemas.microsoft.com/office/drawing/2014/main" id="{D07E70FF-6193-4BAC-642F-DD60BFEFC3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28595" y="1404659"/>
            <a:ext cx="5383883" cy="4711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2108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7</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5" name="TextBox 4">
            <a:extLst>
              <a:ext uri="{FF2B5EF4-FFF2-40B4-BE49-F238E27FC236}">
                <a16:creationId xmlns:a16="http://schemas.microsoft.com/office/drawing/2014/main" id="{70B96FE5-EF93-A4DE-809C-E3069E921102}"/>
              </a:ext>
            </a:extLst>
          </p:cNvPr>
          <p:cNvSpPr txBox="1"/>
          <p:nvPr/>
        </p:nvSpPr>
        <p:spPr>
          <a:xfrm>
            <a:off x="521208" y="1951672"/>
            <a:ext cx="8036174" cy="1477328"/>
          </a:xfrm>
          <a:prstGeom prst="rect">
            <a:avLst/>
          </a:prstGeom>
          <a:noFill/>
        </p:spPr>
        <p:txBody>
          <a:bodyPr wrap="none" rtlCol="0">
            <a:spAutoFit/>
          </a:bodyPr>
          <a:lstStyle/>
          <a:p>
            <a:r>
              <a:rPr lang="en-GB" dirty="0">
                <a:latin typeface="Consolas" panose="020B0609020204030204" pitchFamily="49" charset="0"/>
                <a:cs typeface="Consolas" panose="020B0609020204030204" pitchFamily="49" charset="0"/>
              </a:rPr>
              <a:t>--- BERT-Base vs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vs DeBERTaV3-Base Comparison ---</a:t>
            </a:r>
          </a:p>
          <a:p>
            <a:r>
              <a:rPr lang="en-GB" dirty="0">
                <a:latin typeface="Consolas" panose="020B0609020204030204" pitchFamily="49" charset="0"/>
                <a:cs typeface="Consolas" panose="020B0609020204030204" pitchFamily="49" charset="0"/>
              </a:rPr>
              <a:t>            Model  Pearson Correlation  Spearman Correlation</a:t>
            </a:r>
          </a:p>
          <a:p>
            <a:r>
              <a:rPr lang="en-GB" dirty="0">
                <a:latin typeface="Consolas" panose="020B0609020204030204" pitchFamily="49" charset="0"/>
                <a:cs typeface="Consolas" panose="020B0609020204030204" pitchFamily="49" charset="0"/>
              </a:rPr>
              <a:t>0       BERT-Base             0.888526              0.885080</a:t>
            </a:r>
          </a:p>
          <a:p>
            <a:r>
              <a:rPr lang="en-GB" dirty="0">
                <a:latin typeface="Consolas" panose="020B0609020204030204" pitchFamily="49" charset="0"/>
                <a:cs typeface="Consolas" panose="020B0609020204030204" pitchFamily="49" charset="0"/>
              </a:rPr>
              <a:t>1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0.905673              0.902887</a:t>
            </a:r>
          </a:p>
          <a:p>
            <a:r>
              <a:rPr lang="en-GB" dirty="0">
                <a:latin typeface="Consolas" panose="020B0609020204030204" pitchFamily="49" charset="0"/>
                <a:cs typeface="Consolas" panose="020B0609020204030204" pitchFamily="49" charset="0"/>
              </a:rPr>
              <a:t>2  DeBERTaV3-Base             0.905655              0.908510</a:t>
            </a:r>
            <a:endParaRPr lang="en-GR"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67931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8</a:t>
            </a:fld>
            <a:endParaRPr lang="en-US"/>
          </a:p>
        </p:txBody>
      </p:sp>
      <p:sp>
        <p:nvSpPr>
          <p:cNvPr id="7" name="TextBox 6">
            <a:extLst>
              <a:ext uri="{FF2B5EF4-FFF2-40B4-BE49-F238E27FC236}">
                <a16:creationId xmlns:a16="http://schemas.microsoft.com/office/drawing/2014/main" id="{99BE4938-60B5-676B-98C9-85F82E28A52A}"/>
              </a:ext>
            </a:extLst>
          </p:cNvPr>
          <p:cNvSpPr txBox="1"/>
          <p:nvPr/>
        </p:nvSpPr>
        <p:spPr>
          <a:xfrm>
            <a:off x="521208" y="952466"/>
            <a:ext cx="4442242" cy="400110"/>
          </a:xfrm>
          <a:prstGeom prst="rect">
            <a:avLst/>
          </a:prstGeom>
          <a:noFill/>
        </p:spPr>
        <p:txBody>
          <a:bodyPr wrap="none" rtlCol="0">
            <a:spAutoFit/>
          </a:bodyPr>
          <a:lstStyle/>
          <a:p>
            <a:r>
              <a:rPr lang="en-GB" sz="2000" b="1" dirty="0">
                <a:effectLst/>
                <a:latin typeface="Helvetica" pitchFamily="2" charset="0"/>
              </a:rPr>
              <a:t>3. Create custom RAG mechanism </a:t>
            </a:r>
          </a:p>
        </p:txBody>
      </p:sp>
      <p:sp>
        <p:nvSpPr>
          <p:cNvPr id="5" name="TextBox 4">
            <a:extLst>
              <a:ext uri="{FF2B5EF4-FFF2-40B4-BE49-F238E27FC236}">
                <a16:creationId xmlns:a16="http://schemas.microsoft.com/office/drawing/2014/main" id="{35A4B001-6A6C-665B-7065-2C2A7A725022}"/>
              </a:ext>
            </a:extLst>
          </p:cNvPr>
          <p:cNvSpPr txBox="1"/>
          <p:nvPr/>
        </p:nvSpPr>
        <p:spPr>
          <a:xfrm>
            <a:off x="521207" y="1467381"/>
            <a:ext cx="10936225" cy="4801314"/>
          </a:xfrm>
          <a:prstGeom prst="rect">
            <a:avLst/>
          </a:prstGeom>
          <a:noFill/>
        </p:spPr>
        <p:txBody>
          <a:bodyPr wrap="square" rtlCol="0">
            <a:spAutoFit/>
          </a:bodyPr>
          <a:lstStyle/>
          <a:p>
            <a:r>
              <a:rPr lang="en-GR" b="1" dirty="0"/>
              <a:t>Steps executed in code</a:t>
            </a:r>
          </a:p>
          <a:p>
            <a:endParaRPr lang="en-GR" b="1" dirty="0"/>
          </a:p>
          <a:p>
            <a:pPr marL="342900" indent="-342900">
              <a:buFont typeface="+mj-lt"/>
              <a:buAutoNum type="arabicPeriod"/>
            </a:pPr>
            <a:r>
              <a:rPr lang="en-GR" dirty="0"/>
              <a:t>PDF loaded with PyPDFloader and split to chunks (smaller pieces) in order to fit the LLM context window. Chunk size 1000 was used.</a:t>
            </a:r>
          </a:p>
          <a:p>
            <a:pPr marL="342900" indent="-342900">
              <a:buFont typeface="+mj-lt"/>
              <a:buAutoNum type="arabicPeriod"/>
            </a:pPr>
            <a:r>
              <a:rPr lang="en-GR" dirty="0"/>
              <a:t>The text was then converted to numerical vectors using </a:t>
            </a:r>
            <a:r>
              <a:rPr lang="en-GB" dirty="0"/>
              <a:t>all-MiniLM-L6-v2 model from the sentence-transformers</a:t>
            </a:r>
            <a:r>
              <a:rPr lang="en-GR" dirty="0"/>
              <a:t>. After the conversion it is saved in numpy array.</a:t>
            </a:r>
          </a:p>
          <a:p>
            <a:pPr marL="342900" indent="-342900">
              <a:buFont typeface="+mj-lt"/>
              <a:buAutoNum type="arabicPeriod"/>
            </a:pPr>
            <a:r>
              <a:rPr lang="en-GR" dirty="0"/>
              <a:t>The initial question is paraphrased and 2 more are created with </a:t>
            </a:r>
            <a:r>
              <a:rPr lang="en-GB" dirty="0"/>
              <a:t>Llama-3.2-3B-Instruct</a:t>
            </a:r>
            <a:r>
              <a:rPr lang="en-GR" dirty="0"/>
              <a:t> (same with task 5) with the help of Unsloth library for fast inference (</a:t>
            </a:r>
            <a:r>
              <a:rPr lang="en-GB" dirty="0"/>
              <a:t>Llama 3.2 Chat Template was used). This helps the model to capture different relevant text chunks.</a:t>
            </a:r>
          </a:p>
          <a:p>
            <a:pPr marL="342900" indent="-342900">
              <a:buFont typeface="+mj-lt"/>
              <a:buAutoNum type="arabicPeriod"/>
            </a:pPr>
            <a:r>
              <a:rPr lang="en-GB" dirty="0"/>
              <a:t>We use cosine similarity to calculate the “distance” between the query embeddings and the stored document embeddings.</a:t>
            </a:r>
          </a:p>
          <a:p>
            <a:pPr marL="342900" indent="-342900">
              <a:buFont typeface="+mj-lt"/>
              <a:buAutoNum type="arabicPeriod"/>
            </a:pPr>
            <a:r>
              <a:rPr lang="en-GB" dirty="0"/>
              <a:t>We then retrieve the top 5 most similar chunks for every question (initial and paraphrases) with a threshold of 0.3 to filter out results with lesser relevance. We select the top 3.</a:t>
            </a:r>
          </a:p>
          <a:p>
            <a:pPr marL="342900" indent="-342900">
              <a:buFont typeface="+mj-lt"/>
              <a:buAutoNum type="arabicPeriod"/>
            </a:pPr>
            <a:r>
              <a:rPr lang="en-GB" dirty="0"/>
              <a:t>Finally we combine the retrieved knowledge with the LLM’s reasoning power. We build a prompt that includes the retrieved text chunks as a reference and the original question. Based on that the LLM generates an answer based on the textbook information.</a:t>
            </a:r>
          </a:p>
          <a:p>
            <a:pPr marL="342900" indent="-342900">
              <a:buFont typeface="+mj-lt"/>
              <a:buAutoNum type="arabicPeriod"/>
            </a:pPr>
            <a:endParaRPr lang="en-GR" dirty="0"/>
          </a:p>
        </p:txBody>
      </p:sp>
    </p:spTree>
    <p:extLst>
      <p:ext uri="{BB962C8B-B14F-4D97-AF65-F5344CB8AC3E}">
        <p14:creationId xmlns:p14="http://schemas.microsoft.com/office/powerpoint/2010/main" val="3960178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9</a:t>
            </a:fld>
            <a:endParaRPr lang="en-US"/>
          </a:p>
        </p:txBody>
      </p:sp>
      <p:sp>
        <p:nvSpPr>
          <p:cNvPr id="8" name="TextBox 7">
            <a:extLst>
              <a:ext uri="{FF2B5EF4-FFF2-40B4-BE49-F238E27FC236}">
                <a16:creationId xmlns:a16="http://schemas.microsoft.com/office/drawing/2014/main" id="{1E4068ED-6E14-0496-C054-CFF06F18C4F9}"/>
              </a:ext>
            </a:extLst>
          </p:cNvPr>
          <p:cNvSpPr txBox="1"/>
          <p:nvPr/>
        </p:nvSpPr>
        <p:spPr>
          <a:xfrm>
            <a:off x="521208" y="947450"/>
            <a:ext cx="10177786" cy="707886"/>
          </a:xfrm>
          <a:prstGeom prst="rect">
            <a:avLst/>
          </a:prstGeom>
          <a:noFill/>
        </p:spPr>
        <p:txBody>
          <a:bodyPr wrap="none" rtlCol="0">
            <a:spAutoFit/>
          </a:bodyPr>
          <a:lstStyle/>
          <a:p>
            <a:r>
              <a:rPr lang="en-GR" sz="2000" b="1" dirty="0"/>
              <a:t>4. </a:t>
            </a:r>
            <a:r>
              <a:rPr lang="en-GB" sz="2000" b="1" dirty="0">
                <a:effectLst/>
                <a:latin typeface="Helvetica" pitchFamily="2" charset="0"/>
              </a:rPr>
              <a:t>Collect via prompt engineering a list of answers on questions for deep learning </a:t>
            </a:r>
          </a:p>
          <a:p>
            <a:r>
              <a:rPr lang="en-GB" sz="2000" b="1" dirty="0">
                <a:effectLst/>
                <a:latin typeface="Helvetica" pitchFamily="2" charset="0"/>
              </a:rPr>
              <a:t>providing two answers one gentle and one toxic (Gordon Ramsay style) </a:t>
            </a:r>
          </a:p>
        </p:txBody>
      </p:sp>
      <p:sp>
        <p:nvSpPr>
          <p:cNvPr id="2" name="TextBox 1">
            <a:extLst>
              <a:ext uri="{FF2B5EF4-FFF2-40B4-BE49-F238E27FC236}">
                <a16:creationId xmlns:a16="http://schemas.microsoft.com/office/drawing/2014/main" id="{F293CC40-FFCF-C4BA-8FAF-B567E1FD9312}"/>
              </a:ext>
            </a:extLst>
          </p:cNvPr>
          <p:cNvSpPr txBox="1"/>
          <p:nvPr/>
        </p:nvSpPr>
        <p:spPr>
          <a:xfrm>
            <a:off x="521208" y="2302526"/>
            <a:ext cx="801823" cy="369332"/>
          </a:xfrm>
          <a:prstGeom prst="rect">
            <a:avLst/>
          </a:prstGeom>
          <a:noFill/>
        </p:spPr>
        <p:txBody>
          <a:bodyPr wrap="none" rtlCol="0">
            <a:spAutoFit/>
          </a:bodyPr>
          <a:lstStyle/>
          <a:p>
            <a:r>
              <a:rPr lang="en-GR" dirty="0"/>
              <a:t>DONE</a:t>
            </a:r>
          </a:p>
        </p:txBody>
      </p:sp>
      <p:sp>
        <p:nvSpPr>
          <p:cNvPr id="10" name="TextBox 9">
            <a:extLst>
              <a:ext uri="{FF2B5EF4-FFF2-40B4-BE49-F238E27FC236}">
                <a16:creationId xmlns:a16="http://schemas.microsoft.com/office/drawing/2014/main" id="{E3333BCC-0665-0EDC-E528-23484F1BB05B}"/>
              </a:ext>
            </a:extLst>
          </p:cNvPr>
          <p:cNvSpPr txBox="1"/>
          <p:nvPr/>
        </p:nvSpPr>
        <p:spPr>
          <a:xfrm>
            <a:off x="521208" y="3059668"/>
            <a:ext cx="4693593" cy="369332"/>
          </a:xfrm>
          <a:prstGeom prst="rect">
            <a:avLst/>
          </a:prstGeom>
          <a:noFill/>
        </p:spPr>
        <p:txBody>
          <a:bodyPr wrap="none" rtlCol="0">
            <a:spAutoFit/>
          </a:bodyPr>
          <a:lstStyle/>
          <a:p>
            <a:r>
              <a:rPr lang="en-GB" dirty="0"/>
              <a:t>Filename: mscaidl-0077_ramsay_dataset.csv</a:t>
            </a:r>
            <a:endParaRPr lang="en-GR" dirty="0"/>
          </a:p>
        </p:txBody>
      </p:sp>
    </p:spTree>
    <p:extLst>
      <p:ext uri="{BB962C8B-B14F-4D97-AF65-F5344CB8AC3E}">
        <p14:creationId xmlns:p14="http://schemas.microsoft.com/office/powerpoint/2010/main" val="2962946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10</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30F968A6-185B-3595-518C-4D3874B7B1B6}"/>
              </a:ext>
            </a:extLst>
          </p:cNvPr>
          <p:cNvSpPr txBox="1"/>
          <p:nvPr/>
        </p:nvSpPr>
        <p:spPr>
          <a:xfrm>
            <a:off x="521208" y="1681825"/>
            <a:ext cx="4526817" cy="369332"/>
          </a:xfrm>
          <a:prstGeom prst="rect">
            <a:avLst/>
          </a:prstGeom>
          <a:noFill/>
        </p:spPr>
        <p:txBody>
          <a:bodyPr wrap="none" rtlCol="0">
            <a:spAutoFit/>
          </a:bodyPr>
          <a:lstStyle/>
          <a:p>
            <a:r>
              <a:rPr lang="en-GB" dirty="0"/>
              <a:t>Model used: </a:t>
            </a:r>
            <a:r>
              <a:rPr lang="en-GB" dirty="0" err="1"/>
              <a:t>unsloth</a:t>
            </a:r>
            <a:r>
              <a:rPr lang="en-GB" dirty="0"/>
              <a:t>/Llama-3.2-3B-Instruct</a:t>
            </a:r>
            <a:endParaRPr lang="en-GR" dirty="0"/>
          </a:p>
        </p:txBody>
      </p:sp>
      <p:sp>
        <p:nvSpPr>
          <p:cNvPr id="6" name="TextBox 5">
            <a:extLst>
              <a:ext uri="{FF2B5EF4-FFF2-40B4-BE49-F238E27FC236}">
                <a16:creationId xmlns:a16="http://schemas.microsoft.com/office/drawing/2014/main" id="{1A80C2A6-9546-2FFE-C719-69FC3E4C4AE5}"/>
              </a:ext>
            </a:extLst>
          </p:cNvPr>
          <p:cNvSpPr txBox="1"/>
          <p:nvPr/>
        </p:nvSpPr>
        <p:spPr>
          <a:xfrm>
            <a:off x="521208" y="2366827"/>
            <a:ext cx="6446701" cy="1200329"/>
          </a:xfrm>
          <a:prstGeom prst="rect">
            <a:avLst/>
          </a:prstGeom>
          <a:noFill/>
        </p:spPr>
        <p:txBody>
          <a:bodyPr wrap="none" rtlCol="0">
            <a:spAutoFit/>
          </a:bodyPr>
          <a:lstStyle/>
          <a:p>
            <a:r>
              <a:rPr lang="en-GB" dirty="0"/>
              <a:t>Generating responses for 100 questions...</a:t>
            </a:r>
          </a:p>
          <a:p>
            <a:r>
              <a:rPr lang="en-GB" dirty="0"/>
              <a:t>Start Cosine Similarity Calculation (Model vs. Original Ramsay)</a:t>
            </a:r>
          </a:p>
          <a:p>
            <a:r>
              <a:rPr lang="en-GB" dirty="0"/>
              <a:t>Process Complete.</a:t>
            </a:r>
          </a:p>
          <a:p>
            <a:r>
              <a:rPr lang="en-GB" dirty="0"/>
              <a:t>Average Similarity to Original Ramsay: 0.3638</a:t>
            </a:r>
            <a:endParaRPr lang="en-GR" dirty="0"/>
          </a:p>
        </p:txBody>
      </p:sp>
      <p:sp>
        <p:nvSpPr>
          <p:cNvPr id="7" name="TextBox 6">
            <a:extLst>
              <a:ext uri="{FF2B5EF4-FFF2-40B4-BE49-F238E27FC236}">
                <a16:creationId xmlns:a16="http://schemas.microsoft.com/office/drawing/2014/main" id="{FE5DA93D-4E02-08C9-8DC4-7AEA043A599F}"/>
              </a:ext>
            </a:extLst>
          </p:cNvPr>
          <p:cNvSpPr txBox="1"/>
          <p:nvPr/>
        </p:nvSpPr>
        <p:spPr>
          <a:xfrm>
            <a:off x="7143977" y="1681825"/>
            <a:ext cx="3861955" cy="3108543"/>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BASE_CONFIG = {</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gradient_accumulation_steps</a:t>
            </a:r>
            <a:r>
              <a:rPr lang="en-GB" sz="1400" dirty="0">
                <a:latin typeface="Consolas" panose="020B0609020204030204" pitchFamily="49" charset="0"/>
                <a:cs typeface="Consolas" panose="020B0609020204030204" pitchFamily="49" charset="0"/>
              </a:rPr>
              <a:t>': 4,</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warmup_ratio</a:t>
            </a:r>
            <a:r>
              <a:rPr lang="en-GB" sz="1400" dirty="0">
                <a:latin typeface="Consolas" panose="020B0609020204030204" pitchFamily="49" charset="0"/>
                <a:cs typeface="Consolas" panose="020B0609020204030204" pitchFamily="49" charset="0"/>
              </a:rPr>
              <a:t>': 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5e-5,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logging_steps</a:t>
            </a:r>
            <a:r>
              <a:rPr lang="en-GB" sz="1400" dirty="0">
                <a:latin typeface="Consolas" panose="020B0609020204030204" pitchFamily="49" charset="0"/>
                <a:cs typeface="Consolas" panose="020B0609020204030204" pitchFamily="49" charset="0"/>
              </a:rPr>
              <a:t>': 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optim</a:t>
            </a:r>
            <a:r>
              <a:rPr lang="en-GB" sz="1400" dirty="0">
                <a:latin typeface="Consolas" panose="020B0609020204030204" pitchFamily="49" charset="0"/>
                <a:cs typeface="Consolas" panose="020B0609020204030204" pitchFamily="49" charset="0"/>
              </a:rPr>
              <a:t>': "paged_adamw_32bit",</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lr_scheduler_type</a:t>
            </a:r>
            <a:r>
              <a:rPr lang="en-GB" sz="1400" dirty="0">
                <a:latin typeface="Consolas" panose="020B0609020204030204" pitchFamily="49" charset="0"/>
                <a:cs typeface="Consolas" panose="020B0609020204030204" pitchFamily="49" charset="0"/>
              </a:rPr>
              <a:t>': "linear",</a:t>
            </a:r>
          </a:p>
          <a:p>
            <a:r>
              <a:rPr lang="en-GB" sz="1400" dirty="0">
                <a:latin typeface="Consolas" panose="020B0609020204030204" pitchFamily="49" charset="0"/>
                <a:cs typeface="Consolas" panose="020B0609020204030204" pitchFamily="49" charset="0"/>
              </a:rPr>
              <a:t>    'beta': 0.2,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max_prompt_length</a:t>
            </a:r>
            <a:r>
              <a:rPr lang="en-GB" sz="1400" dirty="0">
                <a:latin typeface="Consolas" panose="020B0609020204030204" pitchFamily="49" charset="0"/>
                <a:cs typeface="Consolas" panose="020B0609020204030204" pitchFamily="49" charset="0"/>
              </a:rPr>
              <a:t>': 512,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max_length</a:t>
            </a:r>
            <a:r>
              <a:rPr lang="en-GB" sz="1400" dirty="0">
                <a:latin typeface="Consolas" panose="020B0609020204030204" pitchFamily="49" charset="0"/>
                <a:cs typeface="Consolas" panose="020B0609020204030204" pitchFamily="49" charset="0"/>
              </a:rPr>
              <a:t>': 1024,</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8402935D-7D2F-CD78-7048-79149345E433}"/>
              </a:ext>
            </a:extLst>
          </p:cNvPr>
          <p:cNvSpPr txBox="1"/>
          <p:nvPr/>
        </p:nvSpPr>
        <p:spPr>
          <a:xfrm>
            <a:off x="521208" y="3882826"/>
            <a:ext cx="4768485" cy="1200329"/>
          </a:xfrm>
          <a:prstGeom prst="rect">
            <a:avLst/>
          </a:prstGeom>
          <a:noFill/>
        </p:spPr>
        <p:txBody>
          <a:bodyPr wrap="none" rtlCol="0">
            <a:spAutoFit/>
          </a:bodyPr>
          <a:lstStyle/>
          <a:p>
            <a:r>
              <a:rPr lang="en-GR" dirty="0"/>
              <a:t>Training dataset was created by consolidating </a:t>
            </a:r>
          </a:p>
          <a:p>
            <a:r>
              <a:rPr lang="en-GR" dirty="0"/>
              <a:t>all individual *.csv in one test.csv file</a:t>
            </a:r>
          </a:p>
          <a:p>
            <a:endParaRPr lang="en-GR" dirty="0"/>
          </a:p>
          <a:p>
            <a:r>
              <a:rPr lang="en-GR" dirty="0"/>
              <a:t>Validation dataset was the one created by me</a:t>
            </a:r>
          </a:p>
        </p:txBody>
      </p:sp>
      <p:sp>
        <p:nvSpPr>
          <p:cNvPr id="5" name="TextBox 4">
            <a:extLst>
              <a:ext uri="{FF2B5EF4-FFF2-40B4-BE49-F238E27FC236}">
                <a16:creationId xmlns:a16="http://schemas.microsoft.com/office/drawing/2014/main" id="{1F801E00-5E59-532D-3A44-4AA4EE2F8DB1}"/>
              </a:ext>
            </a:extLst>
          </p:cNvPr>
          <p:cNvSpPr txBox="1"/>
          <p:nvPr/>
        </p:nvSpPr>
        <p:spPr>
          <a:xfrm>
            <a:off x="521208" y="5176175"/>
            <a:ext cx="10222670" cy="738664"/>
          </a:xfrm>
          <a:prstGeom prst="rect">
            <a:avLst/>
          </a:prstGeom>
          <a:noFill/>
        </p:spPr>
        <p:txBody>
          <a:bodyPr wrap="none" rtlCol="0">
            <a:spAutoFit/>
          </a:bodyPr>
          <a:lstStyle/>
          <a:p>
            <a:r>
              <a:rPr lang="en-GB" sz="1400" dirty="0" err="1">
                <a:latin typeface="Consolas" panose="020B0609020204030204" pitchFamily="49" charset="0"/>
                <a:cs typeface="Consolas" panose="020B0609020204030204" pitchFamily="49" charset="0"/>
              </a:rPr>
              <a:t>TrainOutput</a:t>
            </a:r>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global_step</a:t>
            </a:r>
            <a:r>
              <a:rPr lang="en-GB" sz="1400" dirty="0">
                <a:latin typeface="Consolas" panose="020B0609020204030204" pitchFamily="49" charset="0"/>
                <a:cs typeface="Consolas" panose="020B0609020204030204" pitchFamily="49" charset="0"/>
              </a:rPr>
              <a:t>=189, </a:t>
            </a:r>
            <a:r>
              <a:rPr lang="en-GB" sz="1400" dirty="0" err="1">
                <a:latin typeface="Consolas" panose="020B0609020204030204" pitchFamily="49" charset="0"/>
                <a:cs typeface="Consolas" panose="020B0609020204030204" pitchFamily="49" charset="0"/>
              </a:rPr>
              <a:t>training_loss</a:t>
            </a:r>
            <a:r>
              <a:rPr lang="en-GB" sz="1400" dirty="0">
                <a:latin typeface="Consolas" panose="020B0609020204030204" pitchFamily="49" charset="0"/>
                <a:cs typeface="Consolas" panose="020B0609020204030204" pitchFamily="49" charset="0"/>
              </a:rPr>
              <a:t>=0.20388893353279738, </a:t>
            </a:r>
          </a:p>
          <a:p>
            <a:r>
              <a:rPr lang="en-GB" sz="1400" dirty="0">
                <a:latin typeface="Consolas" panose="020B0609020204030204" pitchFamily="49" charset="0"/>
                <a:cs typeface="Consolas" panose="020B0609020204030204" pitchFamily="49" charset="0"/>
              </a:rPr>
              <a:t>metrics={'</a:t>
            </a:r>
            <a:r>
              <a:rPr lang="en-GB" sz="1400" dirty="0" err="1">
                <a:latin typeface="Consolas" panose="020B0609020204030204" pitchFamily="49" charset="0"/>
                <a:cs typeface="Consolas" panose="020B0609020204030204" pitchFamily="49" charset="0"/>
              </a:rPr>
              <a:t>train_runtime</a:t>
            </a:r>
            <a:r>
              <a:rPr lang="en-GB" sz="1400" dirty="0">
                <a:latin typeface="Consolas" panose="020B0609020204030204" pitchFamily="49" charset="0"/>
                <a:cs typeface="Consolas" panose="020B0609020204030204" pitchFamily="49" charset="0"/>
              </a:rPr>
              <a:t>': 464.4071, '</a:t>
            </a:r>
            <a:r>
              <a:rPr lang="en-GB" sz="1400" dirty="0" err="1">
                <a:latin typeface="Consolas" panose="020B0609020204030204" pitchFamily="49" charset="0"/>
                <a:cs typeface="Consolas" panose="020B0609020204030204" pitchFamily="49" charset="0"/>
              </a:rPr>
              <a:t>train_samples_per_second</a:t>
            </a:r>
            <a:r>
              <a:rPr lang="en-GB" sz="1400" dirty="0">
                <a:latin typeface="Consolas" panose="020B0609020204030204" pitchFamily="49" charset="0"/>
                <a:cs typeface="Consolas" panose="020B0609020204030204" pitchFamily="49" charset="0"/>
              </a:rPr>
              <a:t>': 3.23,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train_steps_per_second</a:t>
            </a:r>
            <a:r>
              <a:rPr lang="en-GB" sz="1400" dirty="0">
                <a:latin typeface="Consolas" panose="020B0609020204030204" pitchFamily="49" charset="0"/>
                <a:cs typeface="Consolas" panose="020B0609020204030204" pitchFamily="49" charset="0"/>
              </a:rPr>
              <a:t>': 0.407, '</a:t>
            </a:r>
            <a:r>
              <a:rPr lang="en-GB" sz="1400" dirty="0" err="1">
                <a:latin typeface="Consolas" panose="020B0609020204030204" pitchFamily="49" charset="0"/>
                <a:cs typeface="Consolas" panose="020B0609020204030204" pitchFamily="49" charset="0"/>
              </a:rPr>
              <a:t>total_flos</a:t>
            </a:r>
            <a:r>
              <a:rPr lang="en-GB" sz="1400" dirty="0">
                <a:latin typeface="Consolas" panose="020B0609020204030204" pitchFamily="49" charset="0"/>
                <a:cs typeface="Consolas" panose="020B0609020204030204" pitchFamily="49" charset="0"/>
              </a:rPr>
              <a:t>': 0.0, '</a:t>
            </a:r>
            <a:r>
              <a:rPr lang="en-GB" sz="1400" dirty="0" err="1">
                <a:latin typeface="Consolas" panose="020B0609020204030204" pitchFamily="49" charset="0"/>
                <a:cs typeface="Consolas" panose="020B0609020204030204" pitchFamily="49" charset="0"/>
              </a:rPr>
              <a:t>train_loss</a:t>
            </a:r>
            <a:r>
              <a:rPr lang="en-GB" sz="1400" dirty="0">
                <a:latin typeface="Consolas" panose="020B0609020204030204" pitchFamily="49" charset="0"/>
                <a:cs typeface="Consolas" panose="020B0609020204030204" pitchFamily="49" charset="0"/>
              </a:rPr>
              <a:t>': 0.20388893353279738, 'epoch': 3.0})</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678518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11</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5" name="TextBox 4">
            <a:extLst>
              <a:ext uri="{FF2B5EF4-FFF2-40B4-BE49-F238E27FC236}">
                <a16:creationId xmlns:a16="http://schemas.microsoft.com/office/drawing/2014/main" id="{C139169D-02EA-084D-6868-A52492F7B8D5}"/>
              </a:ext>
            </a:extLst>
          </p:cNvPr>
          <p:cNvSpPr txBox="1"/>
          <p:nvPr/>
        </p:nvSpPr>
        <p:spPr>
          <a:xfrm>
            <a:off x="521209" y="1477304"/>
            <a:ext cx="8721943" cy="369332"/>
          </a:xfrm>
          <a:prstGeom prst="rect">
            <a:avLst/>
          </a:prstGeom>
          <a:noFill/>
        </p:spPr>
        <p:txBody>
          <a:bodyPr wrap="square" rtlCol="0">
            <a:spAutoFit/>
          </a:bodyPr>
          <a:lstStyle/>
          <a:p>
            <a:r>
              <a:rPr lang="en-GB" dirty="0"/>
              <a:t>Sample Questions/Answers</a:t>
            </a:r>
          </a:p>
        </p:txBody>
      </p:sp>
      <p:graphicFrame>
        <p:nvGraphicFramePr>
          <p:cNvPr id="11" name="Table 10">
            <a:extLst>
              <a:ext uri="{FF2B5EF4-FFF2-40B4-BE49-F238E27FC236}">
                <a16:creationId xmlns:a16="http://schemas.microsoft.com/office/drawing/2014/main" id="{6EED5701-EFA9-6465-85ED-87C68559942C}"/>
              </a:ext>
            </a:extLst>
          </p:cNvPr>
          <p:cNvGraphicFramePr>
            <a:graphicFrameLocks noGrp="1"/>
          </p:cNvGraphicFramePr>
          <p:nvPr>
            <p:extLst>
              <p:ext uri="{D42A27DB-BD31-4B8C-83A1-F6EECF244321}">
                <p14:modId xmlns:p14="http://schemas.microsoft.com/office/powerpoint/2010/main" val="3265273556"/>
              </p:ext>
            </p:extLst>
          </p:nvPr>
        </p:nvGraphicFramePr>
        <p:xfrm>
          <a:off x="378248" y="1957785"/>
          <a:ext cx="11376750" cy="3489322"/>
        </p:xfrm>
        <a:graphic>
          <a:graphicData uri="http://schemas.openxmlformats.org/drawingml/2006/table">
            <a:tbl>
              <a:tblPr firstRow="1" bandRow="1">
                <a:tableStyleId>{69012ECD-51FC-41F1-AA8D-1B2483CD663E}</a:tableStyleId>
              </a:tblPr>
              <a:tblGrid>
                <a:gridCol w="2275350">
                  <a:extLst>
                    <a:ext uri="{9D8B030D-6E8A-4147-A177-3AD203B41FA5}">
                      <a16:colId xmlns:a16="http://schemas.microsoft.com/office/drawing/2014/main" val="4244057321"/>
                    </a:ext>
                  </a:extLst>
                </a:gridCol>
                <a:gridCol w="2275350">
                  <a:extLst>
                    <a:ext uri="{9D8B030D-6E8A-4147-A177-3AD203B41FA5}">
                      <a16:colId xmlns:a16="http://schemas.microsoft.com/office/drawing/2014/main" val="4125226041"/>
                    </a:ext>
                  </a:extLst>
                </a:gridCol>
                <a:gridCol w="2275350">
                  <a:extLst>
                    <a:ext uri="{9D8B030D-6E8A-4147-A177-3AD203B41FA5}">
                      <a16:colId xmlns:a16="http://schemas.microsoft.com/office/drawing/2014/main" val="4228042166"/>
                    </a:ext>
                  </a:extLst>
                </a:gridCol>
                <a:gridCol w="3479905">
                  <a:extLst>
                    <a:ext uri="{9D8B030D-6E8A-4147-A177-3AD203B41FA5}">
                      <a16:colId xmlns:a16="http://schemas.microsoft.com/office/drawing/2014/main" val="3871550087"/>
                    </a:ext>
                  </a:extLst>
                </a:gridCol>
                <a:gridCol w="1070795">
                  <a:extLst>
                    <a:ext uri="{9D8B030D-6E8A-4147-A177-3AD203B41FA5}">
                      <a16:colId xmlns:a16="http://schemas.microsoft.com/office/drawing/2014/main" val="460463167"/>
                    </a:ext>
                  </a:extLst>
                </a:gridCol>
              </a:tblGrid>
              <a:tr h="483270">
                <a:tc>
                  <a:txBody>
                    <a:bodyPr/>
                    <a:lstStyle/>
                    <a:p>
                      <a:r>
                        <a:rPr lang="en-GR" sz="1400" dirty="0"/>
                        <a:t>Question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Polite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Ramsay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DPO 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Similarity </a:t>
                      </a:r>
                    </a:p>
                    <a:p>
                      <a:r>
                        <a:rPr lang="en-GR" sz="1400" dirty="0"/>
                        <a:t>Score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721467"/>
                  </a:ext>
                </a:extLst>
              </a:tr>
              <a:tr h="675956">
                <a:tc>
                  <a:txBody>
                    <a:bodyPr/>
                    <a:lstStyle/>
                    <a:p>
                      <a:pPr algn="l" fontAlgn="b"/>
                      <a:r>
                        <a:rPr lang="en-GB" sz="1050" b="0" u="none" strike="noStrike" dirty="0">
                          <a:solidFill>
                            <a:srgbClr val="000000"/>
                          </a:solidFill>
                          <a:effectLst/>
                        </a:rPr>
                        <a:t>What is the benefit of a CNN for images?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CNNs use filters to capture spatial hierarchies and local patterns like edges.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treating pixels like a flat list! It is an image! Use a convolution and look at patterns you doughnut!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The answer is that it is faster than you! You'll be done before the image is finished loading!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0.111633345484</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215521"/>
                  </a:ext>
                </a:extLst>
              </a:tr>
              <a:tr h="675956">
                <a:tc>
                  <a:txBody>
                    <a:bodyPr/>
                    <a:lstStyle/>
                    <a:p>
                      <a:pPr algn="l" fontAlgn="b"/>
                      <a:r>
                        <a:rPr lang="en-GB" sz="1050" b="0" u="none" strike="noStrike" dirty="0">
                          <a:solidFill>
                            <a:srgbClr val="000000"/>
                          </a:solidFill>
                          <a:effectLst/>
                        </a:rPr>
                        <a:t>Why do we need a Validation set?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a:solidFill>
                            <a:srgbClr val="000000"/>
                          </a:solidFill>
                          <a:effectLst/>
                        </a:rPr>
                        <a:t>It provides an unbiased evaluation of a model while tuning hyperparameters.</a:t>
                      </a:r>
                      <a:endParaRPr lang="en-GB" sz="105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cannot taste your own dish and call it a Michelin star! Test it on something new or you are kidding yourself!</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need a validation set because you are probably going to mess it up! It's like a crash test dummy - it's there to see how you handle the inevitable mistakes!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0.143187433481</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91338"/>
                  </a:ext>
                </a:extLst>
              </a:tr>
              <a:tr h="675956">
                <a:tc>
                  <a:txBody>
                    <a:bodyPr/>
                    <a:lstStyle/>
                    <a:p>
                      <a:pPr algn="l" fontAlgn="b"/>
                      <a:r>
                        <a:rPr lang="en-GB" sz="1050" b="0" u="none" strike="noStrike" dirty="0">
                          <a:solidFill>
                            <a:srgbClr val="000000"/>
                          </a:solidFill>
                          <a:effectLst/>
                        </a:rPr>
                        <a:t>What is Early Stopping?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 is a technique where training is halted as soon as the validation error increases.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it is overcooked! The error is going up! Turn off the GPU before you burn the whole thing!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It's your wife! It's your wife! It's your wife! Oh, wait... You mean Early Stopping? It's when you stop buying unnecessary things because you're not going to need them, and then you realize you're not going to need that shirt either!</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0.209640681743</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1047559"/>
                  </a:ext>
                </a:extLst>
              </a:tr>
              <a:tr h="675956">
                <a:tc>
                  <a:txBody>
                    <a:bodyPr/>
                    <a:lstStyle/>
                    <a:p>
                      <a:pPr algn="l" fontAlgn="b"/>
                      <a:r>
                        <a:rPr lang="en-GB" sz="1050" b="0" u="none" strike="noStrike" dirty="0">
                          <a:solidFill>
                            <a:srgbClr val="000000"/>
                          </a:solidFill>
                          <a:effectLst/>
                        </a:rPr>
                        <a:t>Why do we use dropout in neural networks?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Dropout is a regularization technique that randomly deactivates neurons during training to prevent overfitting.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Without dropout, your network is a one-trick pony memorizing the menu! It's a bloated, overconfident fool! Dropout forces it to be robust, you donkey!</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don't. I do. I'm a dropout. Your neural network is probably failing because of my laziness.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0.542586147785</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8770834"/>
                  </a:ext>
                </a:extLst>
              </a:tr>
            </a:tbl>
          </a:graphicData>
        </a:graphic>
      </p:graphicFrame>
    </p:spTree>
    <p:extLst>
      <p:ext uri="{BB962C8B-B14F-4D97-AF65-F5344CB8AC3E}">
        <p14:creationId xmlns:p14="http://schemas.microsoft.com/office/powerpoint/2010/main" val="3533648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12</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605A3DA1-AFC0-26A4-C433-AF76394BD796}"/>
              </a:ext>
            </a:extLst>
          </p:cNvPr>
          <p:cNvSpPr txBox="1"/>
          <p:nvPr/>
        </p:nvSpPr>
        <p:spPr>
          <a:xfrm>
            <a:off x="521208" y="1367640"/>
            <a:ext cx="10136621" cy="4893647"/>
          </a:xfrm>
          <a:prstGeom prst="rect">
            <a:avLst/>
          </a:prstGeom>
          <a:noFill/>
        </p:spPr>
        <p:txBody>
          <a:bodyPr wrap="none" rtlCol="0">
            <a:spAutoFit/>
          </a:bodyPr>
          <a:lstStyle/>
          <a:p>
            <a:r>
              <a:rPr lang="en-GB" sz="1200" dirty="0"/>
              <a:t>==================================================</a:t>
            </a:r>
          </a:p>
          <a:p>
            <a:r>
              <a:rPr lang="en-GB" sz="1200" dirty="0"/>
              <a:t>PREVIEW OF FIRST 5 RAMSAY RESPONSES</a:t>
            </a:r>
          </a:p>
          <a:p>
            <a:r>
              <a:rPr lang="en-GB" sz="1200" dirty="0"/>
              <a:t>==================================================</a:t>
            </a:r>
          </a:p>
          <a:p>
            <a:endParaRPr lang="en-GB" sz="1200" dirty="0"/>
          </a:p>
          <a:p>
            <a:r>
              <a:rPr lang="en-GB" sz="1200" dirty="0"/>
              <a:t>STUDENT QUESTION: What is the purpose of a Padding token?</a:t>
            </a:r>
          </a:p>
          <a:p>
            <a:r>
              <a:rPr lang="en-GB" sz="1200" dirty="0"/>
              <a:t>RAMSAY RESPONSE:  The purpose of a padding token is to prevent someone from guessing your password. </a:t>
            </a:r>
          </a:p>
          <a:p>
            <a:r>
              <a:rPr lang="en-GB" sz="1200" dirty="0"/>
              <a:t>It is like a guardian angel that watches your back while you're sleeping. It's a safety net that prevents your password from being used by someone else. </a:t>
            </a:r>
          </a:p>
          <a:p>
            <a:r>
              <a:rPr lang="en-GB" sz="1200" dirty="0"/>
              <a:t>You can't just leave your house without locking the door, you know. Similarly, you</a:t>
            </a:r>
          </a:p>
          <a:p>
            <a:r>
              <a:rPr lang="en-GB" sz="1200" dirty="0"/>
              <a:t>SIMILARITY SCORE: 0.1535</a:t>
            </a:r>
          </a:p>
          <a:p>
            <a:r>
              <a:rPr lang="en-GB" sz="1200" dirty="0"/>
              <a:t>--------------------------------------------------</a:t>
            </a:r>
          </a:p>
          <a:p>
            <a:r>
              <a:rPr lang="en-GB" sz="1200" dirty="0"/>
              <a:t>STUDENT QUESTION: What is the purpose of Dropout?</a:t>
            </a:r>
          </a:p>
          <a:p>
            <a:r>
              <a:rPr lang="en-GB" sz="1200" dirty="0"/>
              <a:t>RAMSAY RESPONSE:  To let you know that you messed up and are not good enough!</a:t>
            </a:r>
          </a:p>
          <a:p>
            <a:r>
              <a:rPr lang="en-GB" sz="1200" dirty="0"/>
              <a:t>SIMILARITY SCORE: 0.0162</a:t>
            </a:r>
          </a:p>
          <a:p>
            <a:r>
              <a:rPr lang="en-GB" sz="1200" dirty="0"/>
              <a:t>--------------------------------------------------</a:t>
            </a:r>
          </a:p>
          <a:p>
            <a:r>
              <a:rPr lang="en-GB" sz="1200" dirty="0"/>
              <a:t>STUDENT QUESTION: Why normalize input data?</a:t>
            </a:r>
          </a:p>
          <a:p>
            <a:r>
              <a:rPr lang="en-GB" sz="1200" dirty="0"/>
              <a:t>RAMSAY RESPONSE:  Normalizing input data is like preparing your clothes for a fashion show! </a:t>
            </a:r>
          </a:p>
          <a:p>
            <a:r>
              <a:rPr lang="en-GB" sz="1200" dirty="0"/>
              <a:t>You want to look your best, not like you just rolled out of bed! It means making sure your numbers are in the right order, </a:t>
            </a:r>
          </a:p>
          <a:p>
            <a:r>
              <a:rPr lang="en-GB" sz="1200" dirty="0"/>
              <a:t>and that you're not giving the judges (or the algorithm) a headache with messy, jumbled data.</a:t>
            </a:r>
          </a:p>
          <a:p>
            <a:r>
              <a:rPr lang="en-GB" sz="1200" dirty="0"/>
              <a:t>SIMILARITY SCORE: 0.3246</a:t>
            </a:r>
          </a:p>
          <a:p>
            <a:r>
              <a:rPr lang="en-GB" sz="1200" dirty="0"/>
              <a:t>--------------------------------------------------</a:t>
            </a:r>
          </a:p>
          <a:p>
            <a:r>
              <a:rPr lang="en-GB" sz="1200" dirty="0"/>
              <a:t>STUDENT QUESTION: What is a Learning Rate?</a:t>
            </a:r>
          </a:p>
          <a:p>
            <a:r>
              <a:rPr lang="en-GB" sz="1200" dirty="0"/>
              <a:t>RAMSAY RESPONSE:  It’s not just a buzzword! A learning rate is the rate at which you learn new things. </a:t>
            </a:r>
          </a:p>
          <a:p>
            <a:r>
              <a:rPr lang="en-GB" sz="1200" dirty="0"/>
              <a:t>It’s how quickly you absorb and retain new information. It’s like how fast you can drink a glass of water – it depends on how thirsty you are! </a:t>
            </a:r>
          </a:p>
          <a:p>
            <a:r>
              <a:rPr lang="en-GB" sz="1200" dirty="0"/>
              <a:t>If you’re really thirsty, you can drink it fast</a:t>
            </a:r>
          </a:p>
          <a:p>
            <a:r>
              <a:rPr lang="en-GB" sz="1200" dirty="0"/>
              <a:t>SIMILARITY SCORE: 0.1886</a:t>
            </a:r>
          </a:p>
          <a:p>
            <a:r>
              <a:rPr lang="en-GB" sz="1200" dirty="0"/>
              <a:t>--------------------------------------------------</a:t>
            </a:r>
            <a:endParaRPr lang="en-GR" sz="1200" dirty="0"/>
          </a:p>
        </p:txBody>
      </p:sp>
    </p:spTree>
    <p:extLst>
      <p:ext uri="{BB962C8B-B14F-4D97-AF65-F5344CB8AC3E}">
        <p14:creationId xmlns:p14="http://schemas.microsoft.com/office/powerpoint/2010/main" val="1795927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Graphic 6" descr="Help">
            <a:extLst>
              <a:ext uri="{FF2B5EF4-FFF2-40B4-BE49-F238E27FC236}">
                <a16:creationId xmlns:a16="http://schemas.microsoft.com/office/drawing/2014/main" id="{EA79FB38-D1A1-3371-BAAE-40F23CCEDA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734217" y="2652107"/>
            <a:ext cx="1553785" cy="1553785"/>
          </a:xfrm>
          <a:prstGeom prst="rect">
            <a:avLst/>
          </a:prstGeom>
        </p:spPr>
      </p:pic>
      <p:sp>
        <p:nvSpPr>
          <p:cNvPr id="3" name="Content Placeholder 2">
            <a:extLst>
              <a:ext uri="{FF2B5EF4-FFF2-40B4-BE49-F238E27FC236}">
                <a16:creationId xmlns:a16="http://schemas.microsoft.com/office/drawing/2014/main" id="{3DA8BE34-BAEA-3750-2F00-C60ADE403396}"/>
              </a:ext>
            </a:extLst>
          </p:cNvPr>
          <p:cNvSpPr>
            <a:spLocks noGrp="1"/>
          </p:cNvSpPr>
          <p:nvPr>
            <p:ph idx="1"/>
          </p:nvPr>
        </p:nvSpPr>
        <p:spPr>
          <a:xfrm>
            <a:off x="4926221" y="1707701"/>
            <a:ext cx="1169779" cy="532892"/>
          </a:xfrm>
        </p:spPr>
        <p:txBody>
          <a:bodyPr>
            <a:noAutofit/>
          </a:bodyPr>
          <a:lstStyle/>
          <a:p>
            <a:pPr marL="0" indent="0">
              <a:buNone/>
            </a:pPr>
            <a:r>
              <a:rPr lang="en-US" sz="2800" b="1" dirty="0">
                <a:latin typeface="Calibri" panose="020F0502020204030204" pitchFamily="34" charset="0"/>
                <a:ea typeface="Calibri" panose="020F0502020204030204" pitchFamily="34" charset="0"/>
                <a:cs typeface="Calibri" panose="020F0502020204030204" pitchFamily="34" charset="0"/>
              </a:rPr>
              <a:t>Q &amp; A</a:t>
            </a:r>
            <a:endParaRPr lang="el-GR" sz="2800" b="1" dirty="0">
              <a:latin typeface="Calibri" panose="020F0502020204030204" pitchFamily="34" charset="0"/>
              <a:ea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F94331BF-C6FE-7A77-F0A5-1DBF573812F7}"/>
              </a:ext>
            </a:extLst>
          </p:cNvPr>
          <p:cNvSpPr txBox="1"/>
          <p:nvPr/>
        </p:nvSpPr>
        <p:spPr>
          <a:xfrm>
            <a:off x="4438650" y="1029199"/>
            <a:ext cx="2374900" cy="584775"/>
          </a:xfrm>
          <a:prstGeom prst="rect">
            <a:avLst/>
          </a:prstGeom>
          <a:noFill/>
        </p:spPr>
        <p:txBody>
          <a:bodyPr wrap="square" rtlCol="0">
            <a:spAutoFit/>
          </a:bodyPr>
          <a:lstStyle/>
          <a:p>
            <a:r>
              <a:rPr lang="en-US" sz="3200" b="1" dirty="0">
                <a:latin typeface="Calibri" panose="020F0502020204030204" pitchFamily="34" charset="0"/>
                <a:ea typeface="Calibri" panose="020F0502020204030204" pitchFamily="34" charset="0"/>
                <a:cs typeface="Calibri" panose="020F0502020204030204" pitchFamily="34" charset="0"/>
              </a:rPr>
              <a:t>Thank You!</a:t>
            </a:r>
            <a:endParaRPr lang="el-GR" sz="32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BD4AA722-7468-8563-65BE-6248FE0AAA17}"/>
              </a:ext>
            </a:extLst>
          </p:cNvPr>
          <p:cNvSpPr>
            <a:spLocks noGrp="1"/>
          </p:cNvSpPr>
          <p:nvPr>
            <p:ph type="ftr" sz="quarter" idx="11"/>
          </p:nvPr>
        </p:nvSpPr>
        <p:spPr/>
        <p:txBody>
          <a:bodyPr/>
          <a:lstStyle/>
          <a:p>
            <a:r>
              <a:rPr lang="en-US">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9FD42705-6282-39A6-2FC8-DC4819E7027F}"/>
              </a:ext>
            </a:extLst>
          </p:cNvPr>
          <p:cNvSpPr>
            <a:spLocks noGrp="1"/>
          </p:cNvSpPr>
          <p:nvPr>
            <p:ph type="sldNum" sz="quarter" idx="12"/>
          </p:nvPr>
        </p:nvSpPr>
        <p:spPr/>
        <p:txBody>
          <a:bodyPr/>
          <a:lstStyle/>
          <a:p>
            <a:fld id="{148CC95F-0247-41B6-91CF-DC97C76A7088}" type="slidenum">
              <a:rPr lang="en-US" smtClean="0">
                <a:latin typeface="Calibri" panose="020F0502020204030204" pitchFamily="34" charset="0"/>
                <a:ea typeface="Calibri" panose="020F0502020204030204" pitchFamily="34" charset="0"/>
                <a:cs typeface="Calibri" panose="020F0502020204030204" pitchFamily="34" charset="0"/>
              </a:rPr>
              <a:t>13</a:t>
            </a:fld>
            <a:endParaRPr lang="en-US">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01557641"/>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4370</TotalTime>
  <Words>1822</Words>
  <Application>Microsoft Macintosh PowerPoint</Application>
  <PresentationFormat>Widescreen</PresentationFormat>
  <Paragraphs>208</Paragraphs>
  <Slides>13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Bierstadt</vt:lpstr>
      <vt:lpstr>Calibri</vt:lpstr>
      <vt:lpstr>Consolas</vt:lpstr>
      <vt:lpstr>Helvetica</vt:lpstr>
      <vt:lpstr>GestaltVTI</vt:lpstr>
      <vt:lpstr> NLP Toxicity Detection  Thodoris Charos mscaidl-0077    AIDL_A_02 - Neural Networks and Deep Learning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OTE-COSMOTE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CNN1  </dc:title>
  <dc:creator>Charos Thodoris</dc:creator>
  <cp:lastModifiedBy>charos.thodoris@gmail.com</cp:lastModifiedBy>
  <cp:revision>185</cp:revision>
  <cp:lastPrinted>2026-01-14T09:55:15Z</cp:lastPrinted>
  <dcterms:created xsi:type="dcterms:W3CDTF">2025-07-28T06:24:18Z</dcterms:created>
  <dcterms:modified xsi:type="dcterms:W3CDTF">2026-02-16T10:10:00Z</dcterms:modified>
</cp:coreProperties>
</file>