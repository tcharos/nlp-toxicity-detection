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66" r:id="rId2"/>
    <p:sldId id="267" r:id="rId3"/>
    <p:sldId id="281" r:id="rId4"/>
    <p:sldId id="277" r:id="rId5"/>
    <p:sldId id="282" r:id="rId6"/>
    <p:sldId id="283" r:id="rId7"/>
    <p:sldId id="284" r:id="rId8"/>
    <p:sldId id="278" r:id="rId9"/>
    <p:sldId id="279" r:id="rId10"/>
    <p:sldId id="280" r:id="rId11"/>
    <p:sldId id="285" r:id="rId12"/>
    <p:sldId id="276" r:id="rId13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32047E5-66FF-4ED5-B921-DC1BEB7A9EB5}">
          <p14:sldIdLst>
            <p14:sldId id="266"/>
            <p14:sldId id="267"/>
            <p14:sldId id="281"/>
            <p14:sldId id="277"/>
            <p14:sldId id="282"/>
            <p14:sldId id="283"/>
            <p14:sldId id="284"/>
            <p14:sldId id="278"/>
            <p14:sldId id="279"/>
            <p14:sldId id="280"/>
            <p14:sldId id="285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66" autoAdjust="0"/>
    <p:restoredTop sz="94660" autoAdjust="0"/>
  </p:normalViewPr>
  <p:slideViewPr>
    <p:cSldViewPr snapToGrid="0">
      <p:cViewPr varScale="1">
        <p:scale>
          <a:sx n="116" d="100"/>
          <a:sy n="116" d="100"/>
        </p:scale>
        <p:origin x="440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4056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BC7C8E-6930-4EC6-0349-F4E1AD7318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4F36B-F8D4-20C2-0AA4-0A980DEEAE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42606-CFC7-4350-BF7D-F79705CBB3DF}" type="datetimeFigureOut">
              <a:rPr lang="el-GR" smtClean="0"/>
              <a:t>14/1/26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41F7-77E7-FBF1-D3F6-31151152B8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E5B911-6782-34D2-79C2-1971B69248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228F3-D31F-40E4-8BF6-6669F66BD45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688140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D7115-7C26-4374-AB2C-A3EA9DC26E87}" type="datetimeFigureOut">
              <a:rPr lang="el-GR" smtClean="0"/>
              <a:t>14/1/26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A513B-9453-4206-8508-2E27295AE2E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11942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065021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0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06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5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24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87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47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6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4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7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75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MSc Artificial Intelligence &amp; Deep Learning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C46CC-3AA4-EEFD-DB8B-FE08BAA0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5440680"/>
          </a:xfrm>
        </p:spPr>
        <p:txBody>
          <a:bodyPr>
            <a:normAutofit/>
          </a:bodyPr>
          <a:lstStyle/>
          <a:p>
            <a:pPr algn="ctr"/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Brain Cancer MRI classification</a:t>
            </a: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36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Thodoris Charos mscaidl-0077</a:t>
            </a: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AIDL_A_02 - </a:t>
            </a:r>
            <a:r>
              <a:rPr lang="en-US" sz="2400" b="0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Networks and Deep Learning</a:t>
            </a: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b="1" i="0" u="none" strike="noStrike" dirty="0">
                <a:solidFill>
                  <a:srgbClr val="0E223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l-GR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1450AE-0E04-6DA8-5227-9D12689C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E9477-A47C-DB30-9ECE-BA448078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09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947450"/>
            <a:ext cx="102297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effectLst/>
                <a:latin typeface="Helvetica" pitchFamily="2" charset="0"/>
              </a:rPr>
              <a:t>1. Train LSTM with custom and glove </a:t>
            </a:r>
            <a:r>
              <a:rPr lang="en-GB" sz="2000" b="1" dirty="0" err="1">
                <a:effectLst/>
                <a:latin typeface="Helvetica" pitchFamily="2" charset="0"/>
              </a:rPr>
              <a:t>embs</a:t>
            </a:r>
            <a:r>
              <a:rPr lang="en-GB" sz="2000" b="1" dirty="0">
                <a:effectLst/>
                <a:latin typeface="Helvetica" pitchFamily="2" charset="0"/>
              </a:rPr>
              <a:t> on a Toxicity detection dataset (binary)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4994B-0631-12B5-3828-C9D26D9DC042}"/>
              </a:ext>
            </a:extLst>
          </p:cNvPr>
          <p:cNvSpPr txBox="1"/>
          <p:nvPr/>
        </p:nvSpPr>
        <p:spPr>
          <a:xfrm>
            <a:off x="521208" y="1597446"/>
            <a:ext cx="6769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--- Binary Classification: LSTM (Custom Embeddings)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F1-Score: 0.8187</a:t>
            </a:r>
            <a:endParaRPr lang="en-GR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C975BC1-3231-3ED9-0425-38741A253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8" y="2436239"/>
            <a:ext cx="3973674" cy="3631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768A4A-0DED-D4D3-9B99-D4FA0F8A475F}"/>
              </a:ext>
            </a:extLst>
          </p:cNvPr>
          <p:cNvSpPr txBox="1"/>
          <p:nvPr/>
        </p:nvSpPr>
        <p:spPr>
          <a:xfrm>
            <a:off x="4946573" y="2436239"/>
            <a:ext cx="704231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 LSTM Custom Hyperparameters ====================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Epochs:          5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Batch Size:      32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Optimizer:       Adam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Learning Rate:   0.0010000000474974513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Loss Function: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binary_crossentropy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Embedding Dim:   100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Vocab Size:      12674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Trainable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Embs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 True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LSTM Units:      64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LSTM Dropout:    0.2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1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947450"/>
            <a:ext cx="102297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effectLst/>
                <a:latin typeface="Helvetica" pitchFamily="2" charset="0"/>
              </a:rPr>
              <a:t>1. Train LSTM with custom and glove </a:t>
            </a:r>
            <a:r>
              <a:rPr lang="en-GB" sz="2000" b="1" dirty="0" err="1">
                <a:effectLst/>
                <a:latin typeface="Helvetica" pitchFamily="2" charset="0"/>
              </a:rPr>
              <a:t>embs</a:t>
            </a:r>
            <a:r>
              <a:rPr lang="en-GB" sz="2000" b="1" dirty="0">
                <a:effectLst/>
                <a:latin typeface="Helvetica" pitchFamily="2" charset="0"/>
              </a:rPr>
              <a:t> on a Toxicity detection dataset (binary)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4994B-0631-12B5-3828-C9D26D9DC042}"/>
              </a:ext>
            </a:extLst>
          </p:cNvPr>
          <p:cNvSpPr txBox="1"/>
          <p:nvPr/>
        </p:nvSpPr>
        <p:spPr>
          <a:xfrm>
            <a:off x="521208" y="1597446"/>
            <a:ext cx="6643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--- Binary Classification: LSTM (</a:t>
            </a: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GloVe</a:t>
            </a: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 Embeddings) 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F1-Score: 0.8228</a:t>
            </a:r>
            <a:endParaRPr lang="en-GR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0C945D2-7AAA-D7C8-7474-74162F22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60" y="2438937"/>
            <a:ext cx="4000256" cy="3655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EC1A70-DE02-8195-17B7-720B40C8BC48}"/>
              </a:ext>
            </a:extLst>
          </p:cNvPr>
          <p:cNvSpPr txBox="1"/>
          <p:nvPr/>
        </p:nvSpPr>
        <p:spPr>
          <a:xfrm>
            <a:off x="4935556" y="2438937"/>
            <a:ext cx="694292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 LSTM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GloVe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Hyperparameters ====================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Epochs:          5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Batch Size:      32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Optimizer:       Adam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Learning Rate:   0.0010000000474974513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Loss Function: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binary_crossentropy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Embedding Dim:   100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Vocab Size:      12674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Trainable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Embs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 False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LSTM Units:      64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LSTM Dropout:    0.2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07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5625-9C94-561E-0D6A-590AAA6B3495}"/>
              </a:ext>
            </a:extLst>
          </p:cNvPr>
          <p:cNvSpPr txBox="1"/>
          <p:nvPr/>
        </p:nvSpPr>
        <p:spPr>
          <a:xfrm>
            <a:off x="521208" y="955467"/>
            <a:ext cx="110449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2. </a:t>
            </a:r>
            <a:r>
              <a:rPr lang="en-GB" sz="2000" b="1" dirty="0">
                <a:effectLst/>
                <a:latin typeface="Helvetica" pitchFamily="2" charset="0"/>
              </a:rPr>
              <a:t>Train 2 BERT-alike model (e.g. BERT, </a:t>
            </a:r>
            <a:r>
              <a:rPr lang="en-GB" sz="2000" b="1" dirty="0" err="1">
                <a:effectLst/>
                <a:latin typeface="Helvetica" pitchFamily="2" charset="0"/>
              </a:rPr>
              <a:t>RoBERTa</a:t>
            </a:r>
            <a:r>
              <a:rPr lang="en-GB" sz="2000" b="1" dirty="0">
                <a:effectLst/>
                <a:latin typeface="Helvetica" pitchFamily="2" charset="0"/>
              </a:rPr>
              <a:t>) on STS-b dataset (semantic similarity)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721E5-BACA-E02B-7A14-058EE4ED9D47}"/>
              </a:ext>
            </a:extLst>
          </p:cNvPr>
          <p:cNvSpPr txBox="1"/>
          <p:nvPr/>
        </p:nvSpPr>
        <p:spPr>
          <a:xfrm>
            <a:off x="521208" y="2424319"/>
            <a:ext cx="386195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--- BERT-Base Model Configuration ---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{'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eval_strategy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save_strategy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learning_rate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2e-05,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per_device_train_batch_size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16,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num_train_epochs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weight_decay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0.01,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load_best_model_at_end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remove_unused_columns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report_to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'none',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'fp16': False,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'bf16': True}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3F173F-0845-B894-1C1D-D0FA9B666C50}"/>
              </a:ext>
            </a:extLst>
          </p:cNvPr>
          <p:cNvSpPr txBox="1"/>
          <p:nvPr/>
        </p:nvSpPr>
        <p:spPr>
          <a:xfrm>
            <a:off x="521208" y="140465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--- STS-b Regression: BERT-Base --- 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Pearson Correlation: 0.8885 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Spearman Correlation: 0.8851</a:t>
            </a:r>
            <a:endParaRPr lang="en-GR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F8628F3-396C-7F3A-A364-5512F7CDC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295" y="1409647"/>
            <a:ext cx="5378183" cy="470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1251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5625-9C94-561E-0D6A-590AAA6B3495}"/>
              </a:ext>
            </a:extLst>
          </p:cNvPr>
          <p:cNvSpPr txBox="1"/>
          <p:nvPr/>
        </p:nvSpPr>
        <p:spPr>
          <a:xfrm>
            <a:off x="521208" y="955467"/>
            <a:ext cx="110449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2. </a:t>
            </a:r>
            <a:r>
              <a:rPr lang="en-GB" sz="2000" b="1" dirty="0">
                <a:effectLst/>
                <a:latin typeface="Helvetica" pitchFamily="2" charset="0"/>
              </a:rPr>
              <a:t>Train 2 BERT-alike model (e.g. BERT, </a:t>
            </a:r>
            <a:r>
              <a:rPr lang="en-GB" sz="2000" b="1" dirty="0" err="1">
                <a:effectLst/>
                <a:latin typeface="Helvetica" pitchFamily="2" charset="0"/>
              </a:rPr>
              <a:t>RoBERTa</a:t>
            </a:r>
            <a:r>
              <a:rPr lang="en-GB" sz="2000" b="1" dirty="0">
                <a:effectLst/>
                <a:latin typeface="Helvetica" pitchFamily="2" charset="0"/>
              </a:rPr>
              <a:t>) on STS-b dataset (semantic similarity)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721E5-BACA-E02B-7A14-058EE4ED9D47}"/>
              </a:ext>
            </a:extLst>
          </p:cNvPr>
          <p:cNvSpPr txBox="1"/>
          <p:nvPr/>
        </p:nvSpPr>
        <p:spPr>
          <a:xfrm>
            <a:off x="521208" y="2446366"/>
            <a:ext cx="416011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---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RoBERTa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-Base Model Configuration ---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{'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eval_strategy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save_strategy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learning_rate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3e-05,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per_device_train_batch_size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32,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num_train_epochs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weight_decay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0.01,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load_best_model_at_end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remove_unused_columns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report_to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'none',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'fp16': False,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'bf16': True}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3F173F-0845-B894-1C1D-D0FA9B666C50}"/>
              </a:ext>
            </a:extLst>
          </p:cNvPr>
          <p:cNvSpPr txBox="1"/>
          <p:nvPr/>
        </p:nvSpPr>
        <p:spPr>
          <a:xfrm>
            <a:off x="521208" y="1404659"/>
            <a:ext cx="44486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--- STS-b Regression: </a:t>
            </a:r>
            <a:r>
              <a:rPr lang="en-GB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RoBERTa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-Base ---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Pearson Correlation:  0.9057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Spearman Correlation: 0.9029</a:t>
            </a:r>
            <a:endParaRPr lang="en-GR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FE18613-45BD-C3A6-0CB8-61C9D72DD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14" y="1404659"/>
            <a:ext cx="5439964" cy="4761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6407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5625-9C94-561E-0D6A-590AAA6B3495}"/>
              </a:ext>
            </a:extLst>
          </p:cNvPr>
          <p:cNvSpPr txBox="1"/>
          <p:nvPr/>
        </p:nvSpPr>
        <p:spPr>
          <a:xfrm>
            <a:off x="521208" y="955467"/>
            <a:ext cx="110449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2. </a:t>
            </a:r>
            <a:r>
              <a:rPr lang="en-GB" sz="2000" b="1" dirty="0">
                <a:effectLst/>
                <a:latin typeface="Helvetica" pitchFamily="2" charset="0"/>
              </a:rPr>
              <a:t>Train 2 BERT-alike model (e.g. BERT, </a:t>
            </a:r>
            <a:r>
              <a:rPr lang="en-GB" sz="2000" b="1" dirty="0" err="1">
                <a:effectLst/>
                <a:latin typeface="Helvetica" pitchFamily="2" charset="0"/>
              </a:rPr>
              <a:t>RoBERTa</a:t>
            </a:r>
            <a:r>
              <a:rPr lang="en-GB" sz="2000" b="1" dirty="0">
                <a:effectLst/>
                <a:latin typeface="Helvetica" pitchFamily="2" charset="0"/>
              </a:rPr>
              <a:t>) on STS-b dataset (semantic similarity)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721E5-BACA-E02B-7A14-058EE4ED9D47}"/>
              </a:ext>
            </a:extLst>
          </p:cNvPr>
          <p:cNvSpPr txBox="1"/>
          <p:nvPr/>
        </p:nvSpPr>
        <p:spPr>
          <a:xfrm>
            <a:off x="521207" y="2421825"/>
            <a:ext cx="435888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--- DeBERTaV3-Base Model Configuration ---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{'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eval_strategy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save_strategy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'epoch',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learning_rate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1e-05,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per_device_train_batch_size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16,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num_train_epochs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weight_decay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0.01,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load_best_model_at_end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remove_unused_columns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True,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report_to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'none',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'fp16': False,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'bf16': True}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3F173F-0845-B894-1C1D-D0FA9B666C50}"/>
              </a:ext>
            </a:extLst>
          </p:cNvPr>
          <p:cNvSpPr txBox="1"/>
          <p:nvPr/>
        </p:nvSpPr>
        <p:spPr>
          <a:xfrm>
            <a:off x="521207" y="1404659"/>
            <a:ext cx="47779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--- STS-b Regression: DeBERTaV3-Base ---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Pearson Correlation:  0.9057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Spearman Correlation: 0.9085</a:t>
            </a:r>
            <a:endParaRPr lang="en-GR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07E70FF-6193-4BAC-642F-DD60BFEFC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8595" y="1404659"/>
            <a:ext cx="5383883" cy="4711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108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5625-9C94-561E-0D6A-590AAA6B3495}"/>
              </a:ext>
            </a:extLst>
          </p:cNvPr>
          <p:cNvSpPr txBox="1"/>
          <p:nvPr/>
        </p:nvSpPr>
        <p:spPr>
          <a:xfrm>
            <a:off x="521208" y="955467"/>
            <a:ext cx="110449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2. </a:t>
            </a:r>
            <a:r>
              <a:rPr lang="en-GB" sz="2000" b="1" dirty="0">
                <a:effectLst/>
                <a:latin typeface="Helvetica" pitchFamily="2" charset="0"/>
              </a:rPr>
              <a:t>Train 2 BERT-alike model (e.g. BERT, </a:t>
            </a:r>
            <a:r>
              <a:rPr lang="en-GB" sz="2000" b="1" dirty="0" err="1">
                <a:effectLst/>
                <a:latin typeface="Helvetica" pitchFamily="2" charset="0"/>
              </a:rPr>
              <a:t>RoBERTa</a:t>
            </a:r>
            <a:r>
              <a:rPr lang="en-GB" sz="2000" b="1" dirty="0">
                <a:effectLst/>
                <a:latin typeface="Helvetica" pitchFamily="2" charset="0"/>
              </a:rPr>
              <a:t>) on STS-b dataset (semantic similarity)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B96FE5-EF93-A4DE-809C-E3069E921102}"/>
              </a:ext>
            </a:extLst>
          </p:cNvPr>
          <p:cNvSpPr txBox="1"/>
          <p:nvPr/>
        </p:nvSpPr>
        <p:spPr>
          <a:xfrm>
            <a:off x="521208" y="1951672"/>
            <a:ext cx="803617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--- BERT-Base vs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RoBERTa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-Base vs DeBERTaV3-Base Comparison ---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    Model  Pearson Correlation  Spearman Correlation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       BERT-Base             0.888526              0.885080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1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RoBERTa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-Base             0.905673              0.902887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2  DeBERTaV3-Base             0.905655              0.908510</a:t>
            </a:r>
            <a:endParaRPr lang="en-GR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931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E4938-60B5-676B-98C9-85F82E28A52A}"/>
              </a:ext>
            </a:extLst>
          </p:cNvPr>
          <p:cNvSpPr txBox="1"/>
          <p:nvPr/>
        </p:nvSpPr>
        <p:spPr>
          <a:xfrm>
            <a:off x="521208" y="952466"/>
            <a:ext cx="44422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effectLst/>
                <a:latin typeface="Helvetica" pitchFamily="2" charset="0"/>
              </a:rPr>
              <a:t>3. Create custom RAG mechanism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A4B001-6A6C-665B-7065-2C2A7A725022}"/>
              </a:ext>
            </a:extLst>
          </p:cNvPr>
          <p:cNvSpPr txBox="1"/>
          <p:nvPr/>
        </p:nvSpPr>
        <p:spPr>
          <a:xfrm>
            <a:off x="521207" y="1467381"/>
            <a:ext cx="1093622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b="1" dirty="0"/>
              <a:t>Steps executed in code</a:t>
            </a:r>
          </a:p>
          <a:p>
            <a:endParaRPr lang="en-GR" b="1" dirty="0"/>
          </a:p>
          <a:p>
            <a:pPr marL="342900" indent="-342900">
              <a:buFont typeface="+mj-lt"/>
              <a:buAutoNum type="arabicPeriod"/>
            </a:pPr>
            <a:r>
              <a:rPr lang="en-GR" dirty="0"/>
              <a:t>PDF loaded with PyPDFloader and split to chunks (smaller pieces) in order to fit the LLM context window. Chunk size 1000 was used.</a:t>
            </a:r>
          </a:p>
          <a:p>
            <a:pPr marL="342900" indent="-342900">
              <a:buFont typeface="+mj-lt"/>
              <a:buAutoNum type="arabicPeriod"/>
            </a:pPr>
            <a:r>
              <a:rPr lang="en-GR" dirty="0"/>
              <a:t>The text was then converted to numerical vectors using </a:t>
            </a:r>
            <a:r>
              <a:rPr lang="en-GB" dirty="0"/>
              <a:t>all-MiniLM-L6-v2 model from the sentence-transformers</a:t>
            </a:r>
            <a:r>
              <a:rPr lang="en-GR" dirty="0"/>
              <a:t>. After the conversion it is saved in numpy array.</a:t>
            </a:r>
          </a:p>
          <a:p>
            <a:pPr marL="342900" indent="-342900">
              <a:buFont typeface="+mj-lt"/>
              <a:buAutoNum type="arabicPeriod"/>
            </a:pPr>
            <a:r>
              <a:rPr lang="en-GR" dirty="0"/>
              <a:t>The initial question is paraphrased and 2 more are created with </a:t>
            </a:r>
            <a:r>
              <a:rPr lang="en-GB" dirty="0"/>
              <a:t>Llama-3.2-3B-Instruct</a:t>
            </a:r>
            <a:r>
              <a:rPr lang="en-GR" dirty="0"/>
              <a:t> (same with task 5) with the help of Unsloth library for fast inference (</a:t>
            </a:r>
            <a:r>
              <a:rPr lang="en-GB" dirty="0"/>
              <a:t>Llama 3.2 Chat Template was used). This helps the model to capture different relevant text chunks.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We use cosine similarity to calculate the “distance” between the query embeddings and the stored document embeddings.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We then retrieve the top 5 most similar chunks for every question (initial and paraphrases) with a threshold of 0.3 to filter out results with lesser relevance. We select the top 3.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Finally we combine the retrieved knowledge with the LLM’s reasoning power. We build a prompt that includes the retrieved text chunks as a reference and the original question. Based on that the LLM generates an answer based on the textbook information.</a:t>
            </a:r>
          </a:p>
          <a:p>
            <a:pPr marL="342900" indent="-342900">
              <a:buFont typeface="+mj-lt"/>
              <a:buAutoNum type="arabicPeriod"/>
            </a:pP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3960178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4068ED-6E14-0496-C054-CFF06F18C4F9}"/>
              </a:ext>
            </a:extLst>
          </p:cNvPr>
          <p:cNvSpPr txBox="1"/>
          <p:nvPr/>
        </p:nvSpPr>
        <p:spPr>
          <a:xfrm>
            <a:off x="521208" y="947450"/>
            <a:ext cx="101777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4. </a:t>
            </a:r>
            <a:r>
              <a:rPr lang="en-GB" sz="2000" b="1" dirty="0">
                <a:effectLst/>
                <a:latin typeface="Helvetica" pitchFamily="2" charset="0"/>
              </a:rPr>
              <a:t>Collect via prompt engineering a list of answers on questions for deep learning </a:t>
            </a:r>
          </a:p>
          <a:p>
            <a:r>
              <a:rPr lang="en-GB" sz="2000" b="1" dirty="0">
                <a:effectLst/>
                <a:latin typeface="Helvetica" pitchFamily="2" charset="0"/>
              </a:rPr>
              <a:t>providing two answers one gentle and one toxic (Gordon Ramsay style)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93CC40-FFCF-C4BA-8FAF-B567E1FD9312}"/>
              </a:ext>
            </a:extLst>
          </p:cNvPr>
          <p:cNvSpPr txBox="1"/>
          <p:nvPr/>
        </p:nvSpPr>
        <p:spPr>
          <a:xfrm>
            <a:off x="521208" y="2302526"/>
            <a:ext cx="801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dirty="0"/>
              <a:t>DONE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333BCC-0665-0EDC-E528-23484F1BB05B}"/>
              </a:ext>
            </a:extLst>
          </p:cNvPr>
          <p:cNvSpPr txBox="1"/>
          <p:nvPr/>
        </p:nvSpPr>
        <p:spPr>
          <a:xfrm>
            <a:off x="521208" y="3059668"/>
            <a:ext cx="4693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Filename: mscaidl-0077_ramsay_dataset.csv</a:t>
            </a:r>
            <a:endParaRPr lang="en-GR" dirty="0"/>
          </a:p>
        </p:txBody>
      </p:sp>
    </p:spTree>
    <p:extLst>
      <p:ext uri="{BB962C8B-B14F-4D97-AF65-F5344CB8AC3E}">
        <p14:creationId xmlns:p14="http://schemas.microsoft.com/office/powerpoint/2010/main" val="2962946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10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797F6-16DC-1A0C-2AC9-7459C93AC801}"/>
              </a:ext>
            </a:extLst>
          </p:cNvPr>
          <p:cNvSpPr txBox="1"/>
          <p:nvPr/>
        </p:nvSpPr>
        <p:spPr>
          <a:xfrm>
            <a:off x="521208" y="966045"/>
            <a:ext cx="7712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5. </a:t>
            </a:r>
            <a:r>
              <a:rPr lang="en-GB" sz="2000" b="1" dirty="0">
                <a:effectLst/>
                <a:latin typeface="Helvetica" pitchFamily="2" charset="0"/>
              </a:rPr>
              <a:t>Tune an LLM using DPO to always act like Gordon Ramsay!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F968A6-185B-3595-518C-4D3874B7B1B6}"/>
              </a:ext>
            </a:extLst>
          </p:cNvPr>
          <p:cNvSpPr txBox="1"/>
          <p:nvPr/>
        </p:nvSpPr>
        <p:spPr>
          <a:xfrm>
            <a:off x="521208" y="1681825"/>
            <a:ext cx="4526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Model used: </a:t>
            </a:r>
            <a:r>
              <a:rPr lang="en-GB" dirty="0" err="1"/>
              <a:t>unsloth</a:t>
            </a:r>
            <a:r>
              <a:rPr lang="en-GB" dirty="0"/>
              <a:t>/Llama-3.2-3B-Instruct</a:t>
            </a:r>
            <a:endParaRPr lang="en-G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0C2A6-9546-2FFE-C719-69FC3E4C4AE5}"/>
              </a:ext>
            </a:extLst>
          </p:cNvPr>
          <p:cNvSpPr txBox="1"/>
          <p:nvPr/>
        </p:nvSpPr>
        <p:spPr>
          <a:xfrm>
            <a:off x="521208" y="2366827"/>
            <a:ext cx="43486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Generating responses for 100 questions...</a:t>
            </a:r>
          </a:p>
          <a:p>
            <a:r>
              <a:rPr lang="en-GB" dirty="0"/>
              <a:t>Start Cosine Similarity Calculation</a:t>
            </a:r>
          </a:p>
          <a:p>
            <a:r>
              <a:rPr lang="en-GB" dirty="0"/>
              <a:t>Process Complete.</a:t>
            </a:r>
          </a:p>
          <a:p>
            <a:r>
              <a:rPr lang="en-GB" dirty="0"/>
              <a:t>Average Similarity Score: 0.4681</a:t>
            </a:r>
            <a:endParaRPr lang="en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5DA93D-4E02-08C9-8DC4-7AEA043A599F}"/>
              </a:ext>
            </a:extLst>
          </p:cNvPr>
          <p:cNvSpPr txBox="1"/>
          <p:nvPr/>
        </p:nvSpPr>
        <p:spPr>
          <a:xfrm>
            <a:off x="6096000" y="1681825"/>
            <a:ext cx="386195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BASE_CONFIG =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per_device_train_batch_size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2,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gradient_accumulation_steps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4,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warmup_ratio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0.1,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num_train_epochs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3,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learning_rate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5e-5,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logging_steps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optim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"paged_adamw_32bit",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weight_decay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0.01,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lr_scheduler_type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"linear",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'beta': 0.2,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max_prompt_length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512,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'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max_length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': 1024,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GR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2935D-7D2F-CD78-7048-79149345E433}"/>
              </a:ext>
            </a:extLst>
          </p:cNvPr>
          <p:cNvSpPr txBox="1"/>
          <p:nvPr/>
        </p:nvSpPr>
        <p:spPr>
          <a:xfrm>
            <a:off x="521208" y="3882826"/>
            <a:ext cx="4768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dirty="0"/>
              <a:t>Training dataset was created by consolidating </a:t>
            </a:r>
          </a:p>
          <a:p>
            <a:r>
              <a:rPr lang="en-GR" dirty="0"/>
              <a:t>all individual *.csv in one test.csv file</a:t>
            </a:r>
          </a:p>
          <a:p>
            <a:r>
              <a:rPr lang="en-GR" dirty="0"/>
              <a:t>Validation dataset was the one created by me</a:t>
            </a:r>
          </a:p>
        </p:txBody>
      </p:sp>
    </p:spTree>
    <p:extLst>
      <p:ext uri="{BB962C8B-B14F-4D97-AF65-F5344CB8AC3E}">
        <p14:creationId xmlns:p14="http://schemas.microsoft.com/office/powerpoint/2010/main" val="1167851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797F6-16DC-1A0C-2AC9-7459C93AC801}"/>
              </a:ext>
            </a:extLst>
          </p:cNvPr>
          <p:cNvSpPr txBox="1"/>
          <p:nvPr/>
        </p:nvSpPr>
        <p:spPr>
          <a:xfrm>
            <a:off x="521208" y="966045"/>
            <a:ext cx="7712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000" b="1" dirty="0"/>
              <a:t>5. </a:t>
            </a:r>
            <a:r>
              <a:rPr lang="en-GB" sz="2000" b="1" dirty="0">
                <a:effectLst/>
                <a:latin typeface="Helvetica" pitchFamily="2" charset="0"/>
              </a:rPr>
              <a:t>Tune an LLM using DPO to always act like Gordon Ramsay!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39169D-02EA-084D-6868-A52492F7B8D5}"/>
              </a:ext>
            </a:extLst>
          </p:cNvPr>
          <p:cNvSpPr txBox="1"/>
          <p:nvPr/>
        </p:nvSpPr>
        <p:spPr>
          <a:xfrm>
            <a:off x="521209" y="1477304"/>
            <a:ext cx="8721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Sample Questions/Answers</a:t>
            </a:r>
          </a:p>
        </p:txBody>
      </p:sp>
    </p:spTree>
    <p:extLst>
      <p:ext uri="{BB962C8B-B14F-4D97-AF65-F5344CB8AC3E}">
        <p14:creationId xmlns:p14="http://schemas.microsoft.com/office/powerpoint/2010/main" val="3533648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EA79FB38-D1A1-3371-BAAE-40F23CCED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4217" y="2652107"/>
            <a:ext cx="1553785" cy="15537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8BE34-BAEA-3750-2F00-C60ADE403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6221" y="1707701"/>
            <a:ext cx="1169779" cy="5328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&amp; A</a:t>
            </a:r>
            <a:endParaRPr lang="el-GR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4331BF-C6FE-7A77-F0A5-1DBF573812F7}"/>
              </a:ext>
            </a:extLst>
          </p:cNvPr>
          <p:cNvSpPr txBox="1"/>
          <p:nvPr/>
        </p:nvSpPr>
        <p:spPr>
          <a:xfrm>
            <a:off x="4438650" y="1029199"/>
            <a:ext cx="237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l-GR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AA722-7468-8563-65BE-6248FE0A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42705-6282-39A6-2FC8-DC4819E7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55764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4335</TotalTime>
  <Words>1140</Words>
  <Application>Microsoft Macintosh PowerPoint</Application>
  <PresentationFormat>Widescreen</PresentationFormat>
  <Paragraphs>149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Bierstadt</vt:lpstr>
      <vt:lpstr>Calibri</vt:lpstr>
      <vt:lpstr>Consolas</vt:lpstr>
      <vt:lpstr>Helvetica</vt:lpstr>
      <vt:lpstr>GestaltVTI</vt:lpstr>
      <vt:lpstr> Brain Cancer MRI classification  Thodoris Charos mscaidl-0077    AIDL_A_02 - Neural Networks and Deep Learning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OTE-COSMOTE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CNN1  </dc:title>
  <dc:creator>Charos Thodoris</dc:creator>
  <cp:lastModifiedBy>charos.thodoris@gmail.com</cp:lastModifiedBy>
  <cp:revision>178</cp:revision>
  <dcterms:created xsi:type="dcterms:W3CDTF">2025-07-28T06:24:18Z</dcterms:created>
  <dcterms:modified xsi:type="dcterms:W3CDTF">2026-01-14T09:12:27Z</dcterms:modified>
</cp:coreProperties>
</file>